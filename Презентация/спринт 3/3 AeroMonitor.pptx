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57" r:id="rId4"/>
    <p:sldId id="258" r:id="rId5"/>
    <p:sldId id="262" r:id="rId6"/>
    <p:sldId id="279" r:id="rId7"/>
    <p:sldId id="265" r:id="rId8"/>
    <p:sldId id="278" r:id="rId9"/>
    <p:sldId id="280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orient="horz" pos="1003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50880" y="719520"/>
            <a:ext cx="10289760" cy="1232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" name="Google Shape;11;p2"/>
          <p:cNvPicPr/>
          <p:nvPr/>
        </p:nvPicPr>
        <p:blipFill>
          <a:blip r:embed="rId2"/>
          <a:srcRect l="6446" t="15265" r="28409" b="40210"/>
          <a:stretch/>
        </p:blipFill>
        <p:spPr>
          <a:xfrm>
            <a:off x="6555840" y="3006720"/>
            <a:ext cx="5635680" cy="385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7;p11"/>
          <p:cNvPicPr/>
          <p:nvPr/>
        </p:nvPicPr>
        <p:blipFill>
          <a:blip r:embed="rId2"/>
          <a:srcRect r="50065" b="37830"/>
          <a:stretch/>
        </p:blipFill>
        <p:spPr>
          <a:xfrm rot="16200000">
            <a:off x="7370880" y="-561120"/>
            <a:ext cx="4319040" cy="537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50880" y="1255200"/>
            <a:ext cx="6784320" cy="139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2;p13"/>
          <p:cNvPicPr/>
          <p:nvPr/>
        </p:nvPicPr>
        <p:blipFill>
          <a:blip r:embed="rId2"/>
          <a:srcRect l="29900" b="52150"/>
          <a:stretch/>
        </p:blipFill>
        <p:spPr>
          <a:xfrm rot="10800000">
            <a:off x="6127680" y="48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95088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95088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445632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445632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title"/>
          </p:nvPr>
        </p:nvSpPr>
        <p:spPr>
          <a:xfrm>
            <a:off x="796176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title"/>
          </p:nvPr>
        </p:nvSpPr>
        <p:spPr>
          <a:xfrm>
            <a:off x="796176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67;p14"/>
          <p:cNvPicPr/>
          <p:nvPr/>
        </p:nvPicPr>
        <p:blipFill>
          <a:blip r:embed="rId2"/>
          <a:srcRect l="29900" b="56210"/>
          <a:stretch/>
        </p:blipFill>
        <p:spPr>
          <a:xfrm rot="5400000" flipH="1">
            <a:off x="-1148160" y="1932000"/>
            <a:ext cx="6064320" cy="37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70;p15"/>
          <p:cNvPicPr/>
          <p:nvPr/>
        </p:nvPicPr>
        <p:blipFill>
          <a:blip r:embed="rId2"/>
          <a:srcRect l="29900" b="52150"/>
          <a:stretch/>
        </p:blipFill>
        <p:spPr>
          <a:xfrm rot="16200000" flipH="1">
            <a:off x="7090080" y="96288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73;p16"/>
          <p:cNvPicPr/>
          <p:nvPr/>
        </p:nvPicPr>
        <p:blipFill>
          <a:blip r:embed="rId2"/>
          <a:srcRect r="55545" b="37830"/>
          <a:stretch/>
        </p:blipFill>
        <p:spPr>
          <a:xfrm rot="5400000">
            <a:off x="780960" y="2262720"/>
            <a:ext cx="3845280" cy="537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4796640" cy="141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200160" y="2112480"/>
            <a:ext cx="5031360" cy="402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24" name="Google Shape;80;p17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2;p18"/>
          <p:cNvPicPr/>
          <p:nvPr/>
        </p:nvPicPr>
        <p:blipFill>
          <a:blip r:embed="rId2"/>
          <a:srcRect l="37988" t="12339" r="-8087" b="39811"/>
          <a:stretch/>
        </p:blipFill>
        <p:spPr>
          <a:xfrm flipH="1">
            <a:off x="612768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50880" y="1059360"/>
            <a:ext cx="10289760" cy="930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651680" y="3198240"/>
            <a:ext cx="6588960" cy="260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6;p19"/>
          <p:cNvPicPr/>
          <p:nvPr/>
        </p:nvPicPr>
        <p:blipFill>
          <a:blip r:embed="rId2"/>
          <a:srcRect l="42971" t="8605" r="8129" b="53361"/>
          <a:stretch/>
        </p:blipFill>
        <p:spPr>
          <a:xfrm>
            <a:off x="0" y="3568320"/>
            <a:ext cx="4229760" cy="328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95;p20"/>
          <p:cNvPicPr/>
          <p:nvPr/>
        </p:nvPicPr>
        <p:blipFill>
          <a:blip r:embed="rId2"/>
          <a:srcRect l="29900" b="52150"/>
          <a:stretch/>
        </p:blipFill>
        <p:spPr>
          <a:xfrm flipH="1">
            <a:off x="6127680" y="271536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50880" y="3890880"/>
            <a:ext cx="6756480" cy="201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950880" y="2205120"/>
            <a:ext cx="1519680" cy="122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4" name="Google Shape;15;p3"/>
          <p:cNvPicPr/>
          <p:nvPr/>
        </p:nvPicPr>
        <p:blipFill>
          <a:blip r:embed="rId2"/>
          <a:srcRect r="30128" b="37830"/>
          <a:stretch/>
        </p:blipFill>
        <p:spPr>
          <a:xfrm rot="16200000">
            <a:off x="6508320" y="313920"/>
            <a:ext cx="6044160" cy="5377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06;p21"/>
          <p:cNvPicPr/>
          <p:nvPr/>
        </p:nvPicPr>
        <p:blipFill>
          <a:blip r:embed="rId2"/>
          <a:srcRect l="6446" t="15265" r="28409" b="40210"/>
          <a:stretch/>
        </p:blipFill>
        <p:spPr>
          <a:xfrm rot="10800000" flipH="1">
            <a:off x="6555840" y="0"/>
            <a:ext cx="5635680" cy="385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33120" y="995040"/>
            <a:ext cx="6593760" cy="129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Google Shape;109;p21"/>
          <p:cNvSpPr/>
          <p:nvPr/>
        </p:nvSpPr>
        <p:spPr>
          <a:xfrm>
            <a:off x="933120" y="4804800"/>
            <a:ext cx="6593760" cy="74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378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11;p22"/>
          <p:cNvPicPr/>
          <p:nvPr/>
        </p:nvPicPr>
        <p:blipFill>
          <a:blip r:embed="rId2"/>
          <a:srcRect l="29900" b="55808"/>
          <a:stretch/>
        </p:blipFill>
        <p:spPr>
          <a:xfrm rot="5400000" flipH="1">
            <a:off x="-1165440" y="1914720"/>
            <a:ext cx="6064320" cy="3822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13;p23"/>
          <p:cNvPicPr/>
          <p:nvPr/>
        </p:nvPicPr>
        <p:blipFill>
          <a:blip r:embed="rId2"/>
          <a:srcRect l="29900" b="52150"/>
          <a:stretch/>
        </p:blipFill>
        <p:spPr>
          <a:xfrm rot="16200000" flipH="1">
            <a:off x="7090080" y="96288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17;p4"/>
          <p:cNvPicPr/>
          <p:nvPr/>
        </p:nvPicPr>
        <p:blipFill>
          <a:blip r:embed="rId2"/>
          <a:srcRect l="45858" t="18030" r="7192" b="53365"/>
          <a:stretch/>
        </p:blipFill>
        <p:spPr>
          <a:xfrm rot="5400000">
            <a:off x="-792960" y="793440"/>
            <a:ext cx="4060800" cy="247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960000" y="2112480"/>
            <a:ext cx="6775200" cy="4025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960000" y="7156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4" name="Google Shape;26;p5"/>
          <p:cNvPicPr/>
          <p:nvPr/>
        </p:nvPicPr>
        <p:blipFill>
          <a:blip r:embed="rId2"/>
          <a:srcRect t="43934" r="58145" b="-38"/>
          <a:stretch/>
        </p:blipFill>
        <p:spPr>
          <a:xfrm>
            <a:off x="8571360" y="0"/>
            <a:ext cx="3620160" cy="4853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6" name="Google Shape;29;p6"/>
          <p:cNvPicPr/>
          <p:nvPr/>
        </p:nvPicPr>
        <p:blipFill>
          <a:blip r:embed="rId2"/>
          <a:srcRect l="29900" b="52150"/>
          <a:stretch/>
        </p:blipFill>
        <p:spPr>
          <a:xfrm flipH="1">
            <a:off x="6127680" y="271536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200160" y="2112480"/>
            <a:ext cx="5031360" cy="189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49" name="Google Shape;34;p7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00160" y="4245600"/>
            <a:ext cx="5031360" cy="189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37;p8"/>
          <p:cNvPicPr/>
          <p:nvPr/>
        </p:nvPicPr>
        <p:blipFill>
          <a:blip r:embed="rId2"/>
          <a:srcRect t="43934" r="58145" b="-38"/>
          <a:stretch/>
        </p:blipFill>
        <p:spPr>
          <a:xfrm>
            <a:off x="8571360" y="0"/>
            <a:ext cx="3620160" cy="485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358240" y="1742880"/>
            <a:ext cx="7475520" cy="337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40;p9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847360" y="1922400"/>
            <a:ext cx="6496800" cy="1582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520" cy="68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960000" y="5352480"/>
            <a:ext cx="10271520" cy="7632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19;p26"/>
          <p:cNvSpPr/>
          <p:nvPr/>
        </p:nvSpPr>
        <p:spPr>
          <a:xfrm>
            <a:off x="0" y="-13920"/>
            <a:ext cx="12191520" cy="15739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378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50880" y="719520"/>
            <a:ext cx="1028976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22;p27"/>
          <p:cNvSpPr/>
          <p:nvPr/>
        </p:nvSpPr>
        <p:spPr>
          <a:xfrm>
            <a:off x="0" y="-13920"/>
            <a:ext cx="12191520" cy="15739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378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71520" y="719520"/>
            <a:ext cx="446304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6636960" y="719520"/>
            <a:ext cx="461088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84040" y="655744"/>
            <a:ext cx="771480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000" b="1" dirty="0" err="1">
                <a:solidFill>
                  <a:schemeClr val="dk1"/>
                </a:solidFill>
                <a:latin typeface="Outfit"/>
                <a:ea typeface="Outfit"/>
              </a:rPr>
              <a:t>АэроМонитор</a:t>
            </a:r>
            <a:endParaRPr lang="fr-FR" sz="5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384040" y="2776374"/>
            <a:ext cx="4841103" cy="94277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r>
              <a:rPr lang="ru-RU" sz="1600" dirty="0"/>
              <a:t>Прототип интеллектуальной системы контроля качества воздуха для больших зданий</a:t>
            </a:r>
          </a:p>
          <a:p>
            <a:endParaRPr lang="en-US" sz="1600" dirty="0"/>
          </a:p>
          <a:p>
            <a:r>
              <a:rPr lang="ru-RU" sz="1600" b="1" i="1" dirty="0"/>
              <a:t>Итоги 3 спринта</a:t>
            </a:r>
          </a:p>
        </p:txBody>
      </p:sp>
      <p:cxnSp>
        <p:nvCxnSpPr>
          <p:cNvPr id="64" name="Google Shape;131;p28"/>
          <p:cNvCxnSpPr/>
          <p:nvPr/>
        </p:nvCxnSpPr>
        <p:spPr>
          <a:xfrm>
            <a:off x="384040" y="3788525"/>
            <a:ext cx="4710474" cy="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pic>
        <p:nvPicPr>
          <p:cNvPr id="10" name="image69deb088b29cd" descr="image69deb088b29d2"/>
          <p:cNvPicPr/>
          <p:nvPr/>
        </p:nvPicPr>
        <p:blipFill>
          <a:blip r:embed="rId2"/>
          <a:stretch/>
        </p:blipFill>
        <p:spPr>
          <a:xfrm>
            <a:off x="6096267" y="0"/>
            <a:ext cx="6095733" cy="6858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71475" y="897463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</a:rPr>
              <a:t>Команда 13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5D806-9C5D-64EC-0D4D-7A9F2BA23C37}"/>
              </a:ext>
            </a:extLst>
          </p:cNvPr>
          <p:cNvSpPr txBox="1"/>
          <p:nvPr/>
        </p:nvSpPr>
        <p:spPr>
          <a:xfrm>
            <a:off x="5309389" y="1839037"/>
            <a:ext cx="48702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Consolas" panose="020B0609020204030204" pitchFamily="49" charset="0"/>
              </a:rPr>
              <a:t>Список команды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1.   Харлов Максим @maksimkharlovv</a:t>
            </a:r>
          </a:p>
          <a:p>
            <a:r>
              <a:rPr lang="ru-RU" dirty="0">
                <a:latin typeface="Consolas" panose="020B0609020204030204" pitchFamily="49" charset="0"/>
              </a:rPr>
              <a:t>2.   </a:t>
            </a:r>
            <a:r>
              <a:rPr lang="ru-RU" dirty="0" err="1">
                <a:latin typeface="Consolas" panose="020B0609020204030204" pitchFamily="49" charset="0"/>
              </a:rPr>
              <a:t>Лещишин</a:t>
            </a:r>
            <a:r>
              <a:rPr lang="ru-RU" dirty="0">
                <a:latin typeface="Consolas" panose="020B0609020204030204" pitchFamily="49" charset="0"/>
              </a:rPr>
              <a:t> Роман @Roman36519</a:t>
            </a:r>
          </a:p>
          <a:p>
            <a:r>
              <a:rPr lang="ru-RU" dirty="0">
                <a:latin typeface="Consolas" panose="020B0609020204030204" pitchFamily="49" charset="0"/>
              </a:rPr>
              <a:t>3.   Неустроев Илья @NeustroevIL</a:t>
            </a:r>
          </a:p>
          <a:p>
            <a:r>
              <a:rPr lang="ru-RU" dirty="0">
                <a:latin typeface="Consolas" panose="020B0609020204030204" pitchFamily="49" charset="0"/>
              </a:rPr>
              <a:t>4.   </a:t>
            </a:r>
            <a:r>
              <a:rPr lang="ru-RU" dirty="0" err="1">
                <a:latin typeface="Consolas" panose="020B0609020204030204" pitchFamily="49" charset="0"/>
              </a:rPr>
              <a:t>Cавельев</a:t>
            </a:r>
            <a:r>
              <a:rPr lang="ru-RU" dirty="0">
                <a:latin typeface="Consolas" panose="020B0609020204030204" pitchFamily="49" charset="0"/>
              </a:rPr>
              <a:t> Денис @DenisSavelev2025</a:t>
            </a:r>
          </a:p>
          <a:p>
            <a:r>
              <a:rPr lang="ru-RU" dirty="0">
                <a:latin typeface="Consolas" panose="020B0609020204030204" pitchFamily="49" charset="0"/>
              </a:rPr>
              <a:t>5.   </a:t>
            </a:r>
            <a:r>
              <a:rPr lang="ru-RU" dirty="0" err="1">
                <a:latin typeface="Consolas" panose="020B0609020204030204" pitchFamily="49" charset="0"/>
              </a:rPr>
              <a:t>Метиекам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Коаье</a:t>
            </a:r>
            <a:r>
              <a:rPr lang="ru-RU" dirty="0">
                <a:latin typeface="Consolas" panose="020B0609020204030204" pitchFamily="49" charset="0"/>
              </a:rPr>
              <a:t> Мануэль Патрисия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DBA66-CB68-0276-8050-5DDD5CF0BE2B}"/>
              </a:ext>
            </a:extLst>
          </p:cNvPr>
          <p:cNvSpPr txBox="1"/>
          <p:nvPr/>
        </p:nvSpPr>
        <p:spPr>
          <a:xfrm>
            <a:off x="5309388" y="3691844"/>
            <a:ext cx="5756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github</a:t>
            </a:r>
            <a:r>
              <a:rPr lang="ru-RU" b="1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chemeClr val="bg1">
                    <a:lumMod val="25000"/>
                  </a:schemeClr>
                </a:solidFill>
                <a:latin typeface="Consolas" panose="020B0609020204030204" pitchFamily="49" charset="0"/>
              </a:rPr>
              <a:t>https://github.com/IlyyaNeustroev/airQuality</a:t>
            </a:r>
            <a:endParaRPr lang="ru-RU" dirty="0">
              <a:solidFill>
                <a:schemeClr val="bg1">
                  <a:lumMod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4211368" y="3334718"/>
            <a:ext cx="241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Отладка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full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-стека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7330" y="5866791"/>
            <a:ext cx="1095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Frontend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53386" y="5877985"/>
            <a:ext cx="228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Концепция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71475" y="897463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</a:rPr>
              <a:t>Задачи спринта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241" y="4407916"/>
            <a:ext cx="1751798" cy="147006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705" y="4235953"/>
            <a:ext cx="1681444" cy="1675224"/>
          </a:xfrm>
          <a:prstGeom prst="rect">
            <a:avLst/>
          </a:prstGeom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1D4D5502-6549-F877-7E68-DB48626BC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293" y="1733222"/>
            <a:ext cx="28448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1475" y="373284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</a:rPr>
              <a:t>Итоговая архитектура системы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7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232040-3701-A94E-33EF-C3B98E7B1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899" y="1475678"/>
            <a:ext cx="8409302" cy="4685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71475" y="897463"/>
            <a:ext cx="11040478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  <a:ea typeface="Outfit"/>
              </a:rPr>
              <a:t>Обоснование применимости </a:t>
            </a:r>
            <a:r>
              <a:rPr lang="en-US" sz="4000" b="1" dirty="0">
                <a:solidFill>
                  <a:schemeClr val="dk1"/>
                </a:solidFill>
                <a:latin typeface="Outfit"/>
                <a:ea typeface="Outfit"/>
              </a:rPr>
              <a:t>ML</a:t>
            </a:r>
            <a:r>
              <a:rPr lang="ru-RU" sz="4000" b="1" dirty="0">
                <a:solidFill>
                  <a:schemeClr val="dk1"/>
                </a:solidFill>
                <a:latin typeface="Outfit"/>
                <a:ea typeface="Outfit"/>
              </a:rPr>
              <a:t>-модели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F0E47-7ED7-FCE8-C37A-104C59F4334A}"/>
              </a:ext>
            </a:extLst>
          </p:cNvPr>
          <p:cNvSpPr txBox="1"/>
          <p:nvPr/>
        </p:nvSpPr>
        <p:spPr>
          <a:xfrm>
            <a:off x="371475" y="1843960"/>
            <a:ext cx="779733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onsolas" panose="020B0609020204030204" pitchFamily="49" charset="0"/>
              </a:rPr>
              <a:t>Учитывает сложные, нелинейные взаимодействия между множеством факторов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 err="1">
                <a:latin typeface="Consolas" panose="020B0609020204030204" pitchFamily="49" charset="0"/>
              </a:rPr>
              <a:t>Random</a:t>
            </a:r>
            <a:r>
              <a:rPr lang="ru-RU" sz="1600" b="1" dirty="0"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latin typeface="Consolas" panose="020B0609020204030204" pitchFamily="49" charset="0"/>
              </a:rPr>
              <a:t>Forest</a:t>
            </a:r>
            <a:r>
              <a:rPr lang="ru-RU" sz="1600" b="1" dirty="0">
                <a:latin typeface="Consolas" panose="020B0609020204030204" pitchFamily="49" charset="0"/>
              </a:rPr>
              <a:t> — автоматически находит важные признаки и их комбинации без необходимости ручного моделирования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Consolas" panose="020B0609020204030204" pitchFamily="49" charset="0"/>
              </a:rPr>
              <a:t>Модель достигает 92.4% </a:t>
            </a:r>
            <a:r>
              <a:rPr lang="ru-RU" sz="1600" b="1" dirty="0" err="1">
                <a:latin typeface="Consolas" panose="020B0609020204030204" pitchFamily="49" charset="0"/>
              </a:rPr>
              <a:t>accuracy</a:t>
            </a:r>
            <a:r>
              <a:rPr lang="ru-RU" sz="1600" b="1" dirty="0">
                <a:latin typeface="Consolas" panose="020B0609020204030204" pitchFamily="49" charset="0"/>
              </a:rPr>
              <a:t> при 5-fold кросс-валидации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Consolas" panose="020B0609020204030204" pitchFamily="49" charset="0"/>
              </a:rPr>
              <a:t>Модель автоматически обрабатывает пропущенные значения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 err="1">
                <a:latin typeface="Consolas" panose="020B0609020204030204" pitchFamily="49" charset="0"/>
              </a:rPr>
              <a:t>Random</a:t>
            </a:r>
            <a:r>
              <a:rPr lang="ru-RU" sz="1600" b="1" dirty="0"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latin typeface="Consolas" panose="020B0609020204030204" pitchFamily="49" charset="0"/>
              </a:rPr>
              <a:t>Forest</a:t>
            </a:r>
            <a:r>
              <a:rPr lang="ru-RU" sz="1600" b="1" dirty="0">
                <a:latin typeface="Consolas" panose="020B0609020204030204" pitchFamily="49" charset="0"/>
              </a:rPr>
              <a:t> показывает важность признаков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Consolas" panose="020B0609020204030204" pitchFamily="49" charset="0"/>
              </a:rPr>
              <a:t>Модель выдает вероятности для всех классов, а не только одно значение.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Consolas" panose="020B0609020204030204" pitchFamily="49" charset="0"/>
              </a:rPr>
              <a:t>Масштабируемость и адаптация</a:t>
            </a:r>
          </a:p>
        </p:txBody>
      </p:sp>
    </p:spTree>
    <p:extLst>
      <p:ext uri="{BB962C8B-B14F-4D97-AF65-F5344CB8AC3E}">
        <p14:creationId xmlns:p14="http://schemas.microsoft.com/office/powerpoint/2010/main" val="1992759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71475" y="897463"/>
            <a:ext cx="11040478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  <a:ea typeface="Outfit"/>
              </a:rPr>
              <a:t>Сравнение </a:t>
            </a:r>
            <a:r>
              <a:rPr lang="en-US" sz="4000" b="1" dirty="0">
                <a:solidFill>
                  <a:schemeClr val="dk1"/>
                </a:solidFill>
                <a:latin typeface="Outfit"/>
                <a:ea typeface="Outfit"/>
              </a:rPr>
              <a:t>ML</a:t>
            </a:r>
            <a:r>
              <a:rPr lang="ru-RU" sz="4000" b="1" dirty="0">
                <a:solidFill>
                  <a:schemeClr val="dk1"/>
                </a:solidFill>
                <a:latin typeface="Outfit"/>
                <a:ea typeface="Outfit"/>
              </a:rPr>
              <a:t>-моделей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8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20C7E59-EF9E-3712-765E-070EB44EAF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E80B9114-A595-DE1D-85A6-088C4BEA75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4DECBC-468C-F4BC-E7AD-2A61C8525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58" y="2194026"/>
            <a:ext cx="10694504" cy="22510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920306"/>
            <a:ext cx="8468539" cy="671957"/>
          </a:xfrm>
        </p:spPr>
        <p:txBody>
          <a:bodyPr/>
          <a:lstStyle/>
          <a:p>
            <a:r>
              <a:rPr lang="ru-RU" sz="3600" b="1" dirty="0">
                <a:latin typeface="Outfit"/>
              </a:rPr>
              <a:t>Экономическая эффективность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F14DBF-4F50-FCF3-98A0-A1ADB4C52400}"/>
              </a:ext>
            </a:extLst>
          </p:cNvPr>
          <p:cNvSpPr txBox="1"/>
          <p:nvPr/>
        </p:nvSpPr>
        <p:spPr>
          <a:xfrm>
            <a:off x="694944" y="1729579"/>
            <a:ext cx="4963410" cy="81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Основной фактор эффективности: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Нагрузка включается только когда падает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IAQ</a:t>
            </a: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E154B-D4A2-2DD9-A55D-BE061F2FAFF5}"/>
              </a:ext>
            </a:extLst>
          </p:cNvPr>
          <p:cNvSpPr txBox="1"/>
          <p:nvPr/>
        </p:nvSpPr>
        <p:spPr>
          <a:xfrm>
            <a:off x="694944" y="2643712"/>
            <a:ext cx="3890809" cy="2500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Следствия: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Издержки хранения и нехватки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Издержки износа оборудования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Улучшение микроклимата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95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920306"/>
            <a:ext cx="9604629" cy="671957"/>
          </a:xfrm>
        </p:spPr>
        <p:txBody>
          <a:bodyPr/>
          <a:lstStyle/>
          <a:p>
            <a:r>
              <a:rPr lang="ru-RU" sz="3600" b="1" dirty="0">
                <a:latin typeface="Outfit"/>
              </a:rPr>
              <a:t>Показатели экономической эффективности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F14DBF-4F50-FCF3-98A0-A1ADB4C52400}"/>
              </a:ext>
            </a:extLst>
          </p:cNvPr>
          <p:cNvSpPr txBox="1"/>
          <p:nvPr/>
        </p:nvSpPr>
        <p:spPr>
          <a:xfrm>
            <a:off x="694944" y="1729579"/>
            <a:ext cx="7173310" cy="3342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Сокращение затрат на электроэнергию на 3,67 млн 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₽ в год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b="1" kern="100" dirty="0">
                <a:solidFill>
                  <a:srgbClr val="333333"/>
                </a:solidFill>
                <a:latin typeface="YS Text"/>
                <a:ea typeface="Aptos" panose="020B0004020202020204" pitchFamily="34" charset="0"/>
                <a:cs typeface="Times New Roman" panose="02020603050405020304" pitchFamily="18" charset="0"/>
              </a:rPr>
              <a:t>Снижение издержек </a:t>
            </a:r>
            <a:r>
              <a:rPr lang="ru-RU" b="1" kern="100" dirty="0">
                <a:solidFill>
                  <a:srgbClr val="333333"/>
                </a:solidFill>
                <a:latin typeface="YS Text"/>
                <a:ea typeface="Aptos" panose="020B0004020202020204" pitchFamily="34" charset="0"/>
                <a:cs typeface="Times New Roman" panose="02020603050405020304" pitchFamily="18" charset="0"/>
              </a:rPr>
              <a:t>хранения товаров 200 000 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 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₽ в год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b="1" kern="100" dirty="0">
                <a:solidFill>
                  <a:srgbClr val="333333"/>
                </a:solidFill>
                <a:latin typeface="YS Text"/>
                <a:ea typeface="Aptos" panose="020B0004020202020204" pitchFamily="34" charset="0"/>
                <a:cs typeface="Times New Roman" panose="02020603050405020304" pitchFamily="18" charset="0"/>
              </a:rPr>
              <a:t>Снижение эксплуатационных затрат 300 000 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 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₽</a:t>
            </a:r>
            <a:r>
              <a:rPr lang="ru-RU" b="1" dirty="0">
                <a:solidFill>
                  <a:srgbClr val="333333"/>
                </a:solidFill>
                <a:latin typeface="YS Text"/>
              </a:rPr>
              <a:t> в год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b="1" kern="100" dirty="0">
                <a:solidFill>
                  <a:srgbClr val="333333"/>
                </a:solidFill>
                <a:effectLst/>
                <a:latin typeface="YS Text"/>
                <a:ea typeface="Aptos" panose="020B0004020202020204" pitchFamily="34" charset="0"/>
                <a:cs typeface="Times New Roman" panose="02020603050405020304" pitchFamily="18" charset="0"/>
              </a:rPr>
              <a:t>Окупаемость 26 дней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b="1" kern="100" dirty="0">
                <a:solidFill>
                  <a:srgbClr val="333333"/>
                </a:solidFill>
                <a:latin typeface="YS Text"/>
                <a:ea typeface="Aptos" panose="020B0004020202020204" pitchFamily="34" charset="0"/>
                <a:cs typeface="Times New Roman" panose="02020603050405020304" pitchFamily="18" charset="0"/>
              </a:rPr>
              <a:t>Повышение выручки и удовлетворенности клиентов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ru-RU" sz="1800" b="1" kern="100" dirty="0">
              <a:solidFill>
                <a:srgbClr val="333333"/>
              </a:solidFill>
              <a:effectLst/>
              <a:latin typeface="YS Tex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b="1" kern="100" dirty="0">
                <a:solidFill>
                  <a:srgbClr val="333333"/>
                </a:solidFill>
                <a:latin typeface="YS Text"/>
                <a:ea typeface="Aptos" panose="020B0004020202020204" pitchFamily="34" charset="0"/>
                <a:cs typeface="Times New Roman" panose="02020603050405020304" pitchFamily="18" charset="0"/>
              </a:rPr>
              <a:t>Итог: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b="1" kern="100" dirty="0">
                <a:solidFill>
                  <a:srgbClr val="333333"/>
                </a:solidFill>
                <a:effectLst/>
                <a:latin typeface="YS Text"/>
                <a:ea typeface="Aptos" panose="020B0004020202020204" pitchFamily="34" charset="0"/>
                <a:cs typeface="Times New Roman" panose="02020603050405020304" pitchFamily="18" charset="0"/>
              </a:rPr>
              <a:t>Эффективнее и выгоднее централизованной постоянной вентиляции</a:t>
            </a:r>
            <a:endParaRPr lang="ru-RU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822432"/>
      </p:ext>
    </p:extLst>
  </p:cSld>
  <p:clrMapOvr>
    <a:masterClrMapping/>
  </p:clrMapOvr>
</p:sld>
</file>

<file path=ppt/theme/theme1.xml><?xml version="1.0" encoding="utf-8"?>
<a:theme xmlns:a="http://schemas.openxmlformats.org/drawingml/2006/main" name="Blue Simple Theme by Slidesgo">
  <a:themeElements>
    <a:clrScheme name="Simple Light">
      <a:dk1>
        <a:srgbClr val="021024"/>
      </a:dk1>
      <a:lt1>
        <a:srgbClr val="CAF2FF"/>
      </a:lt1>
      <a:dk2>
        <a:srgbClr val="023373"/>
      </a:dk2>
      <a:lt2>
        <a:srgbClr val="0487D9"/>
      </a:lt2>
      <a:accent1>
        <a:srgbClr val="63D8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2102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499</TotalTime>
  <Words>207</Words>
  <Application>Microsoft Office PowerPoint</Application>
  <PresentationFormat>Широкоэкранный</PresentationFormat>
  <Paragraphs>50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8</vt:i4>
      </vt:variant>
    </vt:vector>
  </HeadingPairs>
  <TitlesOfParts>
    <vt:vector size="20" baseType="lpstr">
      <vt:lpstr>Aptos</vt:lpstr>
      <vt:lpstr>Arial</vt:lpstr>
      <vt:lpstr>Arial</vt:lpstr>
      <vt:lpstr>Consolas</vt:lpstr>
      <vt:lpstr>OpenSymbol</vt:lpstr>
      <vt:lpstr>Outfit</vt:lpstr>
      <vt:lpstr>Symbol</vt:lpstr>
      <vt:lpstr>Tahoma</vt:lpstr>
      <vt:lpstr>Wingdings</vt:lpstr>
      <vt:lpstr>YS Text</vt:lpstr>
      <vt:lpstr>Blue Simple Theme by Slidesgo</vt:lpstr>
      <vt:lpstr>Slidesgo Final Pages</vt:lpstr>
      <vt:lpstr>АэроМонитор</vt:lpstr>
      <vt:lpstr>Команда 13</vt:lpstr>
      <vt:lpstr>Задачи спринта</vt:lpstr>
      <vt:lpstr>Итоговая архитектура системы</vt:lpstr>
      <vt:lpstr>Обоснование применимости ML-модели</vt:lpstr>
      <vt:lpstr>Сравнение ML-моделей</vt:lpstr>
      <vt:lpstr>Экономическая эффективность</vt:lpstr>
      <vt:lpstr>Показатели экономической эффективности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АэроМонитор</dc:title>
  <dc:creator>Denis</dc:creator>
  <cp:lastModifiedBy>PC</cp:lastModifiedBy>
  <cp:revision>29</cp:revision>
  <dcterms:modified xsi:type="dcterms:W3CDTF">2026-05-26T17:38:00Z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2026-04-14T21:24:23Z</dcterms:created>
  <dc:creator>Unknown Creator</dc:creator>
  <dc:description/>
  <dc:language>en-US</dc:language>
  <cp:lastModifiedBy>Unknown Creator</cp:lastModifiedBy>
  <dcterms:modified xsi:type="dcterms:W3CDTF">2026-04-14T21:24:23Z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