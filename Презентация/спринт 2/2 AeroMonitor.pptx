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1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5" r:id="rId10"/>
    <p:sldId id="272" r:id="rId11"/>
    <p:sldId id="273" r:id="rId12"/>
    <p:sldId id="274" r:id="rId13"/>
    <p:sldId id="275" r:id="rId14"/>
    <p:sldId id="278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03" userDrawn="1">
          <p15:clr>
            <a:srgbClr val="A4A3A4"/>
          </p15:clr>
        </p15:guide>
        <p15:guide id="2" pos="2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A107856-5554-42FB-B03E-39F5DBC370BA}" styleName="Средний стиль 4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C4B1156A-380E-4F78-BDF5-A606A8083BF9}" styleName="Средний стиль 4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91EBBBCC-DAD2-459C-BE2E-F6DE35CF9A28}" styleName="Темный стиль 2 — акцент 3/акцент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DA37D80-6434-44D0-A028-1B22A696006F}" styleName="Светлый стиль 3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Светлый стиль 3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Светлый стиль 3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798" y="96"/>
      </p:cViewPr>
      <p:guideLst>
        <p:guide orient="horz" pos="1003"/>
        <p:guide pos="2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950880" y="719520"/>
            <a:ext cx="10289760" cy="1232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3" name="Google Shape;11;p2"/>
          <p:cNvPicPr/>
          <p:nvPr/>
        </p:nvPicPr>
        <p:blipFill>
          <a:blip r:embed="rId2"/>
          <a:srcRect l="6446" t="15265" r="28409" b="40210"/>
          <a:stretch/>
        </p:blipFill>
        <p:spPr>
          <a:xfrm>
            <a:off x="6555840" y="3006720"/>
            <a:ext cx="5635680" cy="3851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09600" y="160464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/>
            </a:lvl1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3978" lvl="1" indent="-323992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5968" lvl="2" indent="-287993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7957" lvl="3" indent="-215995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59946" lvl="4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1936" lvl="5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3924" lvl="6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47;p11"/>
          <p:cNvPicPr/>
          <p:nvPr/>
        </p:nvPicPr>
        <p:blipFill>
          <a:blip r:embed="rId2"/>
          <a:srcRect r="50065" b="37830"/>
          <a:stretch/>
        </p:blipFill>
        <p:spPr>
          <a:xfrm rot="16200000">
            <a:off x="7370880" y="-561120"/>
            <a:ext cx="4319040" cy="537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950880" y="1255200"/>
            <a:ext cx="6784320" cy="1392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lnSpc>
                <a:spcPct val="100000"/>
              </a:lnSpc>
              <a:buNone/>
              <a:defRPr/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2;p13"/>
          <p:cNvPicPr/>
          <p:nvPr/>
        </p:nvPicPr>
        <p:blipFill>
          <a:blip r:embed="rId2"/>
          <a:srcRect l="29900" b="52150"/>
          <a:stretch/>
        </p:blipFill>
        <p:spPr>
          <a:xfrm rot="10800000">
            <a:off x="6127680" y="480"/>
            <a:ext cx="6064320" cy="41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960000" y="71952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title"/>
          </p:nvPr>
        </p:nvSpPr>
        <p:spPr>
          <a:xfrm>
            <a:off x="950880" y="2340000"/>
            <a:ext cx="1117920" cy="59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lnSpc>
                <a:spcPct val="100000"/>
              </a:lnSpc>
              <a:buNone/>
              <a:defRPr/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title"/>
          </p:nvPr>
        </p:nvSpPr>
        <p:spPr>
          <a:xfrm>
            <a:off x="950880" y="4367040"/>
            <a:ext cx="1117920" cy="59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lnSpc>
                <a:spcPct val="100000"/>
              </a:lnSpc>
              <a:buNone/>
              <a:defRPr/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title"/>
          </p:nvPr>
        </p:nvSpPr>
        <p:spPr>
          <a:xfrm>
            <a:off x="4456320" y="2340000"/>
            <a:ext cx="1117920" cy="59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lnSpc>
                <a:spcPct val="100000"/>
              </a:lnSpc>
              <a:buNone/>
              <a:defRPr/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title"/>
          </p:nvPr>
        </p:nvSpPr>
        <p:spPr>
          <a:xfrm>
            <a:off x="4456320" y="4367040"/>
            <a:ext cx="1117920" cy="59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lnSpc>
                <a:spcPct val="100000"/>
              </a:lnSpc>
              <a:buNone/>
              <a:defRPr/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title"/>
          </p:nvPr>
        </p:nvSpPr>
        <p:spPr>
          <a:xfrm>
            <a:off x="7961760" y="2340000"/>
            <a:ext cx="1117920" cy="59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lnSpc>
                <a:spcPct val="100000"/>
              </a:lnSpc>
              <a:buNone/>
              <a:defRPr/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7"/>
          <p:cNvSpPr>
            <a:spLocks noGrp="1"/>
          </p:cNvSpPr>
          <p:nvPr>
            <p:ph type="title"/>
          </p:nvPr>
        </p:nvSpPr>
        <p:spPr>
          <a:xfrm>
            <a:off x="7961760" y="4367040"/>
            <a:ext cx="1117920" cy="59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lnSpc>
                <a:spcPct val="100000"/>
              </a:lnSpc>
              <a:buNone/>
              <a:defRPr/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67;p14"/>
          <p:cNvPicPr/>
          <p:nvPr/>
        </p:nvPicPr>
        <p:blipFill>
          <a:blip r:embed="rId2"/>
          <a:srcRect l="29900" b="56210"/>
          <a:stretch/>
        </p:blipFill>
        <p:spPr>
          <a:xfrm rot="5400000" flipH="1">
            <a:off x="-1148160" y="1932000"/>
            <a:ext cx="6064320" cy="37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960000" y="71952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09600" y="160464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/>
            </a:lvl1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3978" lvl="1" indent="-323992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5968" lvl="2" indent="-287993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7957" lvl="3" indent="-215995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59946" lvl="4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1936" lvl="5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3924" lvl="6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70;p15"/>
          <p:cNvPicPr/>
          <p:nvPr/>
        </p:nvPicPr>
        <p:blipFill>
          <a:blip r:embed="rId2"/>
          <a:srcRect l="29900" b="52150"/>
          <a:stretch/>
        </p:blipFill>
        <p:spPr>
          <a:xfrm rot="16200000" flipH="1">
            <a:off x="7090080" y="962880"/>
            <a:ext cx="6064320" cy="41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960000" y="71952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73;p16"/>
          <p:cNvPicPr/>
          <p:nvPr/>
        </p:nvPicPr>
        <p:blipFill>
          <a:blip r:embed="rId2"/>
          <a:srcRect r="55545" b="37830"/>
          <a:stretch/>
        </p:blipFill>
        <p:spPr>
          <a:xfrm rot="5400000">
            <a:off x="780960" y="2262720"/>
            <a:ext cx="3845280" cy="537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960000" y="719520"/>
            <a:ext cx="4796640" cy="141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60000" y="71952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200160" y="2112480"/>
            <a:ext cx="5031360" cy="4025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92500" lnSpcReduction="9999"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/>
            </a:lvl1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3978" lvl="1" indent="-323992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5968" lvl="2" indent="-287993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7957" lvl="3" indent="-215995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59946" lvl="4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1936" lvl="5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3924" lvl="6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pic>
        <p:nvPicPr>
          <p:cNvPr id="24" name="Google Shape;80;p17"/>
          <p:cNvPicPr/>
          <p:nvPr/>
        </p:nvPicPr>
        <p:blipFill>
          <a:blip r:embed="rId2"/>
          <a:srcRect l="29900" b="52150"/>
          <a:stretch/>
        </p:blipFill>
        <p:spPr>
          <a:xfrm>
            <a:off x="0" y="2719200"/>
            <a:ext cx="6064320" cy="41385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82;p18"/>
          <p:cNvPicPr/>
          <p:nvPr/>
        </p:nvPicPr>
        <p:blipFill>
          <a:blip r:embed="rId2"/>
          <a:srcRect l="37988" t="12339" r="-8087" b="39811"/>
          <a:stretch/>
        </p:blipFill>
        <p:spPr>
          <a:xfrm flipH="1">
            <a:off x="6127680" y="2719200"/>
            <a:ext cx="6064320" cy="41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50880" y="1059360"/>
            <a:ext cx="10289760" cy="930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651680" y="3198240"/>
            <a:ext cx="6588960" cy="2600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/>
            </a:lvl1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3978" lvl="1" indent="-323992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5968" lvl="2" indent="-287993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7957" lvl="3" indent="-215995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59946" lvl="4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1936" lvl="5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3924" lvl="6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86;p19"/>
          <p:cNvPicPr/>
          <p:nvPr/>
        </p:nvPicPr>
        <p:blipFill>
          <a:blip r:embed="rId2"/>
          <a:srcRect l="42971" t="8605" r="8129" b="53361"/>
          <a:stretch/>
        </p:blipFill>
        <p:spPr>
          <a:xfrm>
            <a:off x="0" y="3568320"/>
            <a:ext cx="4229760" cy="328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960000" y="71952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95;p20"/>
          <p:cNvPicPr/>
          <p:nvPr/>
        </p:nvPicPr>
        <p:blipFill>
          <a:blip r:embed="rId2"/>
          <a:srcRect l="29900" b="52150"/>
          <a:stretch/>
        </p:blipFill>
        <p:spPr>
          <a:xfrm flipH="1">
            <a:off x="6127680" y="2715360"/>
            <a:ext cx="6064320" cy="41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960000" y="71952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950880" y="3890880"/>
            <a:ext cx="6756480" cy="201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title"/>
          </p:nvPr>
        </p:nvSpPr>
        <p:spPr>
          <a:xfrm>
            <a:off x="950880" y="2205120"/>
            <a:ext cx="1519680" cy="1220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lnSpc>
                <a:spcPct val="100000"/>
              </a:lnSpc>
              <a:buNone/>
              <a:defRPr/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34" name="Google Shape;15;p3"/>
          <p:cNvPicPr/>
          <p:nvPr/>
        </p:nvPicPr>
        <p:blipFill>
          <a:blip r:embed="rId2"/>
          <a:srcRect r="30128" b="37830"/>
          <a:stretch/>
        </p:blipFill>
        <p:spPr>
          <a:xfrm rot="16200000">
            <a:off x="6508320" y="313920"/>
            <a:ext cx="6044160" cy="53779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106;p21"/>
          <p:cNvPicPr/>
          <p:nvPr/>
        </p:nvPicPr>
        <p:blipFill>
          <a:blip r:embed="rId2"/>
          <a:srcRect l="6446" t="15265" r="28409" b="40210"/>
          <a:stretch/>
        </p:blipFill>
        <p:spPr>
          <a:xfrm rot="10800000" flipH="1">
            <a:off x="6555840" y="0"/>
            <a:ext cx="5635680" cy="3851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933120" y="995040"/>
            <a:ext cx="6593760" cy="1291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7" name="Google Shape;109;p21"/>
          <p:cNvSpPr/>
          <p:nvPr/>
        </p:nvSpPr>
        <p:spPr>
          <a:xfrm>
            <a:off x="933120" y="4804800"/>
            <a:ext cx="6593760" cy="74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378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This presentation template was created by </a:t>
            </a:r>
            <a:r>
              <a:rPr lang="en" sz="1000" b="1" u="sng" strike="noStrike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3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4"/>
              </a:rPr>
              <a:t>Freepik</a:t>
            </a:r>
            <a:r>
              <a:rPr lang="en" sz="1000" b="0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111;p22"/>
          <p:cNvPicPr/>
          <p:nvPr/>
        </p:nvPicPr>
        <p:blipFill>
          <a:blip r:embed="rId2"/>
          <a:srcRect l="29900" b="55808"/>
          <a:stretch/>
        </p:blipFill>
        <p:spPr>
          <a:xfrm rot="5400000" flipH="1">
            <a:off x="-1165440" y="1914720"/>
            <a:ext cx="6064320" cy="38222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113;p23"/>
          <p:cNvPicPr/>
          <p:nvPr/>
        </p:nvPicPr>
        <p:blipFill>
          <a:blip r:embed="rId2"/>
          <a:srcRect l="29900" b="52150"/>
          <a:stretch/>
        </p:blipFill>
        <p:spPr>
          <a:xfrm rot="16200000" flipH="1">
            <a:off x="7090080" y="962880"/>
            <a:ext cx="6064320" cy="41385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17;p4"/>
          <p:cNvPicPr/>
          <p:nvPr/>
        </p:nvPicPr>
        <p:blipFill>
          <a:blip r:embed="rId2"/>
          <a:srcRect l="45858" t="18030" r="7192" b="53365"/>
          <a:stretch/>
        </p:blipFill>
        <p:spPr>
          <a:xfrm rot="5400000">
            <a:off x="-792960" y="793440"/>
            <a:ext cx="4060800" cy="247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960000" y="71952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960000" y="2112480"/>
            <a:ext cx="6775200" cy="4025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/>
            </a:lvl1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3978" lvl="1" indent="-323992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5968" lvl="2" indent="-287993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7957" lvl="3" indent="-215995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59946" lvl="4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1936" lvl="5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3924" lvl="6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960000" y="71568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44" name="Google Shape;26;p5"/>
          <p:cNvPicPr/>
          <p:nvPr/>
        </p:nvPicPr>
        <p:blipFill>
          <a:blip r:embed="rId2"/>
          <a:srcRect t="43934" r="58145" b="-38"/>
          <a:stretch/>
        </p:blipFill>
        <p:spPr>
          <a:xfrm>
            <a:off x="8571360" y="0"/>
            <a:ext cx="3620160" cy="48532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960000" y="71952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46" name="Google Shape;29;p6"/>
          <p:cNvPicPr/>
          <p:nvPr/>
        </p:nvPicPr>
        <p:blipFill>
          <a:blip r:embed="rId2"/>
          <a:srcRect l="29900" b="52150"/>
          <a:stretch/>
        </p:blipFill>
        <p:spPr>
          <a:xfrm flipH="1">
            <a:off x="6127680" y="2715360"/>
            <a:ext cx="6064320" cy="41385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960000" y="71952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6200160" y="2112480"/>
            <a:ext cx="5031360" cy="1892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55000" lnSpcReduction="19999"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/>
            </a:lvl1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3978" lvl="1" indent="-323992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5968" lvl="2" indent="-287993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7957" lvl="3" indent="-215995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59946" lvl="4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1936" lvl="5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3924" lvl="6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pic>
        <p:nvPicPr>
          <p:cNvPr id="49" name="Google Shape;34;p7"/>
          <p:cNvPicPr/>
          <p:nvPr/>
        </p:nvPicPr>
        <p:blipFill>
          <a:blip r:embed="rId2"/>
          <a:srcRect l="29900" b="52150"/>
          <a:stretch/>
        </p:blipFill>
        <p:spPr>
          <a:xfrm>
            <a:off x="0" y="2719200"/>
            <a:ext cx="6064320" cy="41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6200160" y="4245600"/>
            <a:ext cx="5031360" cy="1892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55000" lnSpcReduction="19999"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/>
            </a:lvl1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3978" lvl="1" indent="-323992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5968" lvl="2" indent="-287993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7957" lvl="3" indent="-215995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59946" lvl="4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1936" lvl="5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3924" lvl="6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37;p8"/>
          <p:cNvPicPr/>
          <p:nvPr/>
        </p:nvPicPr>
        <p:blipFill>
          <a:blip r:embed="rId2"/>
          <a:srcRect t="43934" r="58145" b="-38"/>
          <a:stretch/>
        </p:blipFill>
        <p:spPr>
          <a:xfrm>
            <a:off x="8571360" y="0"/>
            <a:ext cx="3620160" cy="4853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2358240" y="1742880"/>
            <a:ext cx="7475520" cy="3372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40;p9"/>
          <p:cNvPicPr/>
          <p:nvPr/>
        </p:nvPicPr>
        <p:blipFill>
          <a:blip r:embed="rId2"/>
          <a:srcRect l="29900" b="52150"/>
          <a:stretch/>
        </p:blipFill>
        <p:spPr>
          <a:xfrm>
            <a:off x="0" y="2719200"/>
            <a:ext cx="6064320" cy="41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2847360" y="1922400"/>
            <a:ext cx="6496800" cy="1582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12191520" cy="68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/>
            </a:lvl1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3978" lvl="1" indent="-323992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5968" lvl="2" indent="-287993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7957" lvl="3" indent="-215995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59946" lvl="4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1936" lvl="5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3924" lvl="6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6" name="PlaceHolder 2"/>
          <p:cNvSpPr>
            <a:spLocks noGrp="1"/>
          </p:cNvSpPr>
          <p:nvPr>
            <p:ph type="title"/>
          </p:nvPr>
        </p:nvSpPr>
        <p:spPr>
          <a:xfrm>
            <a:off x="960000" y="5352480"/>
            <a:ext cx="10271520" cy="7632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119;p26"/>
          <p:cNvSpPr/>
          <p:nvPr/>
        </p:nvSpPr>
        <p:spPr>
          <a:xfrm>
            <a:off x="0" y="-13920"/>
            <a:ext cx="12191520" cy="15739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378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950880" y="719520"/>
            <a:ext cx="10289760" cy="64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122;p27"/>
          <p:cNvSpPr/>
          <p:nvPr/>
        </p:nvSpPr>
        <p:spPr>
          <a:xfrm>
            <a:off x="0" y="-13920"/>
            <a:ext cx="12191520" cy="15739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378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971520" y="719520"/>
            <a:ext cx="4463040" cy="64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1" name="PlaceHolder 2"/>
          <p:cNvSpPr>
            <a:spLocks noGrp="1"/>
          </p:cNvSpPr>
          <p:nvPr>
            <p:ph type="title"/>
          </p:nvPr>
        </p:nvSpPr>
        <p:spPr>
          <a:xfrm>
            <a:off x="6636960" y="719520"/>
            <a:ext cx="4610880" cy="64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xStyles>
    <p:titleStyle>
      <a:lvl1pPr algn="l" defTabSz="91437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txStyles>
    <p:titleStyle>
      <a:lvl1pPr algn="l" defTabSz="91437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384040" y="655744"/>
            <a:ext cx="7714800" cy="923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000" b="1" dirty="0" err="1">
                <a:solidFill>
                  <a:schemeClr val="dk1"/>
                </a:solidFill>
                <a:latin typeface="Outfit"/>
                <a:ea typeface="Outfit"/>
              </a:rPr>
              <a:t>АэроМонитор</a:t>
            </a:r>
            <a:endParaRPr lang="fr-FR" sz="5000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subTitle"/>
          </p:nvPr>
        </p:nvSpPr>
        <p:spPr>
          <a:xfrm>
            <a:off x="384040" y="2776374"/>
            <a:ext cx="4841103" cy="94277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/>
          <a:p>
            <a:r>
              <a:rPr lang="ru-RU" sz="1600" dirty="0"/>
              <a:t>Прототип интеллектуальной системы контроля качества воздуха для больших зданий</a:t>
            </a:r>
          </a:p>
          <a:p>
            <a:endParaRPr lang="en-US" sz="1600" dirty="0"/>
          </a:p>
          <a:p>
            <a:r>
              <a:rPr lang="ru-RU" sz="1600" b="1" i="1" dirty="0"/>
              <a:t>Итоги 2 спринта</a:t>
            </a:r>
          </a:p>
        </p:txBody>
      </p:sp>
      <p:cxnSp>
        <p:nvCxnSpPr>
          <p:cNvPr id="64" name="Google Shape;131;p28"/>
          <p:cNvCxnSpPr/>
          <p:nvPr/>
        </p:nvCxnSpPr>
        <p:spPr>
          <a:xfrm>
            <a:off x="384040" y="3788525"/>
            <a:ext cx="4710474" cy="0"/>
          </a:xfrm>
          <a:prstGeom prst="straightConnector1">
            <a:avLst/>
          </a:prstGeom>
          <a:ln w="19050">
            <a:solidFill>
              <a:srgbClr val="021024"/>
            </a:solidFill>
            <a:round/>
          </a:ln>
        </p:spPr>
      </p:cxnSp>
      <p:pic>
        <p:nvPicPr>
          <p:cNvPr id="10" name="image69deb088b29cd" descr="image69deb088b29d2"/>
          <p:cNvPicPr/>
          <p:nvPr/>
        </p:nvPicPr>
        <p:blipFill>
          <a:blip r:embed="rId2"/>
          <a:stretch/>
        </p:blipFill>
        <p:spPr>
          <a:xfrm>
            <a:off x="6096267" y="0"/>
            <a:ext cx="6095733" cy="68580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371475" y="897463"/>
            <a:ext cx="7714800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4000" b="1" dirty="0">
                <a:solidFill>
                  <a:schemeClr val="dk1"/>
                </a:solidFill>
                <a:latin typeface="Outfit"/>
              </a:rPr>
              <a:t>Команда 13</a:t>
            </a:r>
            <a:endParaRPr lang="fr-FR" sz="4000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85D806-9C5D-64EC-0D4D-7A9F2BA23C37}"/>
              </a:ext>
            </a:extLst>
          </p:cNvPr>
          <p:cNvSpPr txBox="1"/>
          <p:nvPr/>
        </p:nvSpPr>
        <p:spPr>
          <a:xfrm>
            <a:off x="5309389" y="1839037"/>
            <a:ext cx="487024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latin typeface="Consolas" panose="020B0609020204030204" pitchFamily="49" charset="0"/>
              </a:rPr>
              <a:t>Список команды</a:t>
            </a:r>
            <a:endParaRPr lang="ru-RU" dirty="0">
              <a:latin typeface="Consolas" panose="020B0609020204030204" pitchFamily="49" charset="0"/>
            </a:endParaRPr>
          </a:p>
          <a:p>
            <a:r>
              <a:rPr lang="ru-RU" dirty="0">
                <a:latin typeface="Consolas" panose="020B0609020204030204" pitchFamily="49" charset="0"/>
              </a:rPr>
              <a:t>1.   Харлов Максим @maksimkharlovv</a:t>
            </a:r>
          </a:p>
          <a:p>
            <a:r>
              <a:rPr lang="ru-RU" dirty="0">
                <a:latin typeface="Consolas" panose="020B0609020204030204" pitchFamily="49" charset="0"/>
              </a:rPr>
              <a:t>2.   </a:t>
            </a:r>
            <a:r>
              <a:rPr lang="ru-RU" dirty="0" err="1">
                <a:latin typeface="Consolas" panose="020B0609020204030204" pitchFamily="49" charset="0"/>
              </a:rPr>
              <a:t>Лещишин</a:t>
            </a:r>
            <a:r>
              <a:rPr lang="ru-RU" dirty="0">
                <a:latin typeface="Consolas" panose="020B0609020204030204" pitchFamily="49" charset="0"/>
              </a:rPr>
              <a:t> Роман @Roman36519</a:t>
            </a:r>
          </a:p>
          <a:p>
            <a:r>
              <a:rPr lang="ru-RU" dirty="0">
                <a:latin typeface="Consolas" panose="020B0609020204030204" pitchFamily="49" charset="0"/>
              </a:rPr>
              <a:t>3.   Неустроев Илья @NeustroevIL</a:t>
            </a:r>
          </a:p>
          <a:p>
            <a:r>
              <a:rPr lang="ru-RU" dirty="0">
                <a:latin typeface="Consolas" panose="020B0609020204030204" pitchFamily="49" charset="0"/>
              </a:rPr>
              <a:t>4.   </a:t>
            </a:r>
            <a:r>
              <a:rPr lang="ru-RU" dirty="0" err="1">
                <a:latin typeface="Consolas" panose="020B0609020204030204" pitchFamily="49" charset="0"/>
              </a:rPr>
              <a:t>Cавельев</a:t>
            </a:r>
            <a:r>
              <a:rPr lang="ru-RU" dirty="0">
                <a:latin typeface="Consolas" panose="020B0609020204030204" pitchFamily="49" charset="0"/>
              </a:rPr>
              <a:t> Денис @DenisSavelev2025</a:t>
            </a:r>
          </a:p>
          <a:p>
            <a:r>
              <a:rPr lang="ru-RU" dirty="0">
                <a:latin typeface="Consolas" panose="020B0609020204030204" pitchFamily="49" charset="0"/>
              </a:rPr>
              <a:t>5.   </a:t>
            </a:r>
            <a:r>
              <a:rPr lang="ru-RU" dirty="0" err="1">
                <a:latin typeface="Consolas" panose="020B0609020204030204" pitchFamily="49" charset="0"/>
              </a:rPr>
              <a:t>Метиекам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Коаье</a:t>
            </a:r>
            <a:r>
              <a:rPr lang="ru-RU" dirty="0">
                <a:latin typeface="Consolas" panose="020B0609020204030204" pitchFamily="49" charset="0"/>
              </a:rPr>
              <a:t> Мануэль Патрисия</a:t>
            </a:r>
          </a:p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ADBA66-CB68-0276-8050-5DDD5CF0BE2B}"/>
              </a:ext>
            </a:extLst>
          </p:cNvPr>
          <p:cNvSpPr txBox="1"/>
          <p:nvPr/>
        </p:nvSpPr>
        <p:spPr>
          <a:xfrm>
            <a:off x="5309388" y="3691844"/>
            <a:ext cx="5756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Consolas" panose="020B0609020204030204" pitchFamily="49" charset="0"/>
              </a:rPr>
              <a:t>github</a:t>
            </a:r>
            <a:r>
              <a:rPr lang="ru-RU" b="1" dirty="0">
                <a:latin typeface="Consolas" panose="020B0609020204030204" pitchFamily="49" charset="0"/>
              </a:rPr>
              <a:t>:</a:t>
            </a:r>
          </a:p>
          <a:p>
            <a:r>
              <a:rPr lang="en-US" dirty="0">
                <a:solidFill>
                  <a:schemeClr val="bg1">
                    <a:lumMod val="25000"/>
                  </a:schemeClr>
                </a:solidFill>
                <a:latin typeface="Consolas" panose="020B0609020204030204" pitchFamily="49" charset="0"/>
              </a:rPr>
              <a:t>https://github.com/IlyyaNeustroev/airQuality</a:t>
            </a:r>
            <a:endParaRPr lang="ru-RU" dirty="0">
              <a:solidFill>
                <a:schemeClr val="bg1">
                  <a:lumMod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4040" y="628142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/>
          <p:cNvSpPr txBox="1"/>
          <p:nvPr/>
        </p:nvSpPr>
        <p:spPr>
          <a:xfrm>
            <a:off x="2053817" y="3613676"/>
            <a:ext cx="20617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Сборка и отладка</a:t>
            </a:r>
          </a:p>
          <a:p>
            <a:pPr algn="ctr"/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электроники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41319" y="3488177"/>
            <a:ext cx="24154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web-</a:t>
            </a: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сервера, БД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ML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568350" y="3508520"/>
            <a:ext cx="27029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Data-</a:t>
            </a: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инжиниринг:</a:t>
            </a:r>
          </a:p>
          <a:p>
            <a:pPr algn="ctr"/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синтетический </a:t>
            </a:r>
            <a:r>
              <a:rPr lang="ru-RU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датасет</a:t>
            </a: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37330" y="5866791"/>
            <a:ext cx="1095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Frontend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353386" y="5877985"/>
            <a:ext cx="2286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Концепция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0" y="628142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3</a:t>
            </a:r>
          </a:p>
        </p:txBody>
      </p:sp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71475" y="897463"/>
            <a:ext cx="7714800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4000" b="1" dirty="0">
                <a:solidFill>
                  <a:schemeClr val="dk1"/>
                </a:solidFill>
                <a:latin typeface="Outfit"/>
              </a:rPr>
              <a:t>Задачи спринта</a:t>
            </a:r>
            <a:endParaRPr lang="fr-FR" sz="4000" dirty="0">
              <a:solidFill>
                <a:schemeClr val="dk1"/>
              </a:solidFill>
              <a:latin typeface="Arial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732" y="1947836"/>
            <a:ext cx="1869952" cy="1759512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3867" y="1680194"/>
            <a:ext cx="1830369" cy="1843351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8419" y="1597489"/>
            <a:ext cx="2072736" cy="190580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9241" y="4427162"/>
            <a:ext cx="1751798" cy="1470069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5705" y="4235953"/>
            <a:ext cx="1681444" cy="16752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Прямоугольник 71"/>
          <p:cNvSpPr/>
          <p:nvPr/>
        </p:nvSpPr>
        <p:spPr>
          <a:xfrm>
            <a:off x="371475" y="969963"/>
            <a:ext cx="2600325" cy="6223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62500" lnSpcReduction="20000"/>
          </a:bodyPr>
          <a:lstStyle/>
          <a:p>
            <a:pPr>
              <a:tabLst>
                <a:tab pos="0" algn="l"/>
              </a:tabLst>
            </a:pPr>
            <a:r>
              <a:rPr lang="ru-RU" sz="3600" b="1" dirty="0">
                <a:solidFill>
                  <a:schemeClr val="dk1"/>
                </a:solidFill>
                <a:latin typeface="Outfit"/>
              </a:rPr>
              <a:t>Аппаратная часть</a:t>
            </a:r>
            <a:endParaRPr lang="en-US" sz="1200" dirty="0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4040" y="628142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4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447" y="2453054"/>
            <a:ext cx="4013722" cy="2712107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00" y="2220912"/>
            <a:ext cx="4997249" cy="31763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Прямоугольник 73"/>
          <p:cNvSpPr/>
          <p:nvPr/>
        </p:nvSpPr>
        <p:spPr>
          <a:xfrm>
            <a:off x="371475" y="936656"/>
            <a:ext cx="3619080" cy="65560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tabLst>
                <a:tab pos="0" algn="l"/>
              </a:tabLst>
            </a:pPr>
            <a:r>
              <a:rPr lang="ru-RU" sz="3600" b="1" dirty="0">
                <a:latin typeface="Outfit"/>
              </a:rPr>
              <a:t>Отладка схемы</a:t>
            </a:r>
            <a:endParaRPr lang="en-US" sz="3200" b="1" dirty="0">
              <a:solidFill>
                <a:srgbClr val="000000"/>
              </a:solidFill>
              <a:latin typeface="Outfit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84040" y="628142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5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89195E4-42BC-7239-11A5-A5698AA67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015" y="1785427"/>
            <a:ext cx="7099111" cy="43028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371475" y="897463"/>
            <a:ext cx="7714800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4000" b="1" dirty="0">
                <a:solidFill>
                  <a:schemeClr val="dk1"/>
                </a:solidFill>
                <a:latin typeface="Outfit"/>
                <a:ea typeface="Outfit"/>
              </a:rPr>
              <a:t>Программирование </a:t>
            </a:r>
            <a:r>
              <a:rPr lang="en-US" sz="4000" b="1" dirty="0">
                <a:solidFill>
                  <a:schemeClr val="dk1"/>
                </a:solidFill>
                <a:latin typeface="Outfit"/>
                <a:ea typeface="Outfit"/>
              </a:rPr>
              <a:t>ESP32</a:t>
            </a:r>
            <a:endParaRPr lang="fr-FR" sz="4000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4040" y="628142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9D212C-4E43-8DF2-8BF0-86CA564B918C}"/>
              </a:ext>
            </a:extLst>
          </p:cNvPr>
          <p:cNvSpPr txBox="1"/>
          <p:nvPr/>
        </p:nvSpPr>
        <p:spPr>
          <a:xfrm>
            <a:off x="371475" y="1843960"/>
            <a:ext cx="7797338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Consolas" panose="020B0609020204030204" pitchFamily="49" charset="0"/>
              </a:rPr>
              <a:t>Параметры </a:t>
            </a:r>
            <a:r>
              <a:rPr lang="en-US" b="1" dirty="0">
                <a:latin typeface="Consolas" panose="020B0609020204030204" pitchFamily="49" charset="0"/>
              </a:rPr>
              <a:t>Wi-Fi </a:t>
            </a:r>
            <a:r>
              <a:rPr lang="ru-RU" b="1" dirty="0">
                <a:latin typeface="Consolas" panose="020B0609020204030204" pitchFamily="49" charset="0"/>
              </a:rPr>
              <a:t>сети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latin typeface="Consolas" panose="020B0609020204030204" pitchFamily="49" charset="0"/>
              </a:rPr>
              <a:t>Номер помещения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latin typeface="Consolas" panose="020B0609020204030204" pitchFamily="49" charset="0"/>
              </a:rPr>
              <a:t>Время с </a:t>
            </a:r>
            <a:r>
              <a:rPr lang="en-US" sz="16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ru.pool.ntp.org</a:t>
            </a:r>
            <a:endParaRPr lang="en-US" sz="16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latin typeface="Consolas" panose="020B0609020204030204" pitchFamily="49" charset="0"/>
              </a:rPr>
              <a:t>Опрос датчиков каждые </a:t>
            </a:r>
            <a:r>
              <a:rPr lang="en-US" sz="1600" b="1" dirty="0">
                <a:latin typeface="Consolas" panose="020B0609020204030204" pitchFamily="49" charset="0"/>
              </a:rPr>
              <a:t>n</a:t>
            </a:r>
            <a:r>
              <a:rPr lang="ru-RU" sz="1600" b="1" dirty="0">
                <a:latin typeface="Consolas" panose="020B0609020204030204" pitchFamily="49" charset="0"/>
              </a:rPr>
              <a:t> минут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latin typeface="Consolas" panose="020B0609020204030204" pitchFamily="49" charset="0"/>
              </a:rPr>
              <a:t>Два режима работы: тестовый и рабочий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latin typeface="Consolas" panose="020B0609020204030204" pitchFamily="49" charset="0"/>
              </a:rPr>
              <a:t>Отправка </a:t>
            </a:r>
            <a:r>
              <a:rPr lang="en-US" sz="1600" b="1" dirty="0">
                <a:latin typeface="Consolas" panose="020B0609020204030204" pitchFamily="49" charset="0"/>
              </a:rPr>
              <a:t>JSON </a:t>
            </a:r>
            <a:r>
              <a:rPr lang="ru-RU" sz="1600" b="1" dirty="0">
                <a:latin typeface="Consolas" panose="020B0609020204030204" pitchFamily="49" charset="0"/>
              </a:rPr>
              <a:t>пакетов по </a:t>
            </a:r>
            <a:r>
              <a:rPr lang="en-US" sz="1600" b="1" dirty="0">
                <a:latin typeface="Consolas" panose="020B0609020204030204" pitchFamily="49" charset="0"/>
              </a:rPr>
              <a:t>http</a:t>
            </a:r>
            <a:endParaRPr lang="ru-RU" sz="1600" b="1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latin typeface="Consolas" panose="020B0609020204030204" pitchFamily="49" charset="0"/>
              </a:rPr>
              <a:t>Вывод логов в монитор порта</a:t>
            </a:r>
          </a:p>
        </p:txBody>
      </p:sp>
      <p:pic>
        <p:nvPicPr>
          <p:cNvPr id="7" name="Рисунок 6" descr="Изображение выглядит как текст, снимок экрана, Шрифт, число&#10;&#10;Автоматически созданное описание">
            <a:extLst>
              <a:ext uri="{FF2B5EF4-FFF2-40B4-BE49-F238E27FC236}">
                <a16:creationId xmlns:a16="http://schemas.microsoft.com/office/drawing/2014/main" id="{B3DBF08B-ADF6-3D4C-1DB9-4CA0B681B3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3950" y="2413553"/>
            <a:ext cx="6886575" cy="30575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71475" y="373284"/>
            <a:ext cx="7714800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b="1" dirty="0">
                <a:solidFill>
                  <a:schemeClr val="dk1"/>
                </a:solidFill>
                <a:latin typeface="Outfit"/>
              </a:rPr>
              <a:t>BACKEND</a:t>
            </a:r>
            <a:endParaRPr lang="fr-FR" sz="4000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84040" y="628142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7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19230B2E-DF5F-AB44-FBF4-67D75C4C2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763661"/>
            <a:ext cx="9851136" cy="533067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371475" y="897463"/>
            <a:ext cx="7714800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4000" b="1" dirty="0">
                <a:solidFill>
                  <a:schemeClr val="dk1"/>
                </a:solidFill>
                <a:latin typeface="Outfit"/>
                <a:ea typeface="Outfit"/>
              </a:rPr>
              <a:t>Концепция</a:t>
            </a:r>
            <a:endParaRPr lang="fr-FR" sz="4000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4040" y="628142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1F0E47-7ED7-FCE8-C37A-104C59F4334A}"/>
              </a:ext>
            </a:extLst>
          </p:cNvPr>
          <p:cNvSpPr txBox="1"/>
          <p:nvPr/>
        </p:nvSpPr>
        <p:spPr>
          <a:xfrm>
            <a:off x="371475" y="1843960"/>
            <a:ext cx="77973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Consolas" panose="020B0609020204030204" pitchFamily="49" charset="0"/>
              </a:rPr>
              <a:t>Унификация подключения датчиков через один разъем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latin typeface="Consolas" panose="020B0609020204030204" pitchFamily="49" charset="0"/>
              </a:rPr>
              <a:t>Разные датчики для разных клиентов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95410" y="207248"/>
            <a:ext cx="664797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Outfit"/>
              </a:rPr>
              <a:t>FRONTEND</a:t>
            </a:r>
            <a:r>
              <a:rPr lang="ru-RU" sz="3600" b="1" dirty="0">
                <a:latin typeface="Outfit"/>
              </a:rPr>
              <a:t>					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0" y="628142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13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F3CA3EF-DB85-F9AD-CFDE-A292FFE31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186" y="894821"/>
            <a:ext cx="10774679" cy="557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06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84040" y="628142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13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958A71A-DBEB-A844-AD1B-AE5A3B3DD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853579"/>
            <a:ext cx="11003279" cy="5651437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8BD8AD7-2F1A-5A81-C01F-01B4E9F52CD7}"/>
              </a:ext>
            </a:extLst>
          </p:cNvPr>
          <p:cNvSpPr/>
          <p:nvPr/>
        </p:nvSpPr>
        <p:spPr>
          <a:xfrm>
            <a:off x="395410" y="207248"/>
            <a:ext cx="664797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Outfit"/>
              </a:rPr>
              <a:t>FRONTEND</a:t>
            </a:r>
            <a:r>
              <a:rPr lang="ru-RU" sz="3600" b="1" dirty="0">
                <a:latin typeface="Outfit"/>
              </a:rPr>
              <a:t>					</a:t>
            </a:r>
          </a:p>
        </p:txBody>
      </p:sp>
    </p:spTree>
    <p:extLst>
      <p:ext uri="{BB962C8B-B14F-4D97-AF65-F5344CB8AC3E}">
        <p14:creationId xmlns:p14="http://schemas.microsoft.com/office/powerpoint/2010/main" val="3603924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84040" y="628142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13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FA393F1-EA81-874F-8B77-4FAD59A26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186" y="1034161"/>
            <a:ext cx="10764486" cy="5431925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DDACD76-6DA9-0E7A-349D-11D0D90ADA16}"/>
              </a:ext>
            </a:extLst>
          </p:cNvPr>
          <p:cNvSpPr/>
          <p:nvPr/>
        </p:nvSpPr>
        <p:spPr>
          <a:xfrm>
            <a:off x="395410" y="207248"/>
            <a:ext cx="664797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Outfit"/>
              </a:rPr>
              <a:t>FRONTEND</a:t>
            </a:r>
            <a:r>
              <a:rPr lang="ru-RU" sz="3600" b="1" dirty="0">
                <a:latin typeface="Outfit"/>
              </a:rPr>
              <a:t>					</a:t>
            </a:r>
          </a:p>
        </p:txBody>
      </p:sp>
    </p:spTree>
    <p:extLst>
      <p:ext uri="{BB962C8B-B14F-4D97-AF65-F5344CB8AC3E}">
        <p14:creationId xmlns:p14="http://schemas.microsoft.com/office/powerpoint/2010/main" val="3515999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84040" y="628142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13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1AAB21C-41A9-0A8A-6FEF-7F95AE9F89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613" y="853579"/>
            <a:ext cx="11159894" cy="5719872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6873DAF-7C49-7B45-5FB8-98F0F25AE5B6}"/>
              </a:ext>
            </a:extLst>
          </p:cNvPr>
          <p:cNvSpPr/>
          <p:nvPr/>
        </p:nvSpPr>
        <p:spPr>
          <a:xfrm>
            <a:off x="395410" y="207248"/>
            <a:ext cx="664797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Outfit"/>
              </a:rPr>
              <a:t>FRONTEND</a:t>
            </a:r>
            <a:r>
              <a:rPr lang="ru-RU" sz="3600" b="1" dirty="0">
                <a:latin typeface="Outfit"/>
              </a:rPr>
              <a:t>					</a:t>
            </a:r>
          </a:p>
        </p:txBody>
      </p:sp>
    </p:spTree>
    <p:extLst>
      <p:ext uri="{BB962C8B-B14F-4D97-AF65-F5344CB8AC3E}">
        <p14:creationId xmlns:p14="http://schemas.microsoft.com/office/powerpoint/2010/main" val="23868415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71475" y="920306"/>
            <a:ext cx="8468539" cy="671957"/>
          </a:xfrm>
        </p:spPr>
        <p:txBody>
          <a:bodyPr/>
          <a:lstStyle/>
          <a:p>
            <a:r>
              <a:rPr lang="ru-RU" sz="3600" b="1" dirty="0">
                <a:latin typeface="Outfit"/>
              </a:rPr>
              <a:t>Задачи на следующий спринт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0" y="628142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F14DBF-4F50-FCF3-98A0-A1ADB4C52400}"/>
              </a:ext>
            </a:extLst>
          </p:cNvPr>
          <p:cNvSpPr txBox="1"/>
          <p:nvPr/>
        </p:nvSpPr>
        <p:spPr>
          <a:xfrm>
            <a:off x="694944" y="1729579"/>
            <a:ext cx="5041765" cy="816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1. </a:t>
            </a:r>
            <a:r>
              <a:rPr lang="ru-RU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Связка с полнофункциональным фронтом</a:t>
            </a:r>
            <a:endParaRPr lang="ru-RU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2. Доработка функции в 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backend</a:t>
            </a:r>
            <a:endParaRPr lang="ru-RU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295161"/>
      </p:ext>
    </p:extLst>
  </p:cSld>
  <p:clrMapOvr>
    <a:masterClrMapping/>
  </p:clrMapOvr>
</p:sld>
</file>

<file path=ppt/theme/theme1.xml><?xml version="1.0" encoding="utf-8"?>
<a:theme xmlns:a="http://schemas.openxmlformats.org/drawingml/2006/main" name="Blue Simple Theme by Slidesgo">
  <a:themeElements>
    <a:clrScheme name="Simple Light">
      <a:dk1>
        <a:srgbClr val="021024"/>
      </a:dk1>
      <a:lt1>
        <a:srgbClr val="CAF2FF"/>
      </a:lt1>
      <a:dk2>
        <a:srgbClr val="023373"/>
      </a:dk2>
      <a:lt2>
        <a:srgbClr val="0487D9"/>
      </a:lt2>
      <a:accent1>
        <a:srgbClr val="63D8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21024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405</TotalTime>
  <Words>185</Words>
  <Application>Microsoft Office PowerPoint</Application>
  <PresentationFormat>Широкоэкранный</PresentationFormat>
  <Paragraphs>54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13</vt:i4>
      </vt:variant>
    </vt:vector>
  </HeadingPairs>
  <TitlesOfParts>
    <vt:vector size="24" baseType="lpstr">
      <vt:lpstr>Aptos</vt:lpstr>
      <vt:lpstr>Arial</vt:lpstr>
      <vt:lpstr>Arial</vt:lpstr>
      <vt:lpstr>Consolas</vt:lpstr>
      <vt:lpstr>OpenSymbol</vt:lpstr>
      <vt:lpstr>Outfit</vt:lpstr>
      <vt:lpstr>Symbol</vt:lpstr>
      <vt:lpstr>Tahoma</vt:lpstr>
      <vt:lpstr>Wingdings</vt:lpstr>
      <vt:lpstr>Blue Simple Theme by Slidesgo</vt:lpstr>
      <vt:lpstr>Slidesgo Final Pages</vt:lpstr>
      <vt:lpstr>АэроМонитор</vt:lpstr>
      <vt:lpstr>Команда 13</vt:lpstr>
      <vt:lpstr>Задачи спринта</vt:lpstr>
      <vt:lpstr>Презентация PowerPoint</vt:lpstr>
      <vt:lpstr>Презентация PowerPoint</vt:lpstr>
      <vt:lpstr>Программирование ESP32</vt:lpstr>
      <vt:lpstr>BACKEND</vt:lpstr>
      <vt:lpstr>Концепция</vt:lpstr>
      <vt:lpstr>Презентация PowerPoint</vt:lpstr>
      <vt:lpstr>Презентация PowerPoint</vt:lpstr>
      <vt:lpstr>Презентация PowerPoint</vt:lpstr>
      <vt:lpstr>Презентация PowerPoint</vt:lpstr>
      <vt:lpstr>Задачи на следующий спринт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АэроМонитор</dc:title>
  <dc:creator>Denis</dc:creator>
  <cp:lastModifiedBy>PC</cp:lastModifiedBy>
  <cp:revision>27</cp:revision>
  <dcterms:modified xsi:type="dcterms:W3CDTF">2026-05-05T16:22:42Z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2026-04-14T21:24:23Z</dcterms:created>
  <dc:creator>Unknown Creator</dc:creator>
  <dc:description/>
  <dc:language>en-US</dc:language>
  <cp:lastModifiedBy>Unknown Creator</cp:lastModifiedBy>
  <dcterms:modified xsi:type="dcterms:W3CDTF">2026-04-14T21:24:23Z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20</vt:r8>
  </property>
</Properties>
</file>