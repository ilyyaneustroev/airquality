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3" r:id="rId11"/>
    <p:sldId id="264" r:id="rId12"/>
    <p:sldId id="266" r:id="rId13"/>
    <p:sldId id="267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69" r:id="rId22"/>
    <p:sldId id="277" r:id="rId23"/>
    <p:sldId id="278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Средний стиль 4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98" y="96"/>
      </p:cViewPr>
      <p:guideLst>
        <p:guide orient="horz" pos="1003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50880" y="719520"/>
            <a:ext cx="10289760" cy="1232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3" name="Google Shape;11;p2"/>
          <p:cNvPicPr/>
          <p:nvPr/>
        </p:nvPicPr>
        <p:blipFill>
          <a:blip r:embed="rId2"/>
          <a:srcRect l="6446" t="15265" r="28409" b="40210"/>
          <a:stretch/>
        </p:blipFill>
        <p:spPr>
          <a:xfrm>
            <a:off x="6555840" y="3006720"/>
            <a:ext cx="5635680" cy="385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47;p11"/>
          <p:cNvPicPr/>
          <p:nvPr/>
        </p:nvPicPr>
        <p:blipFill>
          <a:blip r:embed="rId2"/>
          <a:srcRect r="50065" b="37830"/>
          <a:stretch/>
        </p:blipFill>
        <p:spPr>
          <a:xfrm rot="16200000">
            <a:off x="7370880" y="-561120"/>
            <a:ext cx="4319040" cy="537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50880" y="1255200"/>
            <a:ext cx="6784320" cy="139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2;p13"/>
          <p:cNvPicPr/>
          <p:nvPr/>
        </p:nvPicPr>
        <p:blipFill>
          <a:blip r:embed="rId2"/>
          <a:srcRect l="29900" b="52150"/>
          <a:stretch/>
        </p:blipFill>
        <p:spPr>
          <a:xfrm rot="10800000">
            <a:off x="6127680" y="48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950880" y="234000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title"/>
          </p:nvPr>
        </p:nvSpPr>
        <p:spPr>
          <a:xfrm>
            <a:off x="950880" y="436704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title"/>
          </p:nvPr>
        </p:nvSpPr>
        <p:spPr>
          <a:xfrm>
            <a:off x="4456320" y="234000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4456320" y="436704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title"/>
          </p:nvPr>
        </p:nvSpPr>
        <p:spPr>
          <a:xfrm>
            <a:off x="7961760" y="234000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title"/>
          </p:nvPr>
        </p:nvSpPr>
        <p:spPr>
          <a:xfrm>
            <a:off x="7961760" y="436704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67;p14"/>
          <p:cNvPicPr/>
          <p:nvPr/>
        </p:nvPicPr>
        <p:blipFill>
          <a:blip r:embed="rId2"/>
          <a:srcRect l="29900" b="56210"/>
          <a:stretch/>
        </p:blipFill>
        <p:spPr>
          <a:xfrm rot="5400000" flipH="1">
            <a:off x="-1148160" y="1932000"/>
            <a:ext cx="6064320" cy="37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70;p15"/>
          <p:cNvPicPr/>
          <p:nvPr/>
        </p:nvPicPr>
        <p:blipFill>
          <a:blip r:embed="rId2"/>
          <a:srcRect l="29900" b="52150"/>
          <a:stretch/>
        </p:blipFill>
        <p:spPr>
          <a:xfrm rot="16200000" flipH="1">
            <a:off x="7090080" y="96288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73;p16"/>
          <p:cNvPicPr/>
          <p:nvPr/>
        </p:nvPicPr>
        <p:blipFill>
          <a:blip r:embed="rId2"/>
          <a:srcRect r="55545" b="37830"/>
          <a:stretch/>
        </p:blipFill>
        <p:spPr>
          <a:xfrm rot="5400000">
            <a:off x="780960" y="2262720"/>
            <a:ext cx="3845280" cy="537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4796640" cy="141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200160" y="2112480"/>
            <a:ext cx="5031360" cy="402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24" name="Google Shape;80;p17"/>
          <p:cNvPicPr/>
          <p:nvPr/>
        </p:nvPicPr>
        <p:blipFill>
          <a:blip r:embed="rId2"/>
          <a:srcRect l="29900" b="52150"/>
          <a:stretch/>
        </p:blipFill>
        <p:spPr>
          <a:xfrm>
            <a:off x="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82;p18"/>
          <p:cNvPicPr/>
          <p:nvPr/>
        </p:nvPicPr>
        <p:blipFill>
          <a:blip r:embed="rId2"/>
          <a:srcRect l="37988" t="12339" r="-8087" b="39811"/>
          <a:stretch/>
        </p:blipFill>
        <p:spPr>
          <a:xfrm flipH="1">
            <a:off x="612768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50880" y="1059360"/>
            <a:ext cx="10289760" cy="930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651680" y="3198240"/>
            <a:ext cx="6588960" cy="260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86;p19"/>
          <p:cNvPicPr/>
          <p:nvPr/>
        </p:nvPicPr>
        <p:blipFill>
          <a:blip r:embed="rId2"/>
          <a:srcRect l="42971" t="8605" r="8129" b="53361"/>
          <a:stretch/>
        </p:blipFill>
        <p:spPr>
          <a:xfrm>
            <a:off x="0" y="3568320"/>
            <a:ext cx="4229760" cy="328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95;p20"/>
          <p:cNvPicPr/>
          <p:nvPr/>
        </p:nvPicPr>
        <p:blipFill>
          <a:blip r:embed="rId2"/>
          <a:srcRect l="29900" b="52150"/>
          <a:stretch/>
        </p:blipFill>
        <p:spPr>
          <a:xfrm flipH="1">
            <a:off x="6127680" y="271536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50880" y="3890880"/>
            <a:ext cx="6756480" cy="201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950880" y="2205120"/>
            <a:ext cx="1519680" cy="122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4" name="Google Shape;15;p3"/>
          <p:cNvPicPr/>
          <p:nvPr/>
        </p:nvPicPr>
        <p:blipFill>
          <a:blip r:embed="rId2"/>
          <a:srcRect r="30128" b="37830"/>
          <a:stretch/>
        </p:blipFill>
        <p:spPr>
          <a:xfrm rot="16200000">
            <a:off x="6508320" y="313920"/>
            <a:ext cx="6044160" cy="5377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106;p21"/>
          <p:cNvPicPr/>
          <p:nvPr/>
        </p:nvPicPr>
        <p:blipFill>
          <a:blip r:embed="rId2"/>
          <a:srcRect l="6446" t="15265" r="28409" b="40210"/>
          <a:stretch/>
        </p:blipFill>
        <p:spPr>
          <a:xfrm rot="10800000" flipH="1">
            <a:off x="6555840" y="0"/>
            <a:ext cx="5635680" cy="385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933120" y="995040"/>
            <a:ext cx="6593760" cy="129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7" name="Google Shape;109;p21"/>
          <p:cNvSpPr/>
          <p:nvPr/>
        </p:nvSpPr>
        <p:spPr>
          <a:xfrm>
            <a:off x="933120" y="4804800"/>
            <a:ext cx="6593760" cy="74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378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11;p22"/>
          <p:cNvPicPr/>
          <p:nvPr/>
        </p:nvPicPr>
        <p:blipFill>
          <a:blip r:embed="rId2"/>
          <a:srcRect l="29900" b="55808"/>
          <a:stretch/>
        </p:blipFill>
        <p:spPr>
          <a:xfrm rot="5400000" flipH="1">
            <a:off x="-1165440" y="1914720"/>
            <a:ext cx="6064320" cy="3822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13;p23"/>
          <p:cNvPicPr/>
          <p:nvPr/>
        </p:nvPicPr>
        <p:blipFill>
          <a:blip r:embed="rId2"/>
          <a:srcRect l="29900" b="52150"/>
          <a:stretch/>
        </p:blipFill>
        <p:spPr>
          <a:xfrm rot="16200000" flipH="1">
            <a:off x="7090080" y="962880"/>
            <a:ext cx="6064320" cy="413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17;p4"/>
          <p:cNvPicPr/>
          <p:nvPr/>
        </p:nvPicPr>
        <p:blipFill>
          <a:blip r:embed="rId2"/>
          <a:srcRect l="45858" t="18030" r="7192" b="53365"/>
          <a:stretch/>
        </p:blipFill>
        <p:spPr>
          <a:xfrm rot="5400000">
            <a:off x="-792960" y="793440"/>
            <a:ext cx="4060800" cy="247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960000" y="2112480"/>
            <a:ext cx="6775200" cy="4025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960000" y="7156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4" name="Google Shape;26;p5"/>
          <p:cNvPicPr/>
          <p:nvPr/>
        </p:nvPicPr>
        <p:blipFill>
          <a:blip r:embed="rId2"/>
          <a:srcRect t="43934" r="58145" b="-38"/>
          <a:stretch/>
        </p:blipFill>
        <p:spPr>
          <a:xfrm>
            <a:off x="8571360" y="0"/>
            <a:ext cx="3620160" cy="4853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6" name="Google Shape;29;p6"/>
          <p:cNvPicPr/>
          <p:nvPr/>
        </p:nvPicPr>
        <p:blipFill>
          <a:blip r:embed="rId2"/>
          <a:srcRect l="29900" b="52150"/>
          <a:stretch/>
        </p:blipFill>
        <p:spPr>
          <a:xfrm flipH="1">
            <a:off x="6127680" y="2715360"/>
            <a:ext cx="6064320" cy="413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200160" y="2112480"/>
            <a:ext cx="5031360" cy="189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49" name="Google Shape;34;p7"/>
          <p:cNvPicPr/>
          <p:nvPr/>
        </p:nvPicPr>
        <p:blipFill>
          <a:blip r:embed="rId2"/>
          <a:srcRect l="29900" b="52150"/>
          <a:stretch/>
        </p:blipFill>
        <p:spPr>
          <a:xfrm>
            <a:off x="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200160" y="4245600"/>
            <a:ext cx="5031360" cy="189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37;p8"/>
          <p:cNvPicPr/>
          <p:nvPr/>
        </p:nvPicPr>
        <p:blipFill>
          <a:blip r:embed="rId2"/>
          <a:srcRect t="43934" r="58145" b="-38"/>
          <a:stretch/>
        </p:blipFill>
        <p:spPr>
          <a:xfrm>
            <a:off x="8571360" y="0"/>
            <a:ext cx="3620160" cy="485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358240" y="1742880"/>
            <a:ext cx="7475520" cy="3372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40;p9"/>
          <p:cNvPicPr/>
          <p:nvPr/>
        </p:nvPicPr>
        <p:blipFill>
          <a:blip r:embed="rId2"/>
          <a:srcRect l="29900" b="52150"/>
          <a:stretch/>
        </p:blipFill>
        <p:spPr>
          <a:xfrm>
            <a:off x="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847360" y="1922400"/>
            <a:ext cx="6496800" cy="1582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520" cy="68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960000" y="5352480"/>
            <a:ext cx="10271520" cy="7632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119;p26"/>
          <p:cNvSpPr/>
          <p:nvPr/>
        </p:nvSpPr>
        <p:spPr>
          <a:xfrm>
            <a:off x="0" y="-13920"/>
            <a:ext cx="12191520" cy="15739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378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50880" y="719520"/>
            <a:ext cx="10289760" cy="6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122;p27"/>
          <p:cNvSpPr/>
          <p:nvPr/>
        </p:nvSpPr>
        <p:spPr>
          <a:xfrm>
            <a:off x="0" y="-13920"/>
            <a:ext cx="12191520" cy="15739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378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971520" y="719520"/>
            <a:ext cx="4463040" cy="6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6636960" y="719520"/>
            <a:ext cx="4610880" cy="6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microsoft.com/office/2007/relationships/hdphoto" Target="../media/hdphoto4.wdp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microsoft.com/office/2007/relationships/hdphoto" Target="../media/hdphoto10.wdp"/><Relationship Id="rId3" Type="http://schemas.microsoft.com/office/2007/relationships/hdphoto" Target="../media/hdphoto5.wdp"/><Relationship Id="rId7" Type="http://schemas.microsoft.com/office/2007/relationships/hdphoto" Target="../media/hdphoto7.wdp"/><Relationship Id="rId12" Type="http://schemas.openxmlformats.org/officeDocument/2006/relationships/image" Target="../media/image14.png"/><Relationship Id="rId17" Type="http://schemas.microsoft.com/office/2007/relationships/hdphoto" Target="../media/hdphoto12.wdp"/><Relationship Id="rId2" Type="http://schemas.openxmlformats.org/officeDocument/2006/relationships/image" Target="../media/image9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microsoft.com/office/2007/relationships/hdphoto" Target="../media/hdphoto9.wdp"/><Relationship Id="rId5" Type="http://schemas.microsoft.com/office/2007/relationships/hdphoto" Target="../media/hdphoto6.wdp"/><Relationship Id="rId15" Type="http://schemas.microsoft.com/office/2007/relationships/hdphoto" Target="../media/hdphoto11.wdp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microsoft.com/office/2007/relationships/hdphoto" Target="../media/hdphoto8.wdp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84040" y="655744"/>
            <a:ext cx="771480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000" b="1" dirty="0" err="1">
                <a:solidFill>
                  <a:schemeClr val="dk1"/>
                </a:solidFill>
                <a:latin typeface="Outfit"/>
                <a:ea typeface="Outfit"/>
              </a:rPr>
              <a:t>АэроМонитор</a:t>
            </a:r>
            <a:endParaRPr lang="fr-FR" sz="50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384040" y="2776375"/>
            <a:ext cx="4841103" cy="40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r>
              <a:rPr lang="ru-RU" sz="1600" dirty="0"/>
              <a:t>Прототип интеллектуальной системы контроля качества воздуха для больших зданий</a:t>
            </a:r>
          </a:p>
        </p:txBody>
      </p:sp>
      <p:cxnSp>
        <p:nvCxnSpPr>
          <p:cNvPr id="64" name="Google Shape;131;p28"/>
          <p:cNvCxnSpPr/>
          <p:nvPr/>
        </p:nvCxnSpPr>
        <p:spPr>
          <a:xfrm>
            <a:off x="384040" y="3524756"/>
            <a:ext cx="4710474" cy="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  <p:pic>
        <p:nvPicPr>
          <p:cNvPr id="10" name="image69deb088b29cd" descr="image69deb088b29d2"/>
          <p:cNvPicPr/>
          <p:nvPr/>
        </p:nvPicPr>
        <p:blipFill>
          <a:blip r:embed="rId2"/>
          <a:stretch/>
        </p:blipFill>
        <p:spPr>
          <a:xfrm>
            <a:off x="6096267" y="0"/>
            <a:ext cx="6095733" cy="6858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71475" y="897463"/>
            <a:ext cx="771480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4000" b="1" dirty="0">
                <a:solidFill>
                  <a:schemeClr val="dk1"/>
                </a:solidFill>
                <a:latin typeface="Outfit"/>
              </a:rPr>
              <a:t>Команда 13</a:t>
            </a:r>
            <a:endParaRPr lang="fr-FR" sz="40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85D806-9C5D-64EC-0D4D-7A9F2BA23C37}"/>
              </a:ext>
            </a:extLst>
          </p:cNvPr>
          <p:cNvSpPr txBox="1"/>
          <p:nvPr/>
        </p:nvSpPr>
        <p:spPr>
          <a:xfrm>
            <a:off x="5309389" y="1839037"/>
            <a:ext cx="487024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Consolas" panose="020B0609020204030204" pitchFamily="49" charset="0"/>
              </a:rPr>
              <a:t>Список команды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1.   Харлов Максим @maksimkharlovv</a:t>
            </a:r>
          </a:p>
          <a:p>
            <a:r>
              <a:rPr lang="ru-RU" dirty="0">
                <a:latin typeface="Consolas" panose="020B0609020204030204" pitchFamily="49" charset="0"/>
              </a:rPr>
              <a:t>2.   </a:t>
            </a:r>
            <a:r>
              <a:rPr lang="ru-RU" dirty="0" err="1">
                <a:latin typeface="Consolas" panose="020B0609020204030204" pitchFamily="49" charset="0"/>
              </a:rPr>
              <a:t>Лещишин</a:t>
            </a:r>
            <a:r>
              <a:rPr lang="ru-RU" dirty="0">
                <a:latin typeface="Consolas" panose="020B0609020204030204" pitchFamily="49" charset="0"/>
              </a:rPr>
              <a:t> Роман @Roman36519</a:t>
            </a:r>
          </a:p>
          <a:p>
            <a:r>
              <a:rPr lang="ru-RU" dirty="0">
                <a:latin typeface="Consolas" panose="020B0609020204030204" pitchFamily="49" charset="0"/>
              </a:rPr>
              <a:t>3.   Неустроев Илья @NeustroevIL</a:t>
            </a:r>
          </a:p>
          <a:p>
            <a:r>
              <a:rPr lang="ru-RU" dirty="0">
                <a:latin typeface="Consolas" panose="020B0609020204030204" pitchFamily="49" charset="0"/>
              </a:rPr>
              <a:t>4.   </a:t>
            </a:r>
            <a:r>
              <a:rPr lang="ru-RU" dirty="0" err="1">
                <a:latin typeface="Consolas" panose="020B0609020204030204" pitchFamily="49" charset="0"/>
              </a:rPr>
              <a:t>Cавельев</a:t>
            </a:r>
            <a:r>
              <a:rPr lang="ru-RU" dirty="0">
                <a:latin typeface="Consolas" panose="020B0609020204030204" pitchFamily="49" charset="0"/>
              </a:rPr>
              <a:t> Денис @DenisSavelev2025</a:t>
            </a:r>
          </a:p>
          <a:p>
            <a:r>
              <a:rPr lang="ru-RU" dirty="0">
                <a:latin typeface="Consolas" panose="020B0609020204030204" pitchFamily="49" charset="0"/>
              </a:rPr>
              <a:t>5.   </a:t>
            </a:r>
            <a:r>
              <a:rPr lang="ru-RU" dirty="0" err="1">
                <a:latin typeface="Consolas" panose="020B0609020204030204" pitchFamily="49" charset="0"/>
              </a:rPr>
              <a:t>Метиекам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Коаье</a:t>
            </a:r>
            <a:r>
              <a:rPr lang="ru-RU" dirty="0">
                <a:latin typeface="Consolas" panose="020B0609020204030204" pitchFamily="49" charset="0"/>
              </a:rPr>
              <a:t> Мануэль Патрисия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ADBA66-CB68-0276-8050-5DDD5CF0BE2B}"/>
              </a:ext>
            </a:extLst>
          </p:cNvPr>
          <p:cNvSpPr txBox="1"/>
          <p:nvPr/>
        </p:nvSpPr>
        <p:spPr>
          <a:xfrm>
            <a:off x="5309388" y="3691844"/>
            <a:ext cx="5756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</a:rPr>
              <a:t>github</a:t>
            </a:r>
            <a:r>
              <a:rPr lang="ru-RU" b="1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chemeClr val="bg1">
                    <a:lumMod val="25000"/>
                  </a:schemeClr>
                </a:solidFill>
                <a:latin typeface="Consolas" panose="020B0609020204030204" pitchFamily="49" charset="0"/>
              </a:rPr>
              <a:t>https://github.com/IlyyaNeustroev/airQuality</a:t>
            </a:r>
            <a:endParaRPr lang="ru-RU" dirty="0">
              <a:solidFill>
                <a:schemeClr val="bg1">
                  <a:lumMod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Прямоугольник 68"/>
          <p:cNvSpPr/>
          <p:nvPr/>
        </p:nvSpPr>
        <p:spPr>
          <a:xfrm>
            <a:off x="371475" y="945932"/>
            <a:ext cx="3352770" cy="646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ru-RU" sz="3600" b="1" dirty="0">
                <a:solidFill>
                  <a:schemeClr val="dk2"/>
                </a:solidFill>
                <a:latin typeface="Calibri"/>
              </a:rPr>
              <a:t>Проблема</a:t>
            </a:r>
            <a:endParaRPr lang="en-US" sz="5000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56787" y="828258"/>
            <a:ext cx="71129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Традиционные системы приточно‑вытяжной вентиляции работают по жёстким алгоритмам или вручную, что ведет к росту затрат, при ухудшении качества воздуха и обслуживания системы.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Picture 2" descr="спидометр, показывающий потребление энергии с помощью значка молнии  Иллюстрация вектора - иллюстрации насчитывающей датчик, цифрово: 331741516"/>
          <p:cNvPicPr>
            <a:picLocks noChangeAspect="1" noChangeArrowheads="1"/>
          </p:cNvPicPr>
          <p:nvPr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500" b="92125" l="8125" r="90000">
                        <a14:foregroundMark x1="69375" y1="49875" x2="69375" y2="49875"/>
                        <a14:foregroundMark x1="44125" y1="58875" x2="44125" y2="58875"/>
                        <a14:foregroundMark x1="50500" y1="53375" x2="50500" y2="53375"/>
                        <a14:foregroundMark x1="31625" y1="72375" x2="31625" y2="72375"/>
                        <a14:foregroundMark x1="31625" y1="68750" x2="31625" y2="68750"/>
                        <a14:foregroundMark x1="23500" y1="51625" x2="23500" y2="51625"/>
                        <a14:foregroundMark x1="30625" y1="32750" x2="30625" y2="32750"/>
                        <a14:foregroundMark x1="49625" y1="21875" x2="49625" y2="21875"/>
                        <a14:foregroundMark x1="64875" y1="34500" x2="64875" y2="34500"/>
                        <a14:foregroundMark x1="81125" y1="23750" x2="81125" y2="23750"/>
                        <a14:foregroundMark x1="47750" y1="7500" x2="47750" y2="7500"/>
                        <a14:foregroundMark x1="8125" y1="48000" x2="8125" y2="48000"/>
                        <a14:foregroundMark x1="55875" y1="89375" x2="55875" y2="89375"/>
                        <a14:foregroundMark x1="55000" y1="92125" x2="55000" y2="92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755" y="2459121"/>
            <a:ext cx="931908" cy="931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/>
          <p:cNvSpPr txBox="1"/>
          <p:nvPr/>
        </p:nvSpPr>
        <p:spPr>
          <a:xfrm>
            <a:off x="1908746" y="3624071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Перерасход энергии</a:t>
            </a:r>
          </a:p>
        </p:txBody>
      </p:sp>
      <p:pic>
        <p:nvPicPr>
          <p:cNvPr id="29" name="Picture 4" descr="Скачать бесплатно иконки на тему «Грязный воздух» в форматах PNG и SV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105" y="2459121"/>
            <a:ext cx="954355" cy="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" descr="Иконка Оптимизации Затрат — стоковая векторная графика и другие изображения  на тему Анализировать - Анализировать, Без людей, Бизнес - iStock"/>
          <p:cNvPicPr>
            <a:picLocks noChangeAspect="1" noChangeArrowheads="1"/>
          </p:cNvPicPr>
          <p:nvPr/>
        </p:nvPicPr>
        <p:blipFill>
          <a:blip r:embed="rId5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327" y1="31536" x2="50327" y2="31536"/>
                        <a14:foregroundMark x1="50327" y1="45915" x2="50327" y2="45915"/>
                        <a14:foregroundMark x1="51961" y1="63399" x2="51961" y2="633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1197" y="2431360"/>
            <a:ext cx="1053219" cy="1053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0" descr="Инженер человек значок на белом фоне: стоковая векторная графика (без  лицензионных платежей), 2631214889 | Shutterstock"/>
          <p:cNvPicPr>
            <a:picLocks noChangeAspect="1" noChangeArrowheads="1"/>
          </p:cNvPicPr>
          <p:nvPr/>
        </p:nvPicPr>
        <p:blipFill rotWithShape="1">
          <a:blip r:embed="rId7">
            <a:grayscl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976" b="80786" l="10000" r="90000">
                        <a14:foregroundMark x1="74231" y1="43214" x2="74231" y2="432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0238"/>
          <a:stretch/>
        </p:blipFill>
        <p:spPr bwMode="auto">
          <a:xfrm>
            <a:off x="3822523" y="4482631"/>
            <a:ext cx="1353062" cy="1307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вентиляция Стоковых иллюстраций и клипартов – (29,765 Стоковых иллюстраций)"/>
          <p:cNvPicPr>
            <a:picLocks noChangeAspect="1" noChangeArrowheads="1"/>
          </p:cNvPicPr>
          <p:nvPr/>
        </p:nvPicPr>
        <p:blipFill>
          <a:blip r:embed="rId9" cstate="print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52250" y1="51125" x2="52250" y2="51125"/>
                        <a14:foregroundMark x1="39875" y1="17250" x2="39875" y2="17250"/>
                        <a14:foregroundMark x1="47375" y1="17750" x2="47375" y2="17750"/>
                        <a14:foregroundMark x1="55500" y1="17250" x2="55500" y2="17250"/>
                        <a14:foregroundMark x1="64125" y1="17250" x2="64125" y2="17250"/>
                        <a14:foregroundMark x1="38875" y1="73750" x2="38875" y2="73750"/>
                        <a14:foregroundMark x1="45875" y1="75875" x2="45875" y2="75875"/>
                        <a14:foregroundMark x1="37250" y1="74250" x2="37250" y2="74250"/>
                        <a14:foregroundMark x1="52875" y1="77500" x2="52875" y2="77500"/>
                        <a14:foregroundMark x1="60375" y1="77500" x2="60375" y2="77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875" y="4307456"/>
            <a:ext cx="1559335" cy="155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/>
          <p:cNvSpPr txBox="1"/>
          <p:nvPr/>
        </p:nvSpPr>
        <p:spPr>
          <a:xfrm>
            <a:off x="4741319" y="3491863"/>
            <a:ext cx="2415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Неравномерное качество воздуха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7432" y="3624071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Высокие затраты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37330" y="5866791"/>
            <a:ext cx="2523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Человеческий фактор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8500" y="5757673"/>
            <a:ext cx="2286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Потери тепла через рекуператор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Прямоугольник 71"/>
          <p:cNvSpPr/>
          <p:nvPr/>
        </p:nvSpPr>
        <p:spPr>
          <a:xfrm>
            <a:off x="371475" y="969963"/>
            <a:ext cx="2600325" cy="6223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>
              <a:tabLst>
                <a:tab pos="0" algn="l"/>
              </a:tabLst>
            </a:pPr>
            <a:r>
              <a:rPr lang="ru-RU" sz="3600" b="1" dirty="0">
                <a:solidFill>
                  <a:schemeClr val="dk1"/>
                </a:solidFill>
                <a:latin typeface="Outfit"/>
              </a:rPr>
              <a:t>Решение</a:t>
            </a:r>
            <a:endParaRPr lang="en-US" sz="1200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33830" y="1034434"/>
            <a:ext cx="7445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latin typeface="Consolas" panose="020B0609020204030204" pitchFamily="49" charset="0"/>
              </a:rPr>
              <a:t>Интеллектуальная, энергоэффективная система вентиляции на базе ML. </a:t>
            </a:r>
          </a:p>
          <a:p>
            <a:pPr algn="just"/>
            <a:r>
              <a:rPr lang="ru-RU" b="1" dirty="0">
                <a:latin typeface="Consolas" panose="020B0609020204030204" pitchFamily="49" charset="0"/>
              </a:rPr>
              <a:t>Ключевые преимущества — экономия энергии и улучшение качества воздуха за счёт точечного управления. </a:t>
            </a:r>
          </a:p>
        </p:txBody>
      </p:sp>
      <p:pic>
        <p:nvPicPr>
          <p:cNvPr id="5" name="Рисунок 4" descr="Изображение выглядит как снимок экран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CC87AD08-0AA1-6BBD-1FB8-E1631F90F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830" y="2234762"/>
            <a:ext cx="7212706" cy="42586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DC7550-D225-85C3-EB52-361ABC3EA0BE}"/>
              </a:ext>
            </a:extLst>
          </p:cNvPr>
          <p:cNvSpPr txBox="1"/>
          <p:nvPr/>
        </p:nvSpPr>
        <p:spPr>
          <a:xfrm>
            <a:off x="1496962" y="5342701"/>
            <a:ext cx="203132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Consolas" panose="020B0609020204030204" pitchFamily="49" charset="0"/>
              </a:rPr>
              <a:t>Arduino</a:t>
            </a:r>
            <a:r>
              <a:rPr lang="ru-RU" sz="1100" b="1" dirty="0">
                <a:latin typeface="Consolas" panose="020B0609020204030204" pitchFamily="49" charset="0"/>
              </a:rPr>
              <a:t> + </a:t>
            </a:r>
            <a:r>
              <a:rPr lang="en-US" sz="1100" b="1" dirty="0">
                <a:latin typeface="Consolas" panose="020B0609020204030204" pitchFamily="49" charset="0"/>
              </a:rPr>
              <a:t>Wi-Fi </a:t>
            </a:r>
            <a:r>
              <a:rPr lang="ru-RU" sz="1100" b="1" dirty="0">
                <a:latin typeface="Consolas" panose="020B0609020204030204" pitchFamily="49" charset="0"/>
              </a:rPr>
              <a:t>модуль</a:t>
            </a:r>
          </a:p>
          <a:p>
            <a:r>
              <a:rPr lang="en-US" sz="1100" b="1" dirty="0">
                <a:latin typeface="Consolas" panose="020B0609020204030204" pitchFamily="49" charset="0"/>
              </a:rPr>
              <a:t>WEB</a:t>
            </a:r>
            <a:r>
              <a:rPr lang="ru-RU" sz="1100" b="1" dirty="0">
                <a:latin typeface="Consolas" panose="020B0609020204030204" pitchFamily="49" charset="0"/>
              </a:rPr>
              <a:t> сервер с приложением</a:t>
            </a:r>
          </a:p>
          <a:p>
            <a:r>
              <a:rPr lang="en-US" sz="1100" b="1" dirty="0">
                <a:latin typeface="Consolas" panose="020B0609020204030204" pitchFamily="49" charset="0"/>
              </a:rPr>
              <a:t>ML</a:t>
            </a:r>
            <a:r>
              <a:rPr lang="ru-RU" sz="1100" b="1" dirty="0">
                <a:latin typeface="Consolas" panose="020B0609020204030204" pitchFamily="49" charset="0"/>
              </a:rPr>
              <a:t>-модель классификации</a:t>
            </a:r>
          </a:p>
          <a:p>
            <a:r>
              <a:rPr lang="ru-RU" sz="1100" b="1" dirty="0">
                <a:latin typeface="Consolas" panose="020B0609020204030204" pitchFamily="49" charset="0"/>
              </a:rPr>
              <a:t>Управление нагрузкой: </a:t>
            </a:r>
          </a:p>
          <a:p>
            <a:r>
              <a:rPr lang="ru-RU" sz="1100" b="1" dirty="0">
                <a:latin typeface="Consolas" panose="020B0609020204030204" pitchFamily="49" charset="0"/>
              </a:rPr>
              <a:t>вентиляторы и клапаны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Прямоугольник 73"/>
          <p:cNvSpPr/>
          <p:nvPr/>
        </p:nvSpPr>
        <p:spPr>
          <a:xfrm>
            <a:off x="371475" y="936656"/>
            <a:ext cx="3619080" cy="6556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3600" b="1" dirty="0">
                <a:latin typeface="Outfit"/>
              </a:rPr>
              <a:t>Реализация</a:t>
            </a:r>
            <a:endParaRPr lang="en-US" sz="3200" b="1" dirty="0">
              <a:solidFill>
                <a:srgbClr val="000000"/>
              </a:solidFill>
              <a:latin typeface="Outfit"/>
            </a:endParaRPr>
          </a:p>
        </p:txBody>
      </p:sp>
      <p:pic>
        <p:nvPicPr>
          <p:cNvPr id="5" name="Picture 6" descr="Сигнал wi-fi – Бесплатные иконки: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844" l="1563" r="89844">
                        <a14:foregroundMark x1="8594" y1="35156" x2="8594" y2="35156"/>
                        <a14:foregroundMark x1="1563" y1="35742" x2="1563" y2="35742"/>
                        <a14:foregroundMark x1="40234" y1="46094" x2="40234" y2="46094"/>
                        <a14:foregroundMark x1="51172" y1="63477" x2="51172" y2="63477"/>
                        <a14:foregroundMark x1="52344" y1="86523" x2="52344" y2="865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7476" y="1254518"/>
            <a:ext cx="447675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6" descr="Вектор значка вентилятора | Премиум вектор"/>
          <p:cNvPicPr>
            <a:picLocks noChangeAspect="1" noChangeArrowheads="1"/>
          </p:cNvPicPr>
          <p:nvPr/>
        </p:nvPicPr>
        <p:blipFill>
          <a:blip r:embed="rId4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4089" y1="38019" x2="45208" y2="38498"/>
                        <a14:foregroundMark x1="57987" y1="56550" x2="56869" y2="56550"/>
                        <a14:foregroundMark x1="49201" y1="54792" x2="48722" y2="54952"/>
                        <a14:foregroundMark x1="21246" y1="69808" x2="21246" y2="69808"/>
                        <a14:foregroundMark x1="23003" y1="70128" x2="23003" y2="70128"/>
                        <a14:foregroundMark x1="45048" y1="23962" x2="45208" y2="24760"/>
                        <a14:foregroundMark x1="73163" y1="64217" x2="73163" y2="64217"/>
                        <a14:foregroundMark x1="76358" y1="53994" x2="76358" y2="53994"/>
                        <a14:foregroundMark x1="76198" y1="53355" x2="76198" y2="53355"/>
                        <a14:foregroundMark x1="75719" y1="52556" x2="75719" y2="52556"/>
                        <a14:foregroundMark x1="74920" y1="51597" x2="74920" y2="51597"/>
                        <a14:foregroundMark x1="34824" y1="26837" x2="34824" y2="26837"/>
                        <a14:foregroundMark x1="33866" y1="27955" x2="33866" y2="27955"/>
                        <a14:foregroundMark x1="32748" y1="28914" x2="32748" y2="28914"/>
                        <a14:foregroundMark x1="32109" y1="29872" x2="32109" y2="29872"/>
                        <a14:foregroundMark x1="31150" y1="77636" x2="31150" y2="77636"/>
                        <a14:foregroundMark x1="32428" y1="78914" x2="32428" y2="78914"/>
                        <a14:foregroundMark x1="33387" y1="78914" x2="33387" y2="78914"/>
                        <a14:foregroundMark x1="31897" y1="62069" x2="31897" y2="620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7283" y="4246651"/>
            <a:ext cx="1445472" cy="1445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Значок Чтобы Открыть И Закрыть Кран Вектор Концепции Ужесточения Водяного  Клапана Значок Спиннинг Отвинтить — стоковая векторная графика и другие  изображения на тему Воздушный клапан - iStock"/>
          <p:cNvPicPr>
            <a:picLocks noChangeAspect="1" noChangeArrowheads="1"/>
          </p:cNvPicPr>
          <p:nvPr/>
        </p:nvPicPr>
        <p:blipFill rotWithShape="1">
          <a:blip r:embed="rId6">
            <a:biLevel thresh="5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55034" r="95004">
                        <a14:foregroundMark x1="56197" y1="50847" x2="56197" y2="50847"/>
                        <a14:foregroundMark x1="69610" y1="12542" x2="69610" y2="12542"/>
                        <a14:foregroundMark x1="91341" y1="27458" x2="91681" y2="27797"/>
                        <a14:foregroundMark x1="91341" y1="75593" x2="91341" y2="75593"/>
                        <a14:foregroundMark x1="68591" y1="89492" x2="68591" y2="894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038"/>
          <a:stretch/>
        </p:blipFill>
        <p:spPr bwMode="auto">
          <a:xfrm>
            <a:off x="9773130" y="5122167"/>
            <a:ext cx="1233893" cy="1236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Прямая со стрелкой 7"/>
          <p:cNvCxnSpPr/>
          <p:nvPr/>
        </p:nvCxnSpPr>
        <p:spPr>
          <a:xfrm>
            <a:off x="10153903" y="2856260"/>
            <a:ext cx="0" cy="14272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8706" y="3168074"/>
            <a:ext cx="2183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Изменение микроклимата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8854" y="4572727"/>
            <a:ext cx="16100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Вентиляторы, клапана</a:t>
            </a:r>
          </a:p>
        </p:txBody>
      </p:sp>
      <p:pic>
        <p:nvPicPr>
          <p:cNvPr id="11" name="Picture 2" descr="Иконка Arduino Uno Board в стиле iOS"/>
          <p:cNvPicPr>
            <a:picLocks noChangeAspect="1" noChangeArrowheads="1"/>
          </p:cNvPicPr>
          <p:nvPr/>
        </p:nvPicPr>
        <p:blipFill>
          <a:blip r:embed="rId8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500" r="97333">
                        <a14:foregroundMark x1="61750" y1="39083" x2="61750" y2="39083"/>
                        <a14:foregroundMark x1="89583" y1="54083" x2="89583" y2="54083"/>
                        <a14:foregroundMark x1="90167" y1="73083" x2="88333" y2="73500"/>
                        <a14:foregroundMark x1="73750" y1="74083" x2="73167" y2="74250"/>
                        <a14:foregroundMark x1="48500" y1="75083" x2="46333" y2="76250"/>
                        <a14:foregroundMark x1="28500" y1="83083" x2="24917" y2="81667"/>
                        <a14:foregroundMark x1="10917" y1="73667" x2="10917" y2="73667"/>
                        <a14:foregroundMark x1="7333" y1="57250" x2="7333" y2="57250"/>
                        <a14:foregroundMark x1="3500" y1="64833" x2="3500" y2="64833"/>
                        <a14:foregroundMark x1="1500" y1="51250" x2="2917" y2="51083"/>
                        <a14:foregroundMark x1="28333" y1="49500" x2="28333" y2="49500"/>
                        <a14:foregroundMark x1="27083" y1="65500" x2="27083" y2="66083"/>
                        <a14:foregroundMark x1="27917" y1="74667" x2="27917" y2="74667"/>
                        <a14:foregroundMark x1="35750" y1="61667" x2="35750" y2="61667"/>
                        <a14:foregroundMark x1="91167" y1="41250" x2="91167" y2="41250"/>
                        <a14:foregroundMark x1="93750" y1="33083" x2="93750" y2="33083"/>
                        <a14:foregroundMark x1="82583" y1="26250" x2="75167" y2="26250"/>
                        <a14:foregroundMark x1="48167" y1="26667" x2="39167" y2="26833"/>
                        <a14:foregroundMark x1="28500" y1="25833" x2="26083" y2="26833"/>
                        <a14:foregroundMark x1="18750" y1="29250" x2="18750" y2="29250"/>
                        <a14:foregroundMark x1="97333" y1="54833" x2="96750" y2="57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0331" y="1402534"/>
            <a:ext cx="1287145" cy="128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Векторы на тему «Website icon» — скачивайте бесплатные векторы высокого  качества на Freepik | Freepik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418" y="1341332"/>
            <a:ext cx="1298274" cy="1298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Machine Learning Line Icons Machine Learning: стоковая векторная графика  (без лицензионных платежей), 2284769753 | Shutterstock"/>
          <p:cNvPicPr>
            <a:picLocks noChangeAspect="1" noChangeArrowheads="1"/>
          </p:cNvPicPr>
          <p:nvPr/>
        </p:nvPicPr>
        <p:blipFill rotWithShape="1">
          <a:blip r:embed="rId12">
            <a:biLevel thresh="50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286" b="89286" l="10000" r="92308">
                        <a14:foregroundMark x1="66923" y1="7857" x2="66923" y2="7857"/>
                        <a14:foregroundMark x1="92692" y1="38929" x2="92692" y2="38929"/>
                        <a14:foregroundMark x1="35769" y1="32143" x2="33846" y2="32143"/>
                        <a14:foregroundMark x1="36923" y1="4286" x2="36923" y2="4286"/>
                        <a14:foregroundMark x1="38462" y1="75000" x2="38462" y2="75000"/>
                        <a14:foregroundMark x1="35769" y1="87857" x2="35769" y2="87857"/>
                        <a14:foregroundMark x1="38846" y1="88571" x2="38846" y2="88571"/>
                        <a14:foregroundMark x1="44231" y1="86786" x2="44231" y2="86786"/>
                        <a14:foregroundMark x1="14615" y1="88571" x2="14615" y2="88571"/>
                        <a14:foregroundMark x1="13462" y1="88929" x2="13462" y2="88929"/>
                        <a14:foregroundMark x1="10000" y1="88214" x2="10000" y2="88214"/>
                        <a14:foregroundMark x1="16923" y1="89286" x2="16923" y2="89286"/>
                        <a14:foregroundMark x1="21923" y1="88929" x2="21923" y2="88929"/>
                        <a14:foregroundMark x1="28462" y1="88214" x2="28462" y2="88214"/>
                        <a14:foregroundMark x1="34231" y1="88929" x2="34231" y2="88929"/>
                        <a14:foregroundMark x1="50385" y1="89286" x2="50385" y2="89286"/>
                        <a14:foregroundMark x1="55769" y1="88214" x2="55769" y2="88214"/>
                        <a14:foregroundMark x1="63077" y1="88929" x2="63077" y2="88929"/>
                        <a14:foregroundMark x1="67308" y1="88214" x2="67308" y2="88214"/>
                        <a14:foregroundMark x1="72308" y1="87500" x2="72308" y2="87500"/>
                        <a14:foregroundMark x1="77308" y1="88214" x2="77308" y2="88214"/>
                        <a14:foregroundMark x1="80385" y1="87857" x2="80385" y2="87857"/>
                        <a14:foregroundMark x1="87308" y1="86786" x2="87308" y2="867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0258"/>
          <a:stretch/>
        </p:blipFill>
        <p:spPr bwMode="auto">
          <a:xfrm>
            <a:off x="6384812" y="1402534"/>
            <a:ext cx="1369271" cy="117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8" descr="Датчик – Бесплатные иконки: технологии"/>
          <p:cNvPicPr>
            <a:picLocks noChangeAspect="1" noChangeArrowheads="1"/>
          </p:cNvPicPr>
          <p:nvPr/>
        </p:nvPicPr>
        <p:blipFill>
          <a:blip r:embed="rId1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961" b="89844" l="4297" r="90625">
                        <a14:foregroundMark x1="48242" y1="37305" x2="52539" y2="37695"/>
                        <a14:foregroundMark x1="42969" y1="31641" x2="56055" y2="29883"/>
                        <a14:foregroundMark x1="50000" y1="24219" x2="59375" y2="24805"/>
                        <a14:foregroundMark x1="73438" y1="52344" x2="77539" y2="71680"/>
                        <a14:foregroundMark x1="73047" y1="50195" x2="73438" y2="66992"/>
                        <a14:foregroundMark x1="69336" y1="48828" x2="70703" y2="70117"/>
                        <a14:foregroundMark x1="69922" y1="50195" x2="76367" y2="67773"/>
                        <a14:foregroundMark x1="73828" y1="55273" x2="76953" y2="60547"/>
                        <a14:foregroundMark x1="75195" y1="56250" x2="75781" y2="57813"/>
                        <a14:foregroundMark x1="75391" y1="55273" x2="77148" y2="58398"/>
                        <a14:foregroundMark x1="75586" y1="52539" x2="75586" y2="57031"/>
                        <a14:foregroundMark x1="72461" y1="51367" x2="75391" y2="56641"/>
                        <a14:foregroundMark x1="73438" y1="51563" x2="73828" y2="53906"/>
                        <a14:foregroundMark x1="70117" y1="49219" x2="72070" y2="52539"/>
                        <a14:foregroundMark x1="69141" y1="48047" x2="74023" y2="52930"/>
                        <a14:foregroundMark x1="71289" y1="49609" x2="74414" y2="51367"/>
                        <a14:foregroundMark x1="71289" y1="48438" x2="77148" y2="64063"/>
                        <a14:foregroundMark x1="76563" y1="64453" x2="72461" y2="69141"/>
                        <a14:foregroundMark x1="73633" y1="68750" x2="68164" y2="72852"/>
                        <a14:foregroundMark x1="72656" y1="69531" x2="72656" y2="71484"/>
                        <a14:foregroundMark x1="71875" y1="70117" x2="68359" y2="71484"/>
                        <a14:foregroundMark x1="69922" y1="70117" x2="67969" y2="72852"/>
                        <a14:foregroundMark x1="71484" y1="69336" x2="70898" y2="71484"/>
                        <a14:foregroundMark x1="73438" y1="66992" x2="76758" y2="58984"/>
                        <a14:foregroundMark x1="76367" y1="64844" x2="76367" y2="49609"/>
                        <a14:foregroundMark x1="81055" y1="42969" x2="81055" y2="76563"/>
                        <a14:foregroundMark x1="82227" y1="76172" x2="84180" y2="74805"/>
                        <a14:foregroundMark x1="84570" y1="73828" x2="84570" y2="73828"/>
                        <a14:foregroundMark x1="85547" y1="72070" x2="85938" y2="72852"/>
                        <a14:foregroundMark x1="87695" y1="70703" x2="87695" y2="71484"/>
                        <a14:foregroundMark x1="87695" y1="70703" x2="86914" y2="71680"/>
                        <a14:foregroundMark x1="86719" y1="71094" x2="86719" y2="71094"/>
                        <a14:foregroundMark x1="84961" y1="72852" x2="84570" y2="72070"/>
                        <a14:foregroundMark x1="84766" y1="71680" x2="85938" y2="70313"/>
                        <a14:foregroundMark x1="86523" y1="69336" x2="86523" y2="69336"/>
                        <a14:foregroundMark x1="86914" y1="68945" x2="86914" y2="68945"/>
                        <a14:foregroundMark x1="86328" y1="69141" x2="86328" y2="69531"/>
                        <a14:foregroundMark x1="86523" y1="68750" x2="86914" y2="69141"/>
                        <a14:foregroundMark x1="86914" y1="68750" x2="86914" y2="68750"/>
                        <a14:foregroundMark x1="87305" y1="67383" x2="87500" y2="65430"/>
                        <a14:foregroundMark x1="87500" y1="65039" x2="87500" y2="63672"/>
                        <a14:foregroundMark x1="87500" y1="63867" x2="87695" y2="64648"/>
                        <a14:foregroundMark x1="87695" y1="64648" x2="87695" y2="63672"/>
                        <a14:foregroundMark x1="88086" y1="66016" x2="88281" y2="63867"/>
                        <a14:foregroundMark x1="88281" y1="63867" x2="88867" y2="64063"/>
                        <a14:foregroundMark x1="89063" y1="63477" x2="90039" y2="61914"/>
                        <a14:foregroundMark x1="90234" y1="56836" x2="89648" y2="64844"/>
                        <a14:foregroundMark x1="88672" y1="62500" x2="88867" y2="63867"/>
                        <a14:foregroundMark x1="88867" y1="58008" x2="89258" y2="63281"/>
                        <a14:foregroundMark x1="88281" y1="57617" x2="89063" y2="58398"/>
                        <a14:foregroundMark x1="86523" y1="50977" x2="88867" y2="55664"/>
                        <a14:foregroundMark x1="86328" y1="45703" x2="89258" y2="57227"/>
                        <a14:foregroundMark x1="85547" y1="52734" x2="86523" y2="55859"/>
                        <a14:foregroundMark x1="85352" y1="49414" x2="86328" y2="53711"/>
                        <a14:foregroundMark x1="83789" y1="49414" x2="84961" y2="52344"/>
                        <a14:foregroundMark x1="80469" y1="36719" x2="83203" y2="41797"/>
                        <a14:foregroundMark x1="83008" y1="42578" x2="86523" y2="50195"/>
                        <a14:foregroundMark x1="57422" y1="56641" x2="42188" y2="53320"/>
                        <a14:foregroundMark x1="54492" y1="51172" x2="40820" y2="53320"/>
                        <a14:foregroundMark x1="43555" y1="53711" x2="40820" y2="69727"/>
                        <a14:foregroundMark x1="36914" y1="64453" x2="39648" y2="46484"/>
                        <a14:foregroundMark x1="36133" y1="58594" x2="40430" y2="40430"/>
                        <a14:foregroundMark x1="34375" y1="60742" x2="50195" y2="43750"/>
                        <a14:foregroundMark x1="43750" y1="46094" x2="64453" y2="48633"/>
                        <a14:foregroundMark x1="51953" y1="45313" x2="66016" y2="45508"/>
                        <a14:foregroundMark x1="38281" y1="44336" x2="29883" y2="57227"/>
                        <a14:foregroundMark x1="35938" y1="67773" x2="38867" y2="75000"/>
                        <a14:foregroundMark x1="37891" y1="66406" x2="34375" y2="76367"/>
                        <a14:foregroundMark x1="41406" y1="74609" x2="57422" y2="76172"/>
                        <a14:foregroundMark x1="43164" y1="73047" x2="64648" y2="71484"/>
                        <a14:foregroundMark x1="31250" y1="71680" x2="22266" y2="60547"/>
                        <a14:foregroundMark x1="22656" y1="61133" x2="31055" y2="48047"/>
                        <a14:foregroundMark x1="25586" y1="48633" x2="18750" y2="61133"/>
                        <a14:foregroundMark x1="27930" y1="50000" x2="20508" y2="63477"/>
                        <a14:foregroundMark x1="24805" y1="66992" x2="25586" y2="72852"/>
                        <a14:foregroundMark x1="17188" y1="78125" x2="10938" y2="62305"/>
                        <a14:foregroundMark x1="12109" y1="66602" x2="4883" y2="55078"/>
                        <a14:foregroundMark x1="9961" y1="59766" x2="20508" y2="45313"/>
                        <a14:foregroundMark x1="11719" y1="54883" x2="17383" y2="41797"/>
                        <a14:foregroundMark x1="18750" y1="43164" x2="12305" y2="49219"/>
                        <a14:foregroundMark x1="17188" y1="41602" x2="10156" y2="50781"/>
                        <a14:foregroundMark x1="13086" y1="51367" x2="4297" y2="60547"/>
                        <a14:foregroundMark x1="10938" y1="54492" x2="7422" y2="64844"/>
                        <a14:foregroundMark x1="11328" y1="62109" x2="12109" y2="71680"/>
                        <a14:foregroundMark x1="12109" y1="69141" x2="15625" y2="75781"/>
                        <a14:foregroundMark x1="13477" y1="71094" x2="18164" y2="78711"/>
                        <a14:foregroundMark x1="16016" y1="75586" x2="19531" y2="77734"/>
                        <a14:foregroundMark x1="14258" y1="70898" x2="19141" y2="77148"/>
                        <a14:foregroundMark x1="14453" y1="70508" x2="18555" y2="73828"/>
                        <a14:foregroundMark x1="8789" y1="59180" x2="14648" y2="55273"/>
                        <a14:foregroundMark x1="12891" y1="59375" x2="15234" y2="65039"/>
                        <a14:foregroundMark x1="60352" y1="50195" x2="58398" y2="63477"/>
                        <a14:foregroundMark x1="63672" y1="48633" x2="61523" y2="67969"/>
                        <a14:foregroundMark x1="63086" y1="47461" x2="61328" y2="66406"/>
                        <a14:foregroundMark x1="64063" y1="55859" x2="61133" y2="76563"/>
                        <a14:foregroundMark x1="54297" y1="74609" x2="66016" y2="73242"/>
                        <a14:foregroundMark x1="40039" y1="66211" x2="61914" y2="63867"/>
                        <a14:foregroundMark x1="42188" y1="66992" x2="61328" y2="68945"/>
                        <a14:foregroundMark x1="48828" y1="67773" x2="59570" y2="66602"/>
                        <a14:foregroundMark x1="39453" y1="45313" x2="59961" y2="50000"/>
                        <a14:foregroundMark x1="43359" y1="44727" x2="55664" y2="45117"/>
                        <a14:foregroundMark x1="23828" y1="55078" x2="22070" y2="68164"/>
                        <a14:foregroundMark x1="26563" y1="48828" x2="36328" y2="47852"/>
                        <a14:foregroundMark x1="89258" y1="65625" x2="88281" y2="70703"/>
                        <a14:foregroundMark x1="87891" y1="52148" x2="90625" y2="60547"/>
                        <a14:foregroundMark x1="82031" y1="41211" x2="80664" y2="48438"/>
                        <a14:foregroundMark x1="48828" y1="35352" x2="46094" y2="41602"/>
                        <a14:foregroundMark x1="35156" y1="22070" x2="51172" y2="24609"/>
                        <a14:foregroundMark x1="59375" y1="26953" x2="60938" y2="32813"/>
                        <a14:foregroundMark x1="54688" y1="33594" x2="54688" y2="36719"/>
                        <a14:foregroundMark x1="48242" y1="23242" x2="36719" y2="279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447" y="4287247"/>
            <a:ext cx="1133537" cy="1133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0" descr="Иконка Датчик в стиле Cute Outline в PNG, SVG"/>
          <p:cNvPicPr>
            <a:picLocks noChangeAspect="1" noChangeArrowheads="1"/>
          </p:cNvPicPr>
          <p:nvPr/>
        </p:nvPicPr>
        <p:blipFill>
          <a:blip r:embed="rId16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417" b="98000" l="1750" r="98167">
                        <a14:foregroundMark x1="70667" y1="70833" x2="70667" y2="70833"/>
                        <a14:foregroundMark x1="34167" y1="44500" x2="34167" y2="44500"/>
                        <a14:foregroundMark x1="23917" y1="42250" x2="23917" y2="42250"/>
                        <a14:foregroundMark x1="15750" y1="37667" x2="15750" y2="37667"/>
                        <a14:foregroundMark x1="31583" y1="76833" x2="31583" y2="76833"/>
                        <a14:foregroundMark x1="40333" y1="79917" x2="40333" y2="79917"/>
                        <a14:foregroundMark x1="48000" y1="81333" x2="48000" y2="81333"/>
                        <a14:foregroundMark x1="62500" y1="18167" x2="62500" y2="18167"/>
                        <a14:foregroundMark x1="75750" y1="28333" x2="75750" y2="28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551" y="5151396"/>
            <a:ext cx="678946" cy="67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Прямая со стрелкой 15"/>
          <p:cNvCxnSpPr/>
          <p:nvPr/>
        </p:nvCxnSpPr>
        <p:spPr>
          <a:xfrm flipV="1">
            <a:off x="4062148" y="2854663"/>
            <a:ext cx="0" cy="14325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4942047" y="1990469"/>
            <a:ext cx="12001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>
            <a:off x="7930346" y="1990469"/>
            <a:ext cx="12001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67058" y="3369573"/>
            <a:ext cx="1320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Передача данных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0497" y="1074212"/>
            <a:ext cx="2183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Обработка данных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0661" y="1074212"/>
            <a:ext cx="240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Принятие решения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2148" y="2476038"/>
            <a:ext cx="1320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</a:t>
            </a:r>
            <a:r>
              <a:rPr lang="ru-RU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сервер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6598" y="2450274"/>
            <a:ext cx="909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Arduino</a:t>
            </a:r>
            <a:endParaRPr lang="ru-RU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07447" y="5881766"/>
            <a:ext cx="1022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Датчики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371475" y="897463"/>
            <a:ext cx="771480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4000" b="1" dirty="0">
                <a:solidFill>
                  <a:schemeClr val="dk1"/>
                </a:solidFill>
                <a:latin typeface="Outfit"/>
                <a:ea typeface="Outfit"/>
              </a:rPr>
              <a:t>Датчики</a:t>
            </a:r>
            <a:endParaRPr lang="fr-FR" sz="4000" dirty="0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005021"/>
              </p:ext>
            </p:extLst>
          </p:nvPr>
        </p:nvGraphicFramePr>
        <p:xfrm>
          <a:off x="1663700" y="1862666"/>
          <a:ext cx="9080500" cy="419523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86597294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1644205068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1119479849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3824581443"/>
                    </a:ext>
                  </a:extLst>
                </a:gridCol>
              </a:tblGrid>
              <a:tr h="71143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Датчик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Признак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Диапазон измерений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Единица измерений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261904"/>
                  </a:ext>
                </a:extLst>
              </a:tr>
              <a:tr h="412184">
                <a:tc rowSpan="3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ENS160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TVOC (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Содержание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органики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0-65535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ppb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735768"/>
                  </a:ext>
                </a:extLst>
              </a:tr>
              <a:tr h="412184">
                <a:tc v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eCO2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(эквивалент 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CO2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400-65535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ppm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412965"/>
                  </a:ext>
                </a:extLst>
              </a:tr>
              <a:tr h="412184">
                <a:tc v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Индекс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качества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0-500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800360"/>
                  </a:ext>
                </a:extLst>
              </a:tr>
              <a:tr h="412184">
                <a:tc rowSpan="2"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АНТ-21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Температура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40-120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С</a:t>
                      </a:r>
                      <a:r>
                        <a:rPr lang="ru-RU" baseline="30000" dirty="0">
                          <a:solidFill>
                            <a:schemeClr val="tx1"/>
                          </a:solidFill>
                        </a:rPr>
                        <a:t>о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956623"/>
                  </a:ext>
                </a:extLst>
              </a:tr>
              <a:tr h="412184">
                <a:tc v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Относительная влажность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0-100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5320"/>
                  </a:ext>
                </a:extLst>
              </a:tr>
              <a:tr h="71143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MQ-135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Концентрация газа (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NH3,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NOx, CO2,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SOx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, etc…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0-10000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ppm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522420"/>
                  </a:ext>
                </a:extLst>
              </a:tr>
              <a:tr h="71143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MQ-7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Концентрация газа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(H2, CO, NH4, C3H8,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etc…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20-10000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ppm 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79744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71475" y="373284"/>
            <a:ext cx="771480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4000" b="1" dirty="0">
                <a:solidFill>
                  <a:schemeClr val="dk1"/>
                </a:solidFill>
                <a:latin typeface="Outfit"/>
                <a:ea typeface="Outfit"/>
              </a:rPr>
              <a:t>Ключевые моменты</a:t>
            </a:r>
            <a:endParaRPr lang="fr-FR" sz="40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71739" y="1161376"/>
            <a:ext cx="77973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Consolas" panose="020B0609020204030204" pitchFamily="49" charset="0"/>
              </a:rPr>
              <a:t>На вход </a:t>
            </a:r>
            <a:r>
              <a:rPr lang="ru-RU" sz="1600" dirty="0">
                <a:latin typeface="YS Geo"/>
              </a:rPr>
              <a:t>системы поступают показания с датчиков, дни недели, признак состояния клапана, время суток, сезон, занятость помещения, температура и влажность с уличных датчиков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1739" y="1992373"/>
            <a:ext cx="77973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Consolas" panose="020B0609020204030204" pitchFamily="49" charset="0"/>
              </a:rPr>
              <a:t>На выходе </a:t>
            </a:r>
            <a:r>
              <a:rPr lang="ru-RU" sz="1600" dirty="0">
                <a:latin typeface="YS Geo"/>
              </a:rPr>
              <a:t>имеем класс качества воздуха </a:t>
            </a:r>
            <a:r>
              <a:rPr lang="en-US" sz="1600" dirty="0">
                <a:latin typeface="YS Geo"/>
              </a:rPr>
              <a:t>AQI</a:t>
            </a:r>
            <a:r>
              <a:rPr lang="ru-RU" sz="1600" dirty="0">
                <a:latin typeface="YS Geo"/>
              </a:rPr>
              <a:t>, по которому определяем какой клапан открыть, включить двигатели вентиляторов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1738" y="2607926"/>
            <a:ext cx="7797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Consolas" panose="020B0609020204030204" pitchFamily="49" charset="0"/>
              </a:rPr>
              <a:t>Экономия энергии:</a:t>
            </a:r>
            <a:r>
              <a:rPr lang="ru-RU" dirty="0"/>
              <a:t> вентиляция работает только там, где нужно, и когда нужно, а не постоянно и во всех помещениях. Актуально в крупных зданиях, где нагрузки 10-100 КВт </a:t>
            </a:r>
            <a:endParaRPr lang="ru-RU" sz="1600" dirty="0">
              <a:latin typeface="YS Ge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71737" y="3487243"/>
            <a:ext cx="7797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Улучшение качества воздуха:</a:t>
            </a:r>
            <a:r>
              <a:rPr lang="ru-RU" dirty="0"/>
              <a:t> оперативное реагирование на ухудшение параметров</a:t>
            </a:r>
            <a:endParaRPr lang="ru-RU" sz="1600" dirty="0">
              <a:latin typeface="YS G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71737" y="4106303"/>
            <a:ext cx="7797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Автоматизация:</a:t>
            </a:r>
            <a:r>
              <a:rPr lang="ru-RU" dirty="0"/>
              <a:t> минимизация ручного управления, снижение </a:t>
            </a:r>
          </a:p>
          <a:p>
            <a:r>
              <a:rPr lang="ru-RU" dirty="0"/>
              <a:t>    нагрузки на персонал</a:t>
            </a:r>
            <a:endParaRPr lang="ru-RU" sz="1600" dirty="0">
              <a:latin typeface="YS G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71737" y="4714843"/>
            <a:ext cx="7797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Прогнозирование:</a:t>
            </a:r>
            <a:r>
              <a:rPr lang="ru-RU" dirty="0"/>
              <a:t> ML‑модель может выявлять тренды и </a:t>
            </a:r>
          </a:p>
          <a:p>
            <a:r>
              <a:rPr lang="ru-RU" dirty="0"/>
              <a:t>    предупреждать о возможном ухудшении воздуха.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1737" y="5368187"/>
            <a:ext cx="7797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Минусы:</a:t>
            </a:r>
            <a:r>
              <a:rPr lang="ru-RU" dirty="0"/>
              <a:t> зависимость от </a:t>
            </a:r>
            <a:r>
              <a:rPr lang="en-US" dirty="0"/>
              <a:t>ML</a:t>
            </a:r>
            <a:r>
              <a:rPr lang="ru-RU" dirty="0"/>
              <a:t>, калибровка датчиков, определенная схема вентиляции с центральным приточно-вытяжными каналами и    </a:t>
            </a:r>
          </a:p>
          <a:p>
            <a:r>
              <a:rPr lang="ru-RU" dirty="0"/>
              <a:t>     отдельными каналами для каждого помещения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71475" y="897463"/>
            <a:ext cx="771480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dirty="0" err="1">
                <a:solidFill>
                  <a:schemeClr val="dk1"/>
                </a:solidFill>
                <a:latin typeface="Outfit"/>
                <a:ea typeface="Outfit"/>
              </a:rPr>
              <a:t>Целевая</a:t>
            </a:r>
            <a:r>
              <a:rPr lang="en-US" sz="4000" b="1" dirty="0">
                <a:solidFill>
                  <a:schemeClr val="dk1"/>
                </a:solidFill>
                <a:latin typeface="Outfit"/>
                <a:ea typeface="Outfit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Outfit"/>
                <a:ea typeface="Outfit"/>
              </a:rPr>
              <a:t>аудитория</a:t>
            </a:r>
            <a:endParaRPr lang="fr-FR" sz="4000" dirty="0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026" name="Picture 2" descr="Скачать бесплатно иконки на тему «Управляющая компания» в форматах PNG и SV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921" y="3022582"/>
            <a:ext cx="1301750" cy="130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Администрация – Бесплатные иконки: архитектура и город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6421" y="2956824"/>
            <a:ext cx="1328056" cy="1328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Завод завод – Бесплатные иконки: промышленность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177" y="2804070"/>
            <a:ext cx="1373641" cy="137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Дата центр – Бесплатные иконки: компьютер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1518" y="2944998"/>
            <a:ext cx="1339882" cy="1339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22274" y="4554322"/>
            <a:ext cx="17510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Владельцы коммерческой недвижимости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2863" y="4831320"/>
            <a:ext cx="25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Административные и бюджетные здания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1662" y="4859634"/>
            <a:ext cx="25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Промышленные предприятия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5124" y="4859634"/>
            <a:ext cx="2532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Дата-центры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71475" y="897463"/>
            <a:ext cx="771480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4000" b="1" dirty="0">
                <a:solidFill>
                  <a:schemeClr val="dk1"/>
                </a:solidFill>
                <a:latin typeface="Outfit"/>
                <a:ea typeface="Outfit"/>
              </a:rPr>
              <a:t>Гипотеза</a:t>
            </a:r>
            <a:endParaRPr lang="fr-FR" sz="40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85D806-9C5D-64EC-0D4D-7A9F2BA23C37}"/>
              </a:ext>
            </a:extLst>
          </p:cNvPr>
          <p:cNvSpPr txBox="1"/>
          <p:nvPr/>
        </p:nvSpPr>
        <p:spPr>
          <a:xfrm>
            <a:off x="2379037" y="2253396"/>
            <a:ext cx="84975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YS Geo"/>
              </a:rPr>
              <a:t>Если внедрить адаптивную, интеллектуальную систему контроля качества </a:t>
            </a:r>
          </a:p>
          <a:p>
            <a:r>
              <a:rPr lang="ru-RU" sz="1800" dirty="0">
                <a:latin typeface="YS Geo"/>
              </a:rPr>
              <a:t>воздуха с ML‑моделью, для управления приточно‑вытяжной вентиляцией в </a:t>
            </a:r>
          </a:p>
          <a:p>
            <a:r>
              <a:rPr lang="ru-RU" sz="1800" dirty="0">
                <a:latin typeface="YS Geo"/>
              </a:rPr>
              <a:t>больших зданиях, то можно сократить энергопотребление на 25–40% по сравнению с традиционной круглосуточной, централизованной вентиляцией и улучшить качество воздуха там где необходимо, потому что система будет </a:t>
            </a:r>
          </a:p>
          <a:p>
            <a:r>
              <a:rPr lang="ru-RU" sz="1800" dirty="0">
                <a:latin typeface="YS Geo"/>
              </a:rPr>
              <a:t>активировать проветривание только в тех помещениях, где реально </a:t>
            </a:r>
          </a:p>
          <a:p>
            <a:r>
              <a:rPr lang="ru-RU" sz="1800" dirty="0">
                <a:latin typeface="YS Geo"/>
              </a:rPr>
              <a:t>зафиксировано ухудшение качества воздуха, а не работать по всему зданию, жёсткому расписанию или круглосуточно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71475" y="897463"/>
            <a:ext cx="771480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4000" b="1" dirty="0">
                <a:solidFill>
                  <a:schemeClr val="dk1"/>
                </a:solidFill>
                <a:latin typeface="Outfit"/>
                <a:ea typeface="Outfit"/>
              </a:rPr>
              <a:t>Конкуренты</a:t>
            </a:r>
            <a:endParaRPr lang="fr-FR" sz="40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2754" y="62814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3E75609-9D95-029C-6A63-6AB39FB19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86" y="1736785"/>
            <a:ext cx="10907129" cy="46460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986" y="939562"/>
            <a:ext cx="9134795" cy="5795067"/>
          </a:xfrm>
          <a:prstGeom prst="rect">
            <a:avLst/>
          </a:prstGeom>
          <a:ln>
            <a:solidFill>
              <a:schemeClr val="accent2">
                <a:lumMod val="65000"/>
              </a:schemeClr>
            </a:solidFill>
          </a:ln>
        </p:spPr>
      </p:pic>
      <p:sp>
        <p:nvSpPr>
          <p:cNvPr id="7" name="Прямоугольник 6"/>
          <p:cNvSpPr/>
          <p:nvPr/>
        </p:nvSpPr>
        <p:spPr>
          <a:xfrm>
            <a:off x="371475" y="187764"/>
            <a:ext cx="57079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Outfit"/>
              </a:rPr>
              <a:t>Примерная архитектура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0" y="6281420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A219F8-88D4-0868-4FF8-66B63B6B2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912239"/>
            <a:ext cx="6781879" cy="573851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84040" y="207248"/>
            <a:ext cx="34610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Outfit"/>
              </a:rPr>
              <a:t>Прототипы  </a:t>
            </a:r>
            <a:r>
              <a:rPr lang="en-US" sz="3600" b="1" dirty="0">
                <a:latin typeface="Outfit"/>
              </a:rPr>
              <a:t>UI</a:t>
            </a:r>
            <a:endParaRPr lang="ru-RU" sz="3600" b="1" dirty="0">
              <a:latin typeface="Outfit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517187" y="221271"/>
            <a:ext cx="3349625" cy="8064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stitch</a:t>
            </a:r>
            <a:endParaRPr lang="ru-RU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384040" y="62814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410" y="207248"/>
            <a:ext cx="107644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Outfit"/>
              </a:rPr>
              <a:t>Прототипы  </a:t>
            </a:r>
            <a:r>
              <a:rPr lang="en-US" sz="3600" b="1" dirty="0">
                <a:latin typeface="Outfit"/>
              </a:rPr>
              <a:t>UI</a:t>
            </a:r>
            <a:r>
              <a:rPr lang="ru-RU" sz="3600" b="1" dirty="0">
                <a:latin typeface="Outfit"/>
              </a:rPr>
              <a:t> 					         </a:t>
            </a:r>
            <a:r>
              <a:rPr lang="en-US" sz="3600" dirty="0" err="1">
                <a:solidFill>
                  <a:schemeClr val="tx1"/>
                </a:solidFill>
              </a:rPr>
              <a:t>poehali.dev</a:t>
            </a:r>
            <a:endParaRPr lang="ru-RU" sz="3600" b="1" dirty="0">
              <a:latin typeface="Outfi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4040" y="62814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13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9EEC13-6BD3-DB9E-1308-6E03A5642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280" y="853579"/>
            <a:ext cx="9508282" cy="588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111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410" y="207248"/>
            <a:ext cx="107644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Outfit"/>
              </a:rPr>
              <a:t>Прототипы  </a:t>
            </a:r>
            <a:r>
              <a:rPr lang="en-US" sz="3600" b="1" dirty="0">
                <a:latin typeface="Outfit"/>
              </a:rPr>
              <a:t>UI</a:t>
            </a:r>
            <a:r>
              <a:rPr lang="ru-RU" sz="3600" b="1" dirty="0">
                <a:latin typeface="Outfit"/>
              </a:rPr>
              <a:t> 					         </a:t>
            </a:r>
            <a:r>
              <a:rPr lang="en-US" sz="3600" dirty="0" err="1">
                <a:solidFill>
                  <a:schemeClr val="tx1"/>
                </a:solidFill>
              </a:rPr>
              <a:t>poehali.dev</a:t>
            </a:r>
            <a:endParaRPr lang="ru-RU" sz="3600" b="1" dirty="0">
              <a:latin typeface="Outfi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4040" y="62814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13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9776CB-A15F-28F1-3094-2B9ABB15E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459" y="853579"/>
            <a:ext cx="9255679" cy="583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22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410" y="207248"/>
            <a:ext cx="107644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Outfit"/>
              </a:rPr>
              <a:t>Прототипы  </a:t>
            </a:r>
            <a:r>
              <a:rPr lang="en-US" sz="3600" b="1" dirty="0">
                <a:latin typeface="Outfit"/>
              </a:rPr>
              <a:t>UI</a:t>
            </a:r>
            <a:r>
              <a:rPr lang="ru-RU" sz="3600" b="1" dirty="0">
                <a:latin typeface="Outfit"/>
              </a:rPr>
              <a:t> 					         </a:t>
            </a:r>
            <a:r>
              <a:rPr lang="en-US" sz="3600" dirty="0" err="1">
                <a:solidFill>
                  <a:schemeClr val="tx1"/>
                </a:solidFill>
              </a:rPr>
              <a:t>poehali.dev</a:t>
            </a:r>
            <a:endParaRPr lang="ru-RU" sz="3600" b="1" dirty="0">
              <a:latin typeface="Outfi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4040" y="62814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13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291A7B-CB99-C48B-87F5-7DC6E4BF7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98" y="978409"/>
            <a:ext cx="8997054" cy="565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06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410" y="207248"/>
            <a:ext cx="107644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Outfit"/>
              </a:rPr>
              <a:t>Прототипы  </a:t>
            </a:r>
            <a:r>
              <a:rPr lang="en-US" sz="3600" b="1" dirty="0">
                <a:latin typeface="Outfit"/>
              </a:rPr>
              <a:t>UI</a:t>
            </a:r>
            <a:r>
              <a:rPr lang="ru-RU" sz="3600" b="1" dirty="0">
                <a:latin typeface="Outfit"/>
              </a:rPr>
              <a:t> 					         </a:t>
            </a:r>
            <a:r>
              <a:rPr lang="en-US" sz="3600" dirty="0" err="1">
                <a:solidFill>
                  <a:schemeClr val="tx1"/>
                </a:solidFill>
              </a:rPr>
              <a:t>poehali.dev</a:t>
            </a:r>
            <a:endParaRPr lang="ru-RU" sz="3600" b="1" dirty="0">
              <a:latin typeface="Outfi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4040" y="62814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13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F69934F-D4C1-9EF7-5919-F4A20A62D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210" y="1083558"/>
            <a:ext cx="8981020" cy="565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924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410" y="207248"/>
            <a:ext cx="107644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Outfit"/>
              </a:rPr>
              <a:t>Прототипы  </a:t>
            </a:r>
            <a:r>
              <a:rPr lang="en-US" sz="3600" b="1" dirty="0">
                <a:latin typeface="Outfit"/>
              </a:rPr>
              <a:t>UI</a:t>
            </a:r>
            <a:r>
              <a:rPr lang="ru-RU" sz="3600" b="1" dirty="0">
                <a:latin typeface="Outfit"/>
              </a:rPr>
              <a:t> 					         </a:t>
            </a:r>
            <a:r>
              <a:rPr lang="en-US" sz="3600" dirty="0" err="1">
                <a:solidFill>
                  <a:schemeClr val="tx1"/>
                </a:solidFill>
              </a:rPr>
              <a:t>poehali.dev</a:t>
            </a:r>
            <a:endParaRPr lang="ru-RU" sz="3600" b="1" dirty="0">
              <a:latin typeface="Outfi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4040" y="62814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13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1C4A931-A0A4-C7C5-55C9-04BCC0FCE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364" y="853579"/>
            <a:ext cx="9179992" cy="577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999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410" y="207248"/>
            <a:ext cx="107644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Outfit"/>
              </a:rPr>
              <a:t>Прототипы  </a:t>
            </a:r>
            <a:r>
              <a:rPr lang="en-US" sz="3600" b="1" dirty="0">
                <a:latin typeface="Outfit"/>
              </a:rPr>
              <a:t>UI</a:t>
            </a:r>
            <a:r>
              <a:rPr lang="ru-RU" sz="3600" b="1" dirty="0">
                <a:latin typeface="Outfit"/>
              </a:rPr>
              <a:t> 					         </a:t>
            </a:r>
            <a:r>
              <a:rPr lang="en-US" sz="3600" dirty="0" err="1">
                <a:solidFill>
                  <a:schemeClr val="tx1"/>
                </a:solidFill>
              </a:rPr>
              <a:t>poehali.dev</a:t>
            </a:r>
            <a:endParaRPr lang="ru-RU" sz="3600" b="1" dirty="0">
              <a:latin typeface="Outfi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4040" y="62814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13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D653678-5275-D295-3C75-011AFDFF7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793" y="847245"/>
            <a:ext cx="9211379" cy="580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41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410" y="207248"/>
            <a:ext cx="107644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Outfit"/>
              </a:rPr>
              <a:t>Прототипы  </a:t>
            </a:r>
            <a:r>
              <a:rPr lang="en-US" sz="3600" b="1" dirty="0">
                <a:latin typeface="Outfit"/>
              </a:rPr>
              <a:t>UI</a:t>
            </a:r>
            <a:r>
              <a:rPr lang="ru-RU" sz="3600" b="1" dirty="0">
                <a:latin typeface="Outfit"/>
              </a:rPr>
              <a:t> 					         </a:t>
            </a:r>
            <a:r>
              <a:rPr lang="en-US" sz="3600" dirty="0" err="1">
                <a:solidFill>
                  <a:schemeClr val="tx1"/>
                </a:solidFill>
              </a:rPr>
              <a:t>poehali.dev</a:t>
            </a:r>
            <a:endParaRPr lang="ru-RU" sz="3600" b="1" dirty="0">
              <a:latin typeface="Outfi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4040" y="62814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13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2A88DB8-5AD6-60BB-B519-7AF0844B4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310" y="853579"/>
            <a:ext cx="9342004" cy="587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07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1475" y="920306"/>
            <a:ext cx="2892425" cy="671957"/>
          </a:xfrm>
        </p:spPr>
        <p:txBody>
          <a:bodyPr/>
          <a:lstStyle/>
          <a:p>
            <a:r>
              <a:rPr lang="ru-RU" sz="3600" b="1" dirty="0">
                <a:latin typeface="Outfit"/>
              </a:rPr>
              <a:t>Проблемы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7527" y="2002628"/>
            <a:ext cx="7797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Consolas" panose="020B0609020204030204" pitchFamily="49" charset="0"/>
              </a:rPr>
              <a:t>Генерация синтетических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Consolas" panose="020B0609020204030204" pitchFamily="49" charset="0"/>
              </a:rPr>
              <a:t>Метрики</a:t>
            </a:r>
            <a:endParaRPr lang="ru-RU" dirty="0">
              <a:latin typeface="YS Ge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4040" y="62814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1475" y="920306"/>
            <a:ext cx="2892425" cy="671957"/>
          </a:xfrm>
        </p:spPr>
        <p:txBody>
          <a:bodyPr/>
          <a:lstStyle/>
          <a:p>
            <a:r>
              <a:rPr lang="ru-RU" sz="3600" b="1" dirty="0">
                <a:latin typeface="Outfit"/>
              </a:rPr>
              <a:t>Ресурсы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0" y="62814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F14DBF-4F50-FCF3-98A0-A1ADB4C52400}"/>
              </a:ext>
            </a:extLst>
          </p:cNvPr>
          <p:cNvSpPr txBox="1"/>
          <p:nvPr/>
        </p:nvSpPr>
        <p:spPr>
          <a:xfrm>
            <a:off x="694944" y="1729579"/>
            <a:ext cx="345838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YS Geo"/>
              </a:rPr>
              <a:t>инженер‑электронщик — 1 чел.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YS Geo"/>
              </a:rPr>
              <a:t>backend</a:t>
            </a:r>
            <a:r>
              <a:rPr lang="ru-RU" b="0" i="0" dirty="0">
                <a:effectLst/>
                <a:latin typeface="YS Geo"/>
              </a:rPr>
              <a:t>‑разработчик — 1 чел.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YS Geo"/>
              </a:rPr>
              <a:t>frontend</a:t>
            </a:r>
            <a:r>
              <a:rPr lang="ru-RU" b="0" i="0" dirty="0">
                <a:effectLst/>
                <a:latin typeface="YS Geo"/>
              </a:rPr>
              <a:t>‑разработчик — 1 чел.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YS Geo"/>
              </a:rPr>
              <a:t>дата‑инженер — 1 чел.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YS Geo"/>
              </a:rPr>
              <a:t>ML‑инженер — 1 чел.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B08830-0D4B-4C0D-9CA7-F6E7EC52A77C}"/>
              </a:ext>
            </a:extLst>
          </p:cNvPr>
          <p:cNvSpPr txBox="1"/>
          <p:nvPr/>
        </p:nvSpPr>
        <p:spPr>
          <a:xfrm>
            <a:off x="694944" y="3483905"/>
            <a:ext cx="109632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b="1" dirty="0">
                <a:latin typeface="YS Geo"/>
              </a:rPr>
              <a:t>К</a:t>
            </a:r>
            <a:r>
              <a:rPr lang="ru-RU" b="1" dirty="0">
                <a:effectLst/>
                <a:latin typeface="YS Geo"/>
              </a:rPr>
              <a:t>онтрольные точки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YS Geo"/>
              </a:rPr>
              <a:t>Конец спринта </a:t>
            </a:r>
            <a:r>
              <a:rPr lang="en-US" b="1" i="0" dirty="0">
                <a:effectLst/>
                <a:latin typeface="YS Geo"/>
              </a:rPr>
              <a:t>2</a:t>
            </a:r>
            <a:r>
              <a:rPr lang="ru-RU" b="1" i="0" dirty="0">
                <a:effectLst/>
                <a:latin typeface="YS Geo"/>
              </a:rPr>
              <a:t>:</a:t>
            </a:r>
            <a:r>
              <a:rPr lang="ru-RU" b="0" i="0" dirty="0">
                <a:effectLst/>
                <a:latin typeface="YS Geo"/>
              </a:rPr>
              <a:t> работающий прототип (3 устройства), API, БД, простой веб‑интерфейс, начальный датасет.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YS Geo"/>
              </a:rPr>
              <a:t>Конец спринта </a:t>
            </a:r>
            <a:r>
              <a:rPr lang="en-US" b="1" i="0" dirty="0">
                <a:effectLst/>
                <a:latin typeface="YS Geo"/>
              </a:rPr>
              <a:t>3</a:t>
            </a:r>
            <a:r>
              <a:rPr lang="ru-RU" b="1" i="0" dirty="0">
                <a:effectLst/>
                <a:latin typeface="YS Geo"/>
              </a:rPr>
              <a:t>:</a:t>
            </a:r>
            <a:r>
              <a:rPr lang="ru-RU" b="0" i="0" dirty="0">
                <a:effectLst/>
                <a:latin typeface="YS Geo"/>
              </a:rPr>
              <a:t> стабильная система с ML‑классификацией, улучшенный интерфейс, уведомления, </a:t>
            </a:r>
            <a:endParaRPr lang="en-US" dirty="0">
              <a:latin typeface="YS Geo"/>
            </a:endParaRPr>
          </a:p>
          <a:p>
            <a:pPr algn="l"/>
            <a:r>
              <a:rPr lang="en-US" b="0" i="0" dirty="0">
                <a:effectLst/>
                <a:latin typeface="YS Geo"/>
              </a:rPr>
              <a:t>	                 </a:t>
            </a:r>
            <a:r>
              <a:rPr lang="ru-RU" b="0" i="0" dirty="0">
                <a:effectLst/>
                <a:latin typeface="YS Geo"/>
              </a:rPr>
              <a:t>документация, результаты нагрузочного тестирования.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3011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1475" y="920306"/>
            <a:ext cx="8468539" cy="671957"/>
          </a:xfrm>
        </p:spPr>
        <p:txBody>
          <a:bodyPr/>
          <a:lstStyle/>
          <a:p>
            <a:r>
              <a:rPr lang="ru-RU" sz="3600" b="1" dirty="0">
                <a:latin typeface="Outfit"/>
              </a:rPr>
              <a:t>Задачи на следующий спринт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0" y="62814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F14DBF-4F50-FCF3-98A0-A1ADB4C52400}"/>
              </a:ext>
            </a:extLst>
          </p:cNvPr>
          <p:cNvSpPr txBox="1"/>
          <p:nvPr/>
        </p:nvSpPr>
        <p:spPr>
          <a:xfrm>
            <a:off x="694944" y="1729579"/>
            <a:ext cx="9580508" cy="4159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 Сборка электрической схемы и программирование </a:t>
            </a:r>
            <a:r>
              <a:rPr lang="ru-RU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Arduino</a:t>
            </a:r>
            <a:r>
              <a:rPr lang="ru-R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сборка схемы, отладка</a:t>
            </a:r>
            <a:endParaRPr lang="ru-R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 Разработка </a:t>
            </a:r>
            <a:r>
              <a:rPr lang="ru-RU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backend</a:t>
            </a:r>
            <a:r>
              <a:rPr lang="ru-R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‑прототипа: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api</a:t>
            </a:r>
            <a:r>
              <a:rPr lang="ru-R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база данных, бизнес-логика</a:t>
            </a:r>
            <a:endParaRPr lang="ru-R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 Дата‑инжиниринг: генерация начального датасета</a:t>
            </a:r>
            <a:endParaRPr lang="ru-R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 Разработка </a:t>
            </a:r>
            <a:r>
              <a:rPr lang="ru-RU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frontend</a:t>
            </a:r>
            <a:r>
              <a:rPr lang="ru-R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‑прототипа: простой интерфейс</a:t>
            </a:r>
            <a:endParaRPr lang="ru-R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Контрольные точки к концу спринта 1:</a:t>
            </a:r>
            <a:endParaRPr lang="ru-R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работающий прототип (3 устройства);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API и БД;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простой веб‑интерфейс;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начальный датасет.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295161"/>
      </p:ext>
    </p:extLst>
  </p:cSld>
  <p:clrMapOvr>
    <a:masterClrMapping/>
  </p:clrMapOvr>
</p:sld>
</file>

<file path=ppt/theme/theme1.xml><?xml version="1.0" encoding="utf-8"?>
<a:theme xmlns:a="http://schemas.openxmlformats.org/drawingml/2006/main" name="Blue Simple Theme by Slidesgo">
  <a:themeElements>
    <a:clrScheme name="Simple Light">
      <a:dk1>
        <a:srgbClr val="021024"/>
      </a:dk1>
      <a:lt1>
        <a:srgbClr val="CAF2FF"/>
      </a:lt1>
      <a:dk2>
        <a:srgbClr val="023373"/>
      </a:dk2>
      <a:lt2>
        <a:srgbClr val="0487D9"/>
      </a:lt2>
      <a:accent1>
        <a:srgbClr val="63D8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2102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</TotalTime>
  <Words>715</Words>
  <Application>Microsoft Office PowerPoint</Application>
  <PresentationFormat>Широкоэкранный</PresentationFormat>
  <Paragraphs>142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22</vt:i4>
      </vt:variant>
    </vt:vector>
  </HeadingPairs>
  <TitlesOfParts>
    <vt:vector size="35" baseType="lpstr">
      <vt:lpstr>Aptos</vt:lpstr>
      <vt:lpstr>arial</vt:lpstr>
      <vt:lpstr>arial</vt:lpstr>
      <vt:lpstr>Calibri</vt:lpstr>
      <vt:lpstr>Consolas</vt:lpstr>
      <vt:lpstr>OpenSymbol</vt:lpstr>
      <vt:lpstr>Outfit</vt:lpstr>
      <vt:lpstr>Symbol</vt:lpstr>
      <vt:lpstr>Tahoma</vt:lpstr>
      <vt:lpstr>Wingdings</vt:lpstr>
      <vt:lpstr>YS Geo</vt:lpstr>
      <vt:lpstr>Blue Simple Theme by Slidesgo</vt:lpstr>
      <vt:lpstr>Slidesgo Final Pages</vt:lpstr>
      <vt:lpstr>АэроМонитор</vt:lpstr>
      <vt:lpstr>Команда 13</vt:lpstr>
      <vt:lpstr>Презентация PowerPoint</vt:lpstr>
      <vt:lpstr>Презентация PowerPoint</vt:lpstr>
      <vt:lpstr>Презентация PowerPoint</vt:lpstr>
      <vt:lpstr>Датчики</vt:lpstr>
      <vt:lpstr>Ключевые моменты</vt:lpstr>
      <vt:lpstr>Целевая аудитория</vt:lpstr>
      <vt:lpstr>Гипотеза</vt:lpstr>
      <vt:lpstr>Конкуренты</vt:lpstr>
      <vt:lpstr>Презентация PowerPoint</vt:lpstr>
      <vt:lpstr>stitch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Проблемы</vt:lpstr>
      <vt:lpstr>Ресурсы</vt:lpstr>
      <vt:lpstr>Задачи на следующий спринт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АэроМонитор</dc:title>
  <dc:creator>Denis</dc:creator>
  <cp:lastModifiedBy>PC</cp:lastModifiedBy>
  <cp:revision>21</cp:revision>
  <dcterms:modified xsi:type="dcterms:W3CDTF">2026-04-15T16:20:09Z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2026-04-14T21:24:23Z</dcterms:created>
  <dc:creator>Unknown Creator</dc:creator>
  <dc:description/>
  <dc:language>en-US</dc:language>
  <cp:lastModifiedBy>Unknown Creator</cp:lastModifiedBy>
  <dcterms:modified xsi:type="dcterms:W3CDTF">2026-04-14T21:24:23Z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