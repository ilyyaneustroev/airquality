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80" r:id="rId4"/>
    <p:sldId id="279" r:id="rId5"/>
    <p:sldId id="286" r:id="rId6"/>
    <p:sldId id="285" r:id="rId7"/>
    <p:sldId id="260" r:id="rId8"/>
    <p:sldId id="281" r:id="rId9"/>
    <p:sldId id="28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2546C11-D457-469F-B42D-1D8F5D6888A9}">
          <p14:sldIdLst>
            <p14:sldId id="256"/>
            <p14:sldId id="280"/>
            <p14:sldId id="279"/>
            <p14:sldId id="286"/>
            <p14:sldId id="285"/>
            <p14:sldId id="260"/>
            <p14:sldId id="281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74" autoAdjust="0"/>
    <p:restoredTop sz="94660"/>
  </p:normalViewPr>
  <p:slideViewPr>
    <p:cSldViewPr snapToGrid="0" showGuides="1">
      <p:cViewPr varScale="1">
        <p:scale>
          <a:sx n="161" d="100"/>
          <a:sy n="161" d="100"/>
        </p:scale>
        <p:origin x="864" y="186"/>
      </p:cViewPr>
      <p:guideLst>
        <p:guide orient="horz" pos="777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123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6555840" y="300672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7370880" y="-561120"/>
            <a:ext cx="431904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0880" y="1255200"/>
            <a:ext cx="6784320" cy="139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6127680" y="4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95088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95088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5632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5632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796176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796176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1148160" y="1932000"/>
            <a:ext cx="6064320" cy="37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780960" y="2262720"/>
            <a:ext cx="384528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4796640" cy="141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402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4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612768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880" y="1059360"/>
            <a:ext cx="10289760" cy="9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651680" y="3198240"/>
            <a:ext cx="6588960" cy="260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3568320"/>
            <a:ext cx="422976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0880" y="3890880"/>
            <a:ext cx="6756480" cy="201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50880" y="2205120"/>
            <a:ext cx="1519680" cy="12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6508320" y="313920"/>
            <a:ext cx="6044160" cy="53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6555840" y="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33120" y="995040"/>
            <a:ext cx="6593760" cy="129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9;p21"/>
          <p:cNvSpPr/>
          <p:nvPr/>
        </p:nvSpPr>
        <p:spPr>
          <a:xfrm>
            <a:off x="933120" y="4804800"/>
            <a:ext cx="6593760" cy="7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378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1165440" y="1914720"/>
            <a:ext cx="6064320" cy="382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792960" y="793440"/>
            <a:ext cx="4060800" cy="24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0000" y="2112480"/>
            <a:ext cx="6775200" cy="402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60000" y="7156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6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9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00160" y="424560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58240" y="1742880"/>
            <a:ext cx="7475520" cy="337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360" y="1922400"/>
            <a:ext cx="6496800" cy="158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52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960000" y="5352480"/>
            <a:ext cx="10271520" cy="76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19;p26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2;p27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71520" y="719520"/>
            <a:ext cx="446304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6636960" y="719520"/>
            <a:ext cx="461088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.png"/><Relationship Id="rId3" Type="http://schemas.microsoft.com/office/2007/relationships/hdphoto" Target="../media/hdphoto3.wdp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microsoft.com/office/2007/relationships/hdphoto" Target="../media/hdphoto6.wdp"/><Relationship Id="rId5" Type="http://schemas.microsoft.com/office/2007/relationships/hdphoto" Target="../media/hdphoto4.wdp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microsoft.com/office/2007/relationships/hdphoto" Target="../media/hdphoto5.wdp"/><Relationship Id="rId1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microsoft.com/office/2007/relationships/hdphoto" Target="../media/hdphoto8.wdp"/><Relationship Id="rId5" Type="http://schemas.openxmlformats.org/officeDocument/2006/relationships/image" Target="../media/image21.png"/><Relationship Id="rId4" Type="http://schemas.microsoft.com/office/2007/relationships/hdphoto" Target="../media/hdphoto7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microsoft.com/office/2007/relationships/hdphoto" Target="../media/hdphoto1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microsoft.com/office/2007/relationships/hdphoto" Target="../media/hdphoto10.wdp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microsoft.com/office/2007/relationships/hdphoto" Target="../media/hdphoto12.wdp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0" y="655744"/>
            <a:ext cx="771480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dirty="0" err="1">
                <a:solidFill>
                  <a:schemeClr val="dk1"/>
                </a:solidFill>
                <a:latin typeface="Outfit"/>
                <a:ea typeface="Outfit"/>
              </a:rPr>
              <a:t>АэроМонитор</a:t>
            </a:r>
            <a:endParaRPr lang="fr-FR" sz="5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84040" y="2776375"/>
            <a:ext cx="4841103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r>
              <a:rPr lang="ru-RU" sz="1600" dirty="0"/>
              <a:t>Прототип интеллектуальной системы контроля качества воздуха для больших зданий</a:t>
            </a:r>
            <a:endParaRPr lang="ru-RU" sz="1600" dirty="0"/>
          </a:p>
        </p:txBody>
      </p:sp>
      <p:cxnSp>
        <p:nvCxnSpPr>
          <p:cNvPr id="64" name="Google Shape;131;p28"/>
          <p:cNvCxnSpPr/>
          <p:nvPr/>
        </p:nvCxnSpPr>
        <p:spPr>
          <a:xfrm>
            <a:off x="384040" y="3524756"/>
            <a:ext cx="4710474" cy="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10" name="image69deb088b29cd" descr="image69deb088b29d2"/>
          <p:cNvPicPr/>
          <p:nvPr/>
        </p:nvPicPr>
        <p:blipFill>
          <a:blip r:embed="rId2"/>
          <a:stretch/>
        </p:blipFill>
        <p:spPr>
          <a:xfrm>
            <a:off x="6096267" y="0"/>
            <a:ext cx="6095733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384041" y="3863818"/>
            <a:ext cx="47436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Consolas" panose="020B0609020204030204" pitchFamily="49" charset="0"/>
              </a:rPr>
              <a:t>Команда</a:t>
            </a:r>
            <a:r>
              <a:rPr lang="en-US" b="1" dirty="0" smtClean="0">
                <a:latin typeface="Consolas" panose="020B0609020204030204" pitchFamily="49" charset="0"/>
              </a:rPr>
              <a:t> 13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 smtClean="0">
                <a:latin typeface="Consolas" panose="020B0609020204030204" pitchFamily="49" charset="0"/>
              </a:rPr>
              <a:t>1. Харлов </a:t>
            </a:r>
            <a:r>
              <a:rPr lang="ru-RU" dirty="0">
                <a:latin typeface="Consolas" panose="020B0609020204030204" pitchFamily="49" charset="0"/>
              </a:rPr>
              <a:t>Максим @maksimkharlovv</a:t>
            </a:r>
          </a:p>
          <a:p>
            <a:r>
              <a:rPr lang="ru-RU" dirty="0">
                <a:latin typeface="Consolas" panose="020B0609020204030204" pitchFamily="49" charset="0"/>
              </a:rPr>
              <a:t>2</a:t>
            </a:r>
            <a:r>
              <a:rPr lang="ru-RU" dirty="0" smtClean="0">
                <a:latin typeface="Consolas" panose="020B0609020204030204" pitchFamily="49" charset="0"/>
              </a:rPr>
              <a:t>. </a:t>
            </a:r>
            <a:r>
              <a:rPr lang="ru-RU" dirty="0" err="1">
                <a:latin typeface="Consolas" panose="020B0609020204030204" pitchFamily="49" charset="0"/>
              </a:rPr>
              <a:t>Лещишин</a:t>
            </a:r>
            <a:r>
              <a:rPr lang="ru-RU" dirty="0"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dirty="0">
                <a:latin typeface="Consolas" panose="020B0609020204030204" pitchFamily="49" charset="0"/>
              </a:rPr>
              <a:t>3</a:t>
            </a:r>
            <a:r>
              <a:rPr lang="ru-RU" dirty="0" smtClean="0">
                <a:latin typeface="Consolas" panose="020B0609020204030204" pitchFamily="49" charset="0"/>
              </a:rPr>
              <a:t>. </a:t>
            </a:r>
            <a:r>
              <a:rPr lang="ru-RU" dirty="0">
                <a:latin typeface="Consolas" panose="020B0609020204030204" pitchFamily="49" charset="0"/>
              </a:rPr>
              <a:t>Неустроев Илья @NeustroevIL</a:t>
            </a:r>
          </a:p>
          <a:p>
            <a:r>
              <a:rPr lang="ru-RU" dirty="0">
                <a:latin typeface="Consolas" panose="020B0609020204030204" pitchFamily="49" charset="0"/>
              </a:rPr>
              <a:t>4</a:t>
            </a:r>
            <a:r>
              <a:rPr lang="ru-RU" dirty="0" smtClean="0">
                <a:latin typeface="Consolas" panose="020B0609020204030204" pitchFamily="49" charset="0"/>
              </a:rPr>
              <a:t>. </a:t>
            </a:r>
            <a:r>
              <a:rPr lang="ru-RU" dirty="0" err="1">
                <a:latin typeface="Consolas" panose="020B0609020204030204" pitchFamily="49" charset="0"/>
              </a:rPr>
              <a:t>Cавельев</a:t>
            </a:r>
            <a:r>
              <a:rPr lang="ru-RU" dirty="0">
                <a:latin typeface="Consolas" panose="020B0609020204030204" pitchFamily="49" charset="0"/>
              </a:rPr>
              <a:t> Денис @</a:t>
            </a:r>
            <a:r>
              <a:rPr lang="ru-RU" dirty="0" smtClean="0">
                <a:latin typeface="Consolas" panose="020B0609020204030204" pitchFamily="49" charset="0"/>
              </a:rPr>
              <a:t>DenisSavelev2025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5. </a:t>
            </a:r>
            <a:r>
              <a:rPr lang="ru-RU" dirty="0" err="1" smtClean="0">
                <a:latin typeface="Consolas" panose="020B0609020204030204" pitchFamily="49" charset="0"/>
              </a:rPr>
              <a:t>Метиекам</a:t>
            </a:r>
            <a:r>
              <a:rPr lang="ru-RU" dirty="0" smtClean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Коаье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Мануэль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Патрисия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384040" y="5522333"/>
            <a:ext cx="4445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bg1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 txBox="1">
            <a:spLocks/>
          </p:cNvSpPr>
          <p:nvPr/>
        </p:nvSpPr>
        <p:spPr>
          <a:xfrm>
            <a:off x="361950" y="491681"/>
            <a:ext cx="8573314" cy="7418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 defTabSz="914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Outfit"/>
              </a:rPr>
              <a:t>Решение бизнес </a:t>
            </a:r>
            <a:r>
              <a:rPr lang="ru-RU" sz="3600" b="1" dirty="0" smtClean="0">
                <a:latin typeface="Outfit"/>
              </a:rPr>
              <a:t>задачи</a:t>
            </a:r>
            <a:endParaRPr lang="ru-RU" sz="3600" b="1" dirty="0">
              <a:latin typeface="Outfi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854" y="3002690"/>
            <a:ext cx="10996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Ключевой принцип:</a:t>
            </a:r>
          </a:p>
          <a:p>
            <a:pPr algn="just"/>
            <a:r>
              <a:rPr lang="ru-RU" dirty="0"/>
              <a:t>вентиляция включается только в той комнате, где реально ухудшилось качество воздуха, а не работает избыточно по всему зданию</a:t>
            </a:r>
            <a:endParaRPr lang="ru-RU" sz="16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Money growth - Free business and finance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527" y="247650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201,249 Branch With Fresh Green Leaves Royalty-Free Images, Stock Photos &amp;  Pictures | Shuttersto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78" b="100000" l="0" r="99500">
                        <a14:foregroundMark x1="32167" y1="48564" x2="32167" y2="48564"/>
                        <a14:foregroundMark x1="26667" y1="46736" x2="26667" y2="46736"/>
                        <a14:foregroundMark x1="25167" y1="46475" x2="25167" y2="46475"/>
                        <a14:foregroundMark x1="27333" y1="59269" x2="27333" y2="59269"/>
                        <a14:foregroundMark x1="35333" y1="59791" x2="35333" y2="59791"/>
                        <a14:foregroundMark x1="24500" y1="46214" x2="24500" y2="46214"/>
                        <a14:foregroundMark x1="29667" y1="41514" x2="29667" y2="41514"/>
                        <a14:foregroundMark x1="35667" y1="35509" x2="35667" y2="35509"/>
                        <a14:foregroundMark x1="57333" y1="14360" x2="57333" y2="14360"/>
                        <a14:foregroundMark x1="56500" y1="13316" x2="56500" y2="13316"/>
                        <a14:foregroundMark x1="69500" y1="7572" x2="69500" y2="7572"/>
                        <a14:foregroundMark x1="59500" y1="10705" x2="59500" y2="10705"/>
                        <a14:foregroundMark x1="59500" y1="10183" x2="59500" y2="10183"/>
                        <a14:foregroundMark x1="59500" y1="9922" x2="59500" y2="9922"/>
                        <a14:foregroundMark x1="93500" y1="31332" x2="93500" y2="313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84581" flipH="1">
            <a:off x="9443007" y="5362685"/>
            <a:ext cx="2751496" cy="175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11799277" y="6365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2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1902" y="1233487"/>
            <a:ext cx="5450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Как стало: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датчики </a:t>
            </a:r>
            <a:r>
              <a:rPr lang="ru-RU" sz="1200" dirty="0"/>
              <a:t>в </a:t>
            </a:r>
            <a:r>
              <a:rPr lang="ru-RU" sz="1200" dirty="0" smtClean="0"/>
              <a:t>комнатах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ML-модель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локальное </a:t>
            </a:r>
            <a:r>
              <a:rPr lang="ru-RU" sz="1200" dirty="0"/>
              <a:t>включение только там, где ухудшился </a:t>
            </a:r>
            <a:r>
              <a:rPr lang="ru-RU" sz="1200" dirty="0" smtClean="0"/>
              <a:t>воздух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экономия энергии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более </a:t>
            </a:r>
            <a:r>
              <a:rPr lang="ru-RU" sz="1200" dirty="0"/>
              <a:t>комфортный </a:t>
            </a:r>
            <a:r>
              <a:rPr lang="ru-RU" sz="1200" dirty="0" smtClean="0"/>
              <a:t>микроклимат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</a:t>
            </a:r>
            <a:r>
              <a:rPr lang="ru-RU" sz="1200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нижение износа оборудования</a:t>
            </a:r>
            <a:endParaRPr lang="ru-RU" sz="1100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4129" y="1233487"/>
            <a:ext cx="545060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Как было: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централизованная вентиляция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фиксированный режим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лишний воздухообмен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перерасход энергии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шум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сквозняки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 smtClean="0"/>
              <a:t>износ оборудования</a:t>
            </a:r>
            <a:endParaRPr lang="ru-RU" sz="12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6" name="Picture 2" descr="Скачать бесплатно иконки на тему «Управляющая компания» в форматах PNG и SVG"/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70" y="4613537"/>
            <a:ext cx="752752" cy="7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Администрация – Бесплатные иконки: архитектура и город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923" y="4554499"/>
            <a:ext cx="777367" cy="7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 descr="Завод завод – Бесплатные иконки: промышленность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385" y="4554499"/>
            <a:ext cx="740088" cy="74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Дата центр – Бесплатные иконки: компьютер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913" y="4554498"/>
            <a:ext cx="777368" cy="77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746124" y="5410847"/>
            <a:ext cx="1751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</a:t>
            </a:r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оммерческая недвижимость</a:t>
            </a:r>
            <a:endParaRPr lang="ru-RU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379431" y="5410847"/>
            <a:ext cx="253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Административные и бюджетные здания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4634" y="5410846"/>
            <a:ext cx="253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Промышленные предприятия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7262" y="5410846"/>
            <a:ext cx="2532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Дата-центры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3854" y="408126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latin typeface="Consolas" panose="020B0609020204030204" pitchFamily="49" charset="0"/>
              </a:rPr>
              <a:t>Целевая аудитория:</a:t>
            </a:r>
            <a:endParaRPr lang="ru-RU" b="1" i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8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 smtClean="0">
                <a:latin typeface="Outfit"/>
              </a:rPr>
              <a:t>Архитектура системы</a:t>
            </a:r>
            <a:endParaRPr lang="ru-RU" sz="3600" b="1" dirty="0">
              <a:latin typeface="Outfit"/>
            </a:endParaRPr>
          </a:p>
        </p:txBody>
      </p:sp>
      <p:pic>
        <p:nvPicPr>
          <p:cNvPr id="42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65" b="48919" l="5270" r="52838">
                        <a14:backgroundMark x1="24865" y1="22432" x2="24865" y2="22432"/>
                        <a14:backgroundMark x1="13919" y1="18108" x2="13919" y2="18108"/>
                        <a14:backgroundMark x1="15811" y1="16486" x2="15811" y2="16486"/>
                        <a14:backgroundMark x1="23243" y1="19730" x2="23243" y2="19730"/>
                        <a14:backgroundMark x1="32162" y1="32162" x2="32162" y2="32162"/>
                        <a14:backgroundMark x1="28108" y1="28649" x2="28108" y2="28649"/>
                        <a14:backgroundMark x1="27027" y1="28514" x2="27027" y2="28514"/>
                        <a14:backgroundMark x1="30811" y1="29054" x2="30811" y2="29054"/>
                        <a14:backgroundMark x1="27703" y1="26216" x2="27703" y2="2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362" t="-3518" r="46702" b="50354"/>
          <a:stretch/>
        </p:blipFill>
        <p:spPr bwMode="auto">
          <a:xfrm rot="10800000">
            <a:off x="10986487" y="-137121"/>
            <a:ext cx="1436651" cy="13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11799277" y="63656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3</a:t>
            </a:r>
            <a:endParaRPr lang="ru-RU" dirty="0">
              <a:latin typeface="Consolas" panose="020B0609020204030204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708" y="1319559"/>
            <a:ext cx="9462274" cy="51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 smtClean="0">
                <a:latin typeface="Outfit"/>
              </a:rPr>
              <a:t>Архитектура системы</a:t>
            </a:r>
            <a:endParaRPr lang="ru-RU" sz="3600" b="1" dirty="0">
              <a:latin typeface="Outfi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232040-3701-A94E-33EF-C3B98E7B1C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124" b="91042" l="32214" r="51180">
                        <a14:foregroundMark x1="37387" y1="82736" x2="37387" y2="82736"/>
                      </a14:backgroundRemoval>
                    </a14:imgEffect>
                  </a14:imgLayer>
                </a14:imgProps>
              </a:ext>
            </a:extLst>
          </a:blip>
          <a:srcRect l="32711" t="65596" r="48713" b="9358"/>
          <a:stretch/>
        </p:blipFill>
        <p:spPr>
          <a:xfrm>
            <a:off x="557091" y="3208547"/>
            <a:ext cx="1153824" cy="866775"/>
          </a:xfrm>
          <a:prstGeom prst="rect">
            <a:avLst/>
          </a:prstGeom>
        </p:spPr>
      </p:pic>
      <p:pic>
        <p:nvPicPr>
          <p:cNvPr id="4098" name="Picture 2" descr="Cells data table icon from blue set – Royalty-Free Vector | VectorStock"/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3400" y1="37685" x2="33400" y2="37685"/>
                        <a14:foregroundMark x1="50700" y1="37500" x2="50700" y2="37500"/>
                        <a14:foregroundMark x1="66600" y1="37500" x2="66600" y2="37500"/>
                        <a14:foregroundMark x1="33400" y1="50185" x2="33400" y2="50185"/>
                        <a14:foregroundMark x1="50200" y1="50093" x2="50200" y2="50093"/>
                        <a14:foregroundMark x1="66200" y1="50000" x2="66200" y2="50000"/>
                        <a14:foregroundMark x1="33400" y1="63426" x2="33400" y2="63426"/>
                        <a14:foregroundMark x1="48000" y1="63148" x2="48000" y2="63148"/>
                        <a14:foregroundMark x1="66000" y1="62963" x2="66000" y2="62963"/>
                        <a14:backgroundMark x1="38700" y1="47778" x2="38700" y2="47778"/>
                        <a14:backgroundMark x1="38200" y1="33519" x2="38200" y2="33519"/>
                        <a14:backgroundMark x1="52500" y1="34537" x2="52500" y2="34537"/>
                        <a14:backgroundMark x1="66900" y1="34722" x2="66900" y2="34722"/>
                        <a14:backgroundMark x1="68200" y1="47130" x2="68200" y2="47130"/>
                        <a14:backgroundMark x1="52500" y1="48148" x2="52500" y2="48148"/>
                        <a14:backgroundMark x1="37400" y1="61759" x2="37400" y2="61759"/>
                        <a14:backgroundMark x1="50300" y1="61481" x2="50300" y2="61481"/>
                        <a14:backgroundMark x1="65400" y1="60926" x2="65400" y2="60926"/>
                        <a14:backgroundMark x1="33100" y1="27222" x2="33100" y2="27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282" t="20375" r="22055" b="27087"/>
          <a:stretch/>
        </p:blipFill>
        <p:spPr bwMode="auto">
          <a:xfrm>
            <a:off x="6596242" y="4844991"/>
            <a:ext cx="844287" cy="8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5232040-3701-A94E-33EF-C3B98E7B1C2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658" b="84528" l="81034" r="93648"/>
                    </a14:imgEffect>
                  </a14:imgLayer>
                </a14:imgProps>
              </a:ext>
            </a:extLst>
          </a:blip>
          <a:srcRect l="81372" t="64341" r="6962" b="15126"/>
          <a:stretch/>
        </p:blipFill>
        <p:spPr>
          <a:xfrm>
            <a:off x="7142795" y="5224628"/>
            <a:ext cx="981075" cy="9620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232040-3701-A94E-33EF-C3B98E7B1C2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3330" t="29070" r="2964" b="49890"/>
          <a:stretch/>
        </p:blipFill>
        <p:spPr>
          <a:xfrm>
            <a:off x="10713086" y="2855851"/>
            <a:ext cx="1152525" cy="98583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70" b="100000" l="1307" r="98345">
                        <a14:foregroundMark x1="33275" y1="14384" x2="33275" y2="14384"/>
                        <a14:foregroundMark x1="49564" y1="13699" x2="49564" y2="13699"/>
                        <a14:foregroundMark x1="58275" y1="37215" x2="58275" y2="37215"/>
                        <a14:foregroundMark x1="71341" y1="41781" x2="71341" y2="41781"/>
                        <a14:foregroundMark x1="84321" y1="41781" x2="84321" y2="41781"/>
                        <a14:foregroundMark x1="13502" y1="36073" x2="13502" y2="36073"/>
                        <a14:foregroundMark x1="14111" y1="45434" x2="14111" y2="45434"/>
                        <a14:foregroundMark x1="15505" y1="57763" x2="15505" y2="57763"/>
                        <a14:foregroundMark x1="17422" y1="63470" x2="17422" y2="63470"/>
                        <a14:foregroundMark x1="18467" y1="23059" x2="18467" y2="230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76566" y="3208547"/>
            <a:ext cx="1622775" cy="6191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1475" y="2966008"/>
            <a:ext cx="844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ESP32</a:t>
            </a:r>
            <a:endParaRPr lang="ru-RU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46135" y="5879987"/>
            <a:ext cx="1296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SQL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</a:t>
            </a:r>
          </a:p>
        </p:txBody>
      </p:sp>
      <p:sp>
        <p:nvSpPr>
          <p:cNvPr id="23" name="Выгнутая вверх стрелка 22"/>
          <p:cNvSpPr/>
          <p:nvPr/>
        </p:nvSpPr>
        <p:spPr>
          <a:xfrm>
            <a:off x="2009248" y="2494568"/>
            <a:ext cx="2385912" cy="722567"/>
          </a:xfrm>
          <a:prstGeom prst="curvedDownArrow">
            <a:avLst>
              <a:gd name="adj1" fmla="val 60555"/>
              <a:gd name="adj2" fmla="val 107843"/>
              <a:gd name="adj3" fmla="val 6135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5" name="Picture 2" descr="Cells data table icon from blue set – Royalty-Free Vector | VectorStock"/>
          <p:cNvPicPr>
            <a:picLocks noChangeAspect="1" noChangeArrowheads="1"/>
          </p:cNvPicPr>
          <p:nvPr/>
        </p:nvPicPr>
        <p:blipFill rotWithShape="1">
          <a:blip r:embed="rId10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33400" y1="37685" x2="33400" y2="37685"/>
                        <a14:foregroundMark x1="50700" y1="37500" x2="50700" y2="37500"/>
                        <a14:foregroundMark x1="66600" y1="37500" x2="66600" y2="37500"/>
                        <a14:foregroundMark x1="33400" y1="50185" x2="33400" y2="50185"/>
                        <a14:foregroundMark x1="50200" y1="50093" x2="50200" y2="50093"/>
                        <a14:foregroundMark x1="66200" y1="50000" x2="66200" y2="50000"/>
                        <a14:foregroundMark x1="33400" y1="63426" x2="33400" y2="63426"/>
                        <a14:foregroundMark x1="48000" y1="63148" x2="48000" y2="63148"/>
                        <a14:foregroundMark x1="66000" y1="62963" x2="66000" y2="62963"/>
                        <a14:backgroundMark x1="38700" y1="47778" x2="38700" y2="47778"/>
                        <a14:backgroundMark x1="38200" y1="33519" x2="38200" y2="33519"/>
                        <a14:backgroundMark x1="52500" y1="34537" x2="52500" y2="34537"/>
                        <a14:backgroundMark x1="66900" y1="34722" x2="66900" y2="34722"/>
                        <a14:backgroundMark x1="68200" y1="47130" x2="68200" y2="47130"/>
                        <a14:backgroundMark x1="52500" y1="48148" x2="52500" y2="48148"/>
                        <a14:backgroundMark x1="37400" y1="61759" x2="37400" y2="61759"/>
                        <a14:backgroundMark x1="50300" y1="61481" x2="50300" y2="61481"/>
                        <a14:backgroundMark x1="65400" y1="60926" x2="65400" y2="60926"/>
                        <a14:backgroundMark x1="33100" y1="27222" x2="33100" y2="27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282" t="20375" r="22055" b="27087"/>
          <a:stretch/>
        </p:blipFill>
        <p:spPr bwMode="auto">
          <a:xfrm>
            <a:off x="2040124" y="1741131"/>
            <a:ext cx="466291" cy="47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506415" y="1524516"/>
            <a:ext cx="221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JSON-</a:t>
            </a:r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пакеты (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room_id</a:t>
            </a:r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date_time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показания)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Стрелка вправо 23"/>
          <p:cNvSpPr/>
          <p:nvPr/>
        </p:nvSpPr>
        <p:spPr>
          <a:xfrm rot="13528026" flipV="1">
            <a:off x="4844265" y="4404028"/>
            <a:ext cx="1415880" cy="200936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право 27"/>
          <p:cNvSpPr/>
          <p:nvPr/>
        </p:nvSpPr>
        <p:spPr>
          <a:xfrm rot="2651391" flipV="1">
            <a:off x="5138196" y="4275427"/>
            <a:ext cx="1415880" cy="200936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право 28"/>
          <p:cNvSpPr/>
          <p:nvPr/>
        </p:nvSpPr>
        <p:spPr>
          <a:xfrm flipV="1">
            <a:off x="6016448" y="3304562"/>
            <a:ext cx="1182638" cy="261344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199086" y="3145807"/>
            <a:ext cx="221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Предварительная обработка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Стрелка вправо 30"/>
          <p:cNvSpPr/>
          <p:nvPr/>
        </p:nvSpPr>
        <p:spPr>
          <a:xfrm flipV="1">
            <a:off x="9372349" y="3304562"/>
            <a:ext cx="1182638" cy="261344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10094296" y="3906045"/>
            <a:ext cx="2214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Прогноз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</a:t>
            </a:r>
            <a:r>
              <a:rPr lang="ru-RU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-модели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Выгнутая вверх стрелка 32"/>
          <p:cNvSpPr/>
          <p:nvPr/>
        </p:nvSpPr>
        <p:spPr>
          <a:xfrm rot="9175752">
            <a:off x="8414368" y="5174557"/>
            <a:ext cx="3359855" cy="905440"/>
          </a:xfrm>
          <a:prstGeom prst="curvedDownArrow">
            <a:avLst>
              <a:gd name="adj1" fmla="val 31966"/>
              <a:gd name="adj2" fmla="val 55742"/>
              <a:gd name="adj3" fmla="val 6259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Выгнутая вниз стрелка 26"/>
          <p:cNvSpPr/>
          <p:nvPr/>
        </p:nvSpPr>
        <p:spPr>
          <a:xfrm rot="10800000">
            <a:off x="5478970" y="1929462"/>
            <a:ext cx="5826823" cy="853736"/>
          </a:xfrm>
          <a:prstGeom prst="curvedUpArrow">
            <a:avLst>
              <a:gd name="adj1" fmla="val 28347"/>
              <a:gd name="adj2" fmla="val 53427"/>
              <a:gd name="adj3" fmla="val 4030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4104" name="Picture 8" descr="Client - Free marketing icon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193" y="4674743"/>
            <a:ext cx="1201145" cy="120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Стрелка вправо 37"/>
          <p:cNvSpPr/>
          <p:nvPr/>
        </p:nvSpPr>
        <p:spPr>
          <a:xfrm rot="8406917" flipV="1">
            <a:off x="3234176" y="4371561"/>
            <a:ext cx="1276892" cy="272539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 вправо 39"/>
          <p:cNvSpPr/>
          <p:nvPr/>
        </p:nvSpPr>
        <p:spPr>
          <a:xfrm rot="13674618" flipV="1">
            <a:off x="1164280" y="4362815"/>
            <a:ext cx="1276892" cy="272539"/>
          </a:xfrm>
          <a:prstGeom prst="rightArrow">
            <a:avLst>
              <a:gd name="adj1" fmla="val 50000"/>
              <a:gd name="adj2" fmla="val 29173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2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4865" b="48919" l="5270" r="52838">
                        <a14:backgroundMark x1="24865" y1="22432" x2="24865" y2="22432"/>
                        <a14:backgroundMark x1="13919" y1="18108" x2="13919" y2="18108"/>
                        <a14:backgroundMark x1="15811" y1="16486" x2="15811" y2="16486"/>
                        <a14:backgroundMark x1="23243" y1="19730" x2="23243" y2="19730"/>
                        <a14:backgroundMark x1="32162" y1="32162" x2="32162" y2="32162"/>
                        <a14:backgroundMark x1="28108" y1="28649" x2="28108" y2="28649"/>
                        <a14:backgroundMark x1="27027" y1="28514" x2="27027" y2="28514"/>
                        <a14:backgroundMark x1="30811" y1="29054" x2="30811" y2="29054"/>
                        <a14:backgroundMark x1="27703" y1="26216" x2="27703" y2="2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362" t="-3518" r="46702" b="50354"/>
          <a:stretch/>
        </p:blipFill>
        <p:spPr bwMode="auto">
          <a:xfrm rot="10800000">
            <a:off x="10986487" y="-137121"/>
            <a:ext cx="1436651" cy="13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11799277" y="63656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3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50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 smtClean="0">
                <a:latin typeface="Outfit"/>
              </a:rPr>
              <a:t>Описание данных и используемых признаков</a:t>
            </a:r>
            <a:endParaRPr lang="ru-RU" sz="3600" b="1" dirty="0">
              <a:latin typeface="Outfi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1739" y="1498658"/>
            <a:ext cx="26445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Обучение модели</a:t>
            </a:r>
          </a:p>
          <a:p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&gt;air_quality_ml.py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Чтение 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CSV</a:t>
            </a:r>
          </a:p>
          <a:p>
            <a:pPr algn="ctr"/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AutoML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подбор через </a:t>
            </a:r>
            <a:r>
              <a:rPr lang="en-US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andomizedSearchCV</a:t>
            </a:r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охраняет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модель в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artifacts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endParaRPr lang="ru-RU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ишет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отчёт в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reports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endParaRPr lang="ru-RU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Пишет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метаданные и эксперименты в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monitoring/</a:t>
            </a:r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46766" y="1498658"/>
            <a:ext cx="2813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Работа </a:t>
            </a:r>
            <a:r>
              <a:rPr lang="en-US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Flask</a:t>
            </a:r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-сервера</a:t>
            </a:r>
          </a:p>
          <a:p>
            <a:pPr algn="just"/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&gt;Predict</a:t>
            </a:r>
            <a:endParaRPr lang="ru-RU" b="1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Д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елает предсказание</a:t>
            </a:r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Пишет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строку в </a:t>
            </a:r>
            <a:r>
              <a:rPr lang="ru-RU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monitoring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predictions.jsonl</a:t>
            </a:r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Возвращает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JSON с </a:t>
            </a:r>
            <a:r>
              <a:rPr lang="ru-RU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iaq_class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, вероятностями и рекомендацией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3372" y="1505582"/>
            <a:ext cx="33550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Мониторинг дрейфа</a:t>
            </a:r>
          </a:p>
          <a:p>
            <a:pPr algn="just"/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monitoring/drift </a:t>
            </a:r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ru-RU" b="1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Сервер сравнивает 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два 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CSV</a:t>
            </a:r>
            <a:endParaRPr lang="ru-RU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строит список признаков с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PSI-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подобной 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оценкой</a:t>
            </a:r>
          </a:p>
          <a:p>
            <a:pPr algn="ctr"/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сохраняет отчёт в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monitoring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</a:p>
          <a:p>
            <a:pPr algn="ctr"/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drift_YYYYMMDD_HHMMSS.csv</a:t>
            </a:r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21771" y="1505582"/>
            <a:ext cx="28702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 обучения</a:t>
            </a:r>
            <a:endParaRPr lang="en-US" b="1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ru-RU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Отчёты обучения:</a:t>
            </a:r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в папке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reports/: train_report_*.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txt</a:t>
            </a:r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train_report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_*.</a:t>
            </a:r>
            <a:r>
              <a:rPr lang="en-US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json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classification_report</a:t>
            </a:r>
            <a:endParaRPr lang="en-US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dirty="0" smtClean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ru-RU" b="1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Логи</a:t>
            </a:r>
            <a:r>
              <a:rPr lang="ru-RU" b="1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экспериментов: 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monitoring/</a:t>
            </a:r>
          </a:p>
          <a:p>
            <a:pPr algn="just"/>
            <a:r>
              <a:rPr lang="en-US" dirty="0" err="1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experiments.jsonl</a:t>
            </a:r>
            <a:r>
              <a:rPr lang="en-US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— </a:t>
            </a:r>
            <a:endParaRPr lang="ru-RU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1464013" y="2933700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464013" y="3757772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>
            <a:off x="1461176" y="4641860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>
            <a:off x="1461176" y="5468976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4232613" y="2933700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>
            <a:off x="4236126" y="4037814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/>
          <p:nvPr/>
        </p:nvCxnSpPr>
        <p:spPr>
          <a:xfrm>
            <a:off x="7572713" y="2933700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>
            <a:off x="7572713" y="3757772"/>
            <a:ext cx="0" cy="2800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43" b="54324" l="47838" r="94324">
                        <a14:foregroundMark x1="57973" y1="13919" x2="57973" y2="13919"/>
                        <a14:foregroundMark x1="59189" y1="14865" x2="59189" y2="14865"/>
                        <a14:foregroundMark x1="60270" y1="13919" x2="60270" y2="13919"/>
                        <a14:foregroundMark x1="56622" y1="14865" x2="56622" y2="14865"/>
                        <a14:foregroundMark x1="75270" y1="33108" x2="75270" y2="33108"/>
                        <a14:foregroundMark x1="75000" y1="31757" x2="75000" y2="31757"/>
                        <a14:foregroundMark x1="72432" y1="32432" x2="72432" y2="32432"/>
                        <a14:foregroundMark x1="70676" y1="34595" x2="70676" y2="34595"/>
                        <a14:foregroundMark x1="69595" y1="20946" x2="69595" y2="20946"/>
                        <a14:foregroundMark x1="69459" y1="22703" x2="69459" y2="22703"/>
                        <a14:foregroundMark x1="82703" y1="42027" x2="82703" y2="42027"/>
                        <a14:backgroundMark x1="61216" y1="13243" x2="61216" y2="13243"/>
                        <a14:backgroundMark x1="55541" y1="11081" x2="55541" y2="11081"/>
                        <a14:backgroundMark x1="56622" y1="14054" x2="56622" y2="14054"/>
                        <a14:backgroundMark x1="57432" y1="12838" x2="57432" y2="12838"/>
                        <a14:backgroundMark x1="60946" y1="15541" x2="60946" y2="15541"/>
                        <a14:backgroundMark x1="63784" y1="15000" x2="63784" y2="15000"/>
                        <a14:backgroundMark x1="79865" y1="31892" x2="79865" y2="31892"/>
                        <a14:backgroundMark x1="81351" y1="31622" x2="81351" y2="31622"/>
                        <a14:backgroundMark x1="75135" y1="39595" x2="75135" y2="39595"/>
                        <a14:backgroundMark x1="57162" y1="15135" x2="57162" y2="15135"/>
                        <a14:backgroundMark x1="57973" y1="13378" x2="57973" y2="13378"/>
                        <a14:backgroundMark x1="60405" y1="9189" x2="60405" y2="9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566" b="43974"/>
          <a:stretch/>
        </p:blipFill>
        <p:spPr bwMode="auto">
          <a:xfrm rot="16976911">
            <a:off x="5123582" y="4928928"/>
            <a:ext cx="2290107" cy="235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11799277" y="6365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4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9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/>
          <p:cNvSpPr/>
          <p:nvPr/>
        </p:nvSpPr>
        <p:spPr>
          <a:xfrm>
            <a:off x="371475" y="583876"/>
            <a:ext cx="8612868" cy="65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600" b="1" dirty="0" smtClean="0">
                <a:latin typeface="Outfit"/>
              </a:rPr>
              <a:t>ML</a:t>
            </a:r>
            <a:r>
              <a:rPr lang="ru-RU" sz="3600" b="1" dirty="0">
                <a:latin typeface="Outfit"/>
              </a:rPr>
              <a:t> </a:t>
            </a:r>
            <a:r>
              <a:rPr lang="ru-RU" sz="3600" b="1" dirty="0" smtClean="0">
                <a:latin typeface="Outfit"/>
              </a:rPr>
              <a:t>архитектура проекта</a:t>
            </a:r>
            <a:endParaRPr lang="en-US" sz="3200" b="1" dirty="0">
              <a:solidFill>
                <a:srgbClr val="000000"/>
              </a:solidFill>
              <a:latin typeface="Outfi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1475" y="1285650"/>
            <a:ext cx="89553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Модель: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RandomForestClassifier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sklearn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)</a:t>
            </a:r>
          </a:p>
          <a:p>
            <a:endParaRPr lang="ru-RU" dirty="0" smtClean="0">
              <a:solidFill>
                <a:srgbClr val="1F2328"/>
              </a:solidFill>
              <a:latin typeface="Mona Sans VF"/>
            </a:endParaRPr>
          </a:p>
          <a:p>
            <a:r>
              <a:rPr lang="ru-RU" b="1" dirty="0" err="1" smtClean="0">
                <a:solidFill>
                  <a:srgbClr val="1F2328"/>
                </a:solidFill>
                <a:latin typeface="Consolas" panose="020B0609020204030204" pitchFamily="49" charset="0"/>
              </a:rPr>
              <a:t>Гиперпараметры</a:t>
            </a:r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: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n_estimators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=200 — 200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деревьев;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max_depth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=15 —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ограничение глубины;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random_state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=42 —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воспроизводимость;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class_weight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='balanced' —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учёт дисбаланса классов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1030" name="Picture 6" descr="Random Forest Icons - Free SVG &amp; PNG Random Forest Images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699" y="173945"/>
            <a:ext cx="973591" cy="97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71475" y="331697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Вход: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16 признаков (см.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feature_columns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).</a:t>
            </a:r>
          </a:p>
          <a:p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Выход: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 класс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iaq_class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(0–5):</a:t>
            </a:r>
            <a:b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· 0: «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Отлично»;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1: «Хорошо»;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2: «Удовлетворительно»;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3: «Плохо»;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4: «Очень плохо»;</a:t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5: «АВАРИЯ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!».</a:t>
            </a:r>
            <a:endParaRPr lang="en-US" dirty="0" smtClean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Оценка: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classification_report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точность, полнота,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F1).</a:t>
            </a:r>
          </a:p>
          <a:p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Сохранение: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joblib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модель + 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скалер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).</a:t>
            </a:r>
            <a:endParaRPr lang="ru-RU" dirty="0">
              <a:solidFill>
                <a:srgbClr val="1F2328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7213601" y="1239483"/>
            <a:ext cx="486103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1F2328"/>
                </a:solidFill>
                <a:latin typeface="Consolas" panose="020B0609020204030204" pitchFamily="49" charset="0"/>
              </a:rPr>
              <a:t>Особенности</a:t>
            </a:r>
            <a:r>
              <a:rPr lang="ru-RU" b="1" dirty="0">
                <a:solidFill>
                  <a:srgbClr val="1F2328"/>
                </a:solidFill>
                <a:latin typeface="Consolas" panose="020B0609020204030204" pitchFamily="49" charset="0"/>
              </a:rPr>
              <a:t>: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обработка пропусков (-1 → среднее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);</a:t>
            </a:r>
            <a:endParaRPr lang="en-US" dirty="0" smtClean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algn="just"/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инкрементальное обучение (/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retrain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из БД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);</a:t>
            </a:r>
            <a:endParaRPr lang="en-US" dirty="0" smtClean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algn="just"/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вероятностный вывод (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predict_proba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для интерпретации</a:t>
            </a:r>
            <a:r>
              <a:rPr lang="ru-RU" dirty="0" smtClean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  <a:endParaRPr lang="en-US" dirty="0" smtClean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algn="just"/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· быстрый режим подбора: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RandomizedSearchCV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с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n_iter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=3–5, cv=2,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ограниченное пространство 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гиперпараметров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 smtClean="0">
                <a:solidFill>
                  <a:srgbClr val="1F2328"/>
                </a:solidFill>
                <a:latin typeface="Consolas" panose="020B0609020204030204" pitchFamily="49" charset="0"/>
              </a:rPr>
              <a:t>n_estimators</a:t>
            </a:r>
            <a:r>
              <a:rPr lang="en-US" dirty="0" smtClean="0">
                <a:solidFill>
                  <a:srgbClr val="1F2328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max_depth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, </a:t>
            </a:r>
            <a:r>
              <a:rPr lang="en-US" dirty="0" err="1" smtClean="0">
                <a:solidFill>
                  <a:srgbClr val="1F2328"/>
                </a:solidFill>
                <a:latin typeface="Consolas" panose="020B0609020204030204" pitchFamily="49" charset="0"/>
              </a:rPr>
              <a:t>min_samples_split</a:t>
            </a:r>
            <a:r>
              <a:rPr lang="en-US" dirty="0" smtClean="0">
                <a:solidFill>
                  <a:srgbClr val="1F2328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min_samples_leaf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),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n_jobs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=1</a:t>
            </a:r>
            <a:r>
              <a:rPr lang="en-US" dirty="0" smtClean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</a:p>
          <a:p>
            <a:pPr algn="just"/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·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режим </a:t>
            </a:r>
            <a:r>
              <a:rPr lang="ru-RU" dirty="0" err="1">
                <a:solidFill>
                  <a:srgbClr val="1F2328"/>
                </a:solidFill>
                <a:latin typeface="Consolas" panose="020B0609020204030204" pitchFamily="49" charset="0"/>
              </a:rPr>
              <a:t>продакшн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online —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только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predict()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в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Flask; offline —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полное </a:t>
            </a:r>
            <a:r>
              <a:rPr lang="en-US" dirty="0" err="1">
                <a:solidFill>
                  <a:srgbClr val="1F2328"/>
                </a:solidFill>
                <a:latin typeface="Consolas" panose="020B0609020204030204" pitchFamily="49" charset="0"/>
              </a:rPr>
              <a:t>AutoML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1F2328"/>
                </a:solidFill>
                <a:latin typeface="Consolas" panose="020B0609020204030204" pitchFamily="49" charset="0"/>
              </a:rPr>
              <a:t>по расписанию;</a:t>
            </a:r>
          </a:p>
        </p:txBody>
      </p:sp>
      <p:pic>
        <p:nvPicPr>
          <p:cNvPr id="1032" name="Picture 8" descr="Laf PNG Transparent Images Free Download | Vector Files | Pngtree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778" r="99111">
                        <a14:foregroundMark x1="27556" y1="42222" x2="27556" y2="42222"/>
                        <a14:foregroundMark x1="37778" y1="25778" x2="37778" y2="25778"/>
                        <a14:foregroundMark x1="47556" y1="25333" x2="47556" y2="25333"/>
                        <a14:foregroundMark x1="35556" y1="52889" x2="35556" y2="52889"/>
                        <a14:foregroundMark x1="40000" y1="74222" x2="40000" y2="74222"/>
                        <a14:foregroundMark x1="23111" y1="71556" x2="23111" y2="71556"/>
                        <a14:foregroundMark x1="24444" y1="68000" x2="24444" y2="68000"/>
                        <a14:foregroundMark x1="27556" y1="72889" x2="27556" y2="72889"/>
                        <a14:foregroundMark x1="61778" y1="85778" x2="61778" y2="85778"/>
                        <a14:foregroundMark x1="57333" y1="80889" x2="57333" y2="80889"/>
                        <a14:foregroundMark x1="71111" y1="58667" x2="71111" y2="58667"/>
                        <a14:foregroundMark x1="79556" y1="50222" x2="79556" y2="50222"/>
                        <a14:foregroundMark x1="68889" y1="41333" x2="68889" y2="41333"/>
                        <a14:foregroundMark x1="54222" y1="44444" x2="54222" y2="44444"/>
                        <a14:foregroundMark x1="50667" y1="44000" x2="50667" y2="44000"/>
                        <a14:foregroundMark x1="53333" y1="47111" x2="53333" y2="47111"/>
                        <a14:foregroundMark x1="60444" y1="66222" x2="60444" y2="66222"/>
                        <a14:foregroundMark x1="62667" y1="28000" x2="62667" y2="28000"/>
                        <a14:foregroundMark x1="51111" y1="20000" x2="51111" y2="20000"/>
                        <a14:foregroundMark x1="24444" y1="29333" x2="24444" y2="29333"/>
                        <a14:foregroundMark x1="52444" y1="55111" x2="52444" y2="55111"/>
                        <a14:foregroundMark x1="40000" y1="43556" x2="40000" y2="43556"/>
                        <a14:foregroundMark x1="61333" y1="36889" x2="61333" y2="36889"/>
                        <a14:backgroundMark x1="44000" y1="67556" x2="44000" y2="67556"/>
                        <a14:backgroundMark x1="28444" y1="48444" x2="28444" y2="48444"/>
                        <a14:backgroundMark x1="42222" y1="43111" x2="42222" y2="43111"/>
                        <a14:backgroundMark x1="51556" y1="52889" x2="51556" y2="52889"/>
                        <a14:backgroundMark x1="63556" y1="44000" x2="63556" y2="44000"/>
                        <a14:backgroundMark x1="68444" y1="31111" x2="68444" y2="31111"/>
                        <a14:backgroundMark x1="52444" y1="40444" x2="52444" y2="40444"/>
                        <a14:backgroundMark x1="66667" y1="55556" x2="66667" y2="55556"/>
                        <a14:backgroundMark x1="36889" y1="63111" x2="36889" y2="63111"/>
                        <a14:backgroundMark x1="34667" y1="62667" x2="34667" y2="62667"/>
                        <a14:backgroundMark x1="31111" y1="66222" x2="31111" y2="66222"/>
                        <a14:backgroundMark x1="47556" y1="54222" x2="47556" y2="54222"/>
                        <a14:backgroundMark x1="52889" y1="63111" x2="52889" y2="63111"/>
                        <a14:backgroundMark x1="41333" y1="29333" x2="41333" y2="29333"/>
                        <a14:backgroundMark x1="54667" y1="21778" x2="54667" y2="21778"/>
                        <a14:backgroundMark x1="32889" y1="27556" x2="32889" y2="27556"/>
                        <a14:backgroundMark x1="32444" y1="32444" x2="32444" y2="32444"/>
                        <a14:backgroundMark x1="35111" y1="36444" x2="35111" y2="36444"/>
                        <a14:backgroundMark x1="46222" y1="36889" x2="46222" y2="36889"/>
                        <a14:backgroundMark x1="52000" y1="27556" x2="52000" y2="27556"/>
                        <a14:backgroundMark x1="49333" y1="30667" x2="49333" y2="30667"/>
                        <a14:backgroundMark x1="44000" y1="60000" x2="44000" y2="60000"/>
                        <a14:backgroundMark x1="59556" y1="55111" x2="59556" y2="55111"/>
                        <a14:backgroundMark x1="65333" y1="37778" x2="65333" y2="3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541" y="5855400"/>
            <a:ext cx="1801884" cy="180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ành Lá Xanh Tươi - Minh Họa Vector Cao Cấp (EPS)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15625" y1="16444" x2="15625" y2="16444"/>
                        <a14:foregroundMark x1="23214" y1="23556" x2="23214" y2="23556"/>
                        <a14:foregroundMark x1="33036" y1="32444" x2="33036" y2="32444"/>
                        <a14:foregroundMark x1="55804" y1="33333" x2="55804" y2="33333"/>
                        <a14:foregroundMark x1="67857" y1="26222" x2="67857" y2="26222"/>
                        <a14:foregroundMark x1="85714" y1="19111" x2="85714" y2="19111"/>
                        <a14:foregroundMark x1="85714" y1="28000" x2="85714" y2="28000"/>
                        <a14:foregroundMark x1="74554" y1="38222" x2="74554" y2="38222"/>
                        <a14:foregroundMark x1="73214" y1="50667" x2="73214" y2="50667"/>
                        <a14:foregroundMark x1="71429" y1="65778" x2="71429" y2="65778"/>
                        <a14:foregroundMark x1="59821" y1="77778" x2="59821" y2="77778"/>
                        <a14:foregroundMark x1="10268" y1="52000" x2="10268" y2="52000"/>
                        <a14:foregroundMark x1="7143" y1="61778" x2="7143" y2="61778"/>
                        <a14:foregroundMark x1="9821" y1="85333" x2="9821" y2="85333"/>
                        <a14:foregroundMark x1="33036" y1="92000" x2="33036" y2="92000"/>
                        <a14:foregroundMark x1="37054" y1="69778" x2="37054" y2="69778"/>
                        <a14:foregroundMark x1="21429" y1="79556" x2="21429" y2="79556"/>
                        <a14:foregroundMark x1="20089" y1="67556" x2="20089" y2="67556"/>
                        <a14:foregroundMark x1="17857" y1="53778" x2="17857" y2="53778"/>
                        <a14:foregroundMark x1="35714" y1="56000" x2="35714" y2="56000"/>
                        <a14:foregroundMark x1="22768" y1="52444" x2="22768" y2="52444"/>
                        <a14:foregroundMark x1="15179" y1="38222" x2="15179" y2="38222"/>
                        <a14:foregroundMark x1="6250" y1="26222" x2="6250" y2="26222"/>
                        <a14:foregroundMark x1="45536" y1="47111" x2="45536" y2="47111"/>
                        <a14:foregroundMark x1="59375" y1="62667" x2="59375" y2="62667"/>
                        <a14:foregroundMark x1="61161" y1="49333" x2="61161" y2="49333"/>
                        <a14:foregroundMark x1="66071" y1="28444" x2="66071" y2="28444"/>
                        <a14:foregroundMark x1="20982" y1="54667" x2="20982" y2="54667"/>
                        <a14:foregroundMark x1="37054" y1="72000" x2="37054" y2="72000"/>
                        <a14:foregroundMark x1="34821" y1="76889" x2="34821" y2="76889"/>
                        <a14:foregroundMark x1="50893" y1="84444" x2="50893" y2="84444"/>
                        <a14:foregroundMark x1="83036" y1="20444" x2="83036" y2="2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83830">
            <a:off x="-146735" y="280357"/>
            <a:ext cx="832578" cy="83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af Vector png images | PNGEgg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80747" y1="51962" x2="80747" y2="51962"/>
                        <a14:foregroundMark x1="24138" y1="79592" x2="24138" y2="79592"/>
                        <a14:foregroundMark x1="39655" y1="85557" x2="39655" y2="85557"/>
                        <a14:foregroundMark x1="75287" y1="72214" x2="75287" y2="72214"/>
                        <a14:foregroundMark x1="62356" y1="78336" x2="62356" y2="78336"/>
                        <a14:foregroundMark x1="54023" y1="67190" x2="54023" y2="67190"/>
                        <a14:foregroundMark x1="71552" y1="56672" x2="71552" y2="56672"/>
                        <a14:foregroundMark x1="88793" y1="42072" x2="88793" y2="42072"/>
                        <a14:foregroundMark x1="87644" y1="33909" x2="87644" y2="33909"/>
                        <a14:foregroundMark x1="79598" y1="23705" x2="79598" y2="23705"/>
                        <a14:foregroundMark x1="71264" y1="24647" x2="71264" y2="24647"/>
                        <a14:foregroundMark x1="85920" y1="27159" x2="85920" y2="27159"/>
                        <a14:foregroundMark x1="95690" y1="37363" x2="95690" y2="37363"/>
                        <a14:foregroundMark x1="96839" y1="43799" x2="96839" y2="43799"/>
                        <a14:foregroundMark x1="82759" y1="42229" x2="82759" y2="42229"/>
                        <a14:foregroundMark x1="83621" y1="39089" x2="83621" y2="39089"/>
                        <a14:foregroundMark x1="84770" y1="45840" x2="84770" y2="45840"/>
                        <a14:foregroundMark x1="88218" y1="45997" x2="88218" y2="45997"/>
                        <a14:foregroundMark x1="90517" y1="46311" x2="90517" y2="46311"/>
                        <a14:foregroundMark x1="87931" y1="48038" x2="87931" y2="48038"/>
                        <a14:foregroundMark x1="80747" y1="29513" x2="80747" y2="29513"/>
                        <a14:foregroundMark x1="75287" y1="26217" x2="75287" y2="26217"/>
                        <a14:foregroundMark x1="74425" y1="23862" x2="74425" y2="23862"/>
                        <a14:foregroundMark x1="71839" y1="21821" x2="71839" y2="21821"/>
                        <a14:foregroundMark x1="71264" y1="20251" x2="71264" y2="20251"/>
                        <a14:foregroundMark x1="69253" y1="20722" x2="69253" y2="20722"/>
                        <a14:foregroundMark x1="72701" y1="8320" x2="72701" y2="8320"/>
                        <a14:foregroundMark x1="77874" y1="14129" x2="77874" y2="14129"/>
                        <a14:foregroundMark x1="82184" y1="8163" x2="82184" y2="8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580" y="1576344"/>
            <a:ext cx="2029206" cy="371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11799277" y="6365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5</a:t>
            </a:r>
            <a:endParaRPr 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8468539" cy="671957"/>
          </a:xfrm>
        </p:spPr>
        <p:txBody>
          <a:bodyPr/>
          <a:lstStyle/>
          <a:p>
            <a:r>
              <a:rPr lang="ru-RU" sz="3600" b="1" dirty="0" smtClean="0">
                <a:latin typeface="Outfit"/>
              </a:rPr>
              <a:t>Результаты тестирования модели</a:t>
            </a:r>
            <a:endParaRPr lang="ru-RU" sz="3600" b="1" dirty="0">
              <a:latin typeface="Outfit"/>
            </a:endParaRPr>
          </a:p>
        </p:txBody>
      </p:sp>
      <p:pic>
        <p:nvPicPr>
          <p:cNvPr id="5122" name="Picture 2" descr="Метрики по класса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9" y="1318704"/>
            <a:ext cx="6016937" cy="357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Метрики precision и recal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58" y="1318703"/>
            <a:ext cx="5783942" cy="357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Fashion Leaf Leaves Vector Green Fresh Clipart - Green Leaf Vector Png,  Transparent Png - kind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11600" y1="62857" x2="11600" y2="62857"/>
                        <a14:backgroundMark x1="53400" y1="32500" x2="53400" y2="32500"/>
                        <a14:backgroundMark x1="59400" y1="38571" x2="59400" y2="38571"/>
                        <a14:backgroundMark x1="63200" y1="28571" x2="63200" y2="28571"/>
                        <a14:backgroundMark x1="54200" y1="28571" x2="54200" y2="28571"/>
                        <a14:backgroundMark x1="71000" y1="30714" x2="71000" y2="30714"/>
                        <a14:backgroundMark x1="74800" y1="38214" x2="74800" y2="38214"/>
                        <a14:backgroundMark x1="77000" y1="36786" x2="77000" y2="36786"/>
                        <a14:backgroundMark x1="78800" y1="35000" x2="78800" y2="35000"/>
                        <a14:backgroundMark x1="79400" y1="31786" x2="79400" y2="31786"/>
                        <a14:backgroundMark x1="85600" y1="31786" x2="85600" y2="31786"/>
                        <a14:backgroundMark x1="30800" y1="47857" x2="30800" y2="47857"/>
                        <a14:backgroundMark x1="29000" y1="46429" x2="29000" y2="46429"/>
                        <a14:backgroundMark x1="17800" y1="37857" x2="17800" y2="37857"/>
                        <a14:backgroundMark x1="18800" y1="38571" x2="18800" y2="38571"/>
                        <a14:backgroundMark x1="41200" y1="33571" x2="41200" y2="33571"/>
                        <a14:backgroundMark x1="46800" y1="33929" x2="46800" y2="33929"/>
                        <a14:backgroundMark x1="40400" y1="36071" x2="40400" y2="36071"/>
                        <a14:backgroundMark x1="62200" y1="31071" x2="62200" y2="31071"/>
                        <a14:backgroundMark x1="73000" y1="53571" x2="73000" y2="53571"/>
                        <a14:backgroundMark x1="63200" y1="23929" x2="63200" y2="239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15788">
            <a:off x="-334123" y="5166563"/>
            <a:ext cx="3209925" cy="179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389" b="92778" l="1757" r="96757">
                        <a14:foregroundMark x1="41081" y1="32778" x2="41081" y2="32778"/>
                        <a14:foregroundMark x1="19054" y1="28611" x2="19054" y2="28611"/>
                        <a14:foregroundMark x1="26757" y1="36389" x2="26757" y2="36389"/>
                        <a14:foregroundMark x1="15946" y1="45833" x2="15946" y2="45833"/>
                        <a14:foregroundMark x1="12568" y1="73889" x2="12568" y2="73889"/>
                        <a14:foregroundMark x1="9459" y1="64167" x2="9459" y2="64167"/>
                        <a14:foregroundMark x1="7297" y1="52778" x2="7297" y2="52778"/>
                        <a14:foregroundMark x1="5946" y1="63611" x2="5946" y2="63611"/>
                        <a14:foregroundMark x1="4189" y1="81667" x2="4189" y2="81667"/>
                        <a14:foregroundMark x1="8108" y1="84167" x2="8108" y2="84167"/>
                        <a14:foregroundMark x1="16351" y1="59167" x2="16351" y2="59167"/>
                        <a14:foregroundMark x1="31216" y1="53056" x2="31216" y2="53056"/>
                        <a14:foregroundMark x1="35135" y1="39167" x2="35135" y2="39167"/>
                        <a14:foregroundMark x1="40270" y1="51944" x2="40270" y2="51944"/>
                        <a14:foregroundMark x1="40541" y1="63333" x2="40541" y2="63333"/>
                        <a14:foregroundMark x1="53649" y1="61667" x2="53649" y2="61667"/>
                        <a14:foregroundMark x1="58784" y1="53889" x2="58784" y2="53889"/>
                        <a14:foregroundMark x1="68108" y1="43333" x2="68108" y2="43333"/>
                        <a14:foregroundMark x1="86757" y1="55556" x2="86757" y2="55556"/>
                        <a14:foregroundMark x1="85135" y1="25278" x2="85135" y2="25278"/>
                        <a14:foregroundMark x1="91351" y1="36944" x2="91351" y2="36944"/>
                        <a14:foregroundMark x1="93649" y1="46667" x2="93649" y2="46667"/>
                        <a14:foregroundMark x1="92838" y1="26667" x2="92838" y2="26667"/>
                        <a14:foregroundMark x1="90000" y1="66944" x2="90000" y2="66944"/>
                        <a14:foregroundMark x1="80676" y1="65833" x2="80676" y2="65833"/>
                        <a14:foregroundMark x1="69459" y1="82222" x2="69459" y2="82222"/>
                        <a14:foregroundMark x1="65946" y1="75000" x2="65946" y2="75000"/>
                        <a14:foregroundMark x1="60000" y1="71667" x2="60000" y2="71667"/>
                        <a14:foregroundMark x1="44865" y1="61667" x2="44865" y2="61667"/>
                        <a14:foregroundMark x1="47568" y1="44167" x2="47568" y2="44167"/>
                        <a14:foregroundMark x1="31622" y1="16389" x2="31622" y2="16389"/>
                        <a14:foregroundMark x1="76081" y1="74444" x2="76081" y2="74444"/>
                        <a14:foregroundMark x1="77432" y1="51667" x2="77432" y2="51667"/>
                        <a14:foregroundMark x1="87838" y1="31111" x2="87838" y2="31111"/>
                        <a14:foregroundMark x1="84459" y1="18056" x2="84459" y2="18056"/>
                        <a14:foregroundMark x1="95135" y1="54167" x2="95135" y2="54167"/>
                        <a14:foregroundMark x1="81081" y1="83333" x2="81081" y2="83333"/>
                        <a14:foregroundMark x1="49595" y1="71944" x2="49595" y2="71944"/>
                        <a14:foregroundMark x1="12838" y1="87222" x2="12838" y2="87222"/>
                        <a14:foregroundMark x1="5135" y1="80278" x2="5135" y2="80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15581">
            <a:off x="7909832" y="5174662"/>
            <a:ext cx="3661683" cy="178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799277" y="63656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6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7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/>
          <p:cNvSpPr/>
          <p:nvPr/>
        </p:nvSpPr>
        <p:spPr>
          <a:xfrm>
            <a:off x="381733" y="577881"/>
            <a:ext cx="8598354" cy="65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600" b="1" dirty="0" smtClean="0">
                <a:latin typeface="Outfit"/>
              </a:rPr>
              <a:t>Ключевые выводы для бизнеса</a:t>
            </a:r>
            <a:endParaRPr lang="en-US" sz="3200" b="1" dirty="0">
              <a:solidFill>
                <a:srgbClr val="000000"/>
              </a:solidFill>
              <a:latin typeface="Outfi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1733" y="1458527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Модель работает по заявленным характеристикам и опробована в железе</a:t>
            </a:r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1733" y="191663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Модель способна адаптироваться к Вашим уникальным условиям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733" y="2368493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Принцип работы системы понятен и легко изменяем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733" y="282034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Легкое внедрение и обслуживание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733" y="327575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Существенная экономия в короткие сроки</a:t>
            </a:r>
          </a:p>
        </p:txBody>
      </p:sp>
      <p:pic>
        <p:nvPicPr>
          <p:cNvPr id="7170" name="Picture 2" descr="Product Management - Free shipping and delivery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64366" y="4167571"/>
            <a:ext cx="1702721" cy="1702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Economic - Free business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608" y="4083840"/>
            <a:ext cx="1685516" cy="168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415677" y="4603432"/>
            <a:ext cx="2819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Мы даем вам рабочий продукт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5873" y="4199696"/>
            <a:ext cx="26642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Вы получаете экономию и заботу о вашем микроклимате</a:t>
            </a:r>
          </a:p>
        </p:txBody>
      </p:sp>
      <p:pic>
        <p:nvPicPr>
          <p:cNvPr id="7176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75811" l="0" r="100000">
                        <a14:foregroundMark x1="72162" y1="17162" x2="72162" y2="17162"/>
                        <a14:foregroundMark x1="85676" y1="5000" x2="85676" y2="5000"/>
                        <a14:foregroundMark x1="23378" y1="5000" x2="23378" y2="5000"/>
                        <a14:foregroundMark x1="25135" y1="33378" x2="25135" y2="33378"/>
                        <a14:foregroundMark x1="40270" y1="43649" x2="40270" y2="43649"/>
                        <a14:foregroundMark x1="42432" y1="34595" x2="42432" y2="34595"/>
                        <a14:foregroundMark x1="33649" y1="25541" x2="33649" y2="25541"/>
                        <a14:foregroundMark x1="24595" y1="22027" x2="24595" y2="22027"/>
                        <a14:foregroundMark x1="22297" y1="13243" x2="22297" y2="13243"/>
                        <a14:foregroundMark x1="16081" y1="11757" x2="16081" y2="11757"/>
                        <a14:foregroundMark x1="5000" y1="11351" x2="5000" y2="11351"/>
                        <a14:foregroundMark x1="9054" y1="31486" x2="9054" y2="31486"/>
                        <a14:foregroundMark x1="17162" y1="42703" x2="17162" y2="42703"/>
                        <a14:foregroundMark x1="25811" y1="47162" x2="25811" y2="47162"/>
                        <a14:foregroundMark x1="32568" y1="46622" x2="32568" y2="46622"/>
                        <a14:foregroundMark x1="37162" y1="61757" x2="37162" y2="61757"/>
                        <a14:foregroundMark x1="53784" y1="56216" x2="53784" y2="56216"/>
                        <a14:foregroundMark x1="70270" y1="57297" x2="70270" y2="57297"/>
                        <a14:foregroundMark x1="71351" y1="36486" x2="71351" y2="36486"/>
                        <a14:foregroundMark x1="78108" y1="42838" x2="78108" y2="42838"/>
                        <a14:foregroundMark x1="79730" y1="29054" x2="79730" y2="29054"/>
                        <a14:foregroundMark x1="90405" y1="36216" x2="90405" y2="36216"/>
                        <a14:foregroundMark x1="95000" y1="23514" x2="95000" y2="23514"/>
                        <a14:foregroundMark x1="73919" y1="8919" x2="73919" y2="8919"/>
                        <a14:foregroundMark x1="75405" y1="3514" x2="75405" y2="3514"/>
                        <a14:foregroundMark x1="68784" y1="5000" x2="68784" y2="5000"/>
                        <a14:foregroundMark x1="64324" y1="7432" x2="64324" y2="7432"/>
                        <a14:foregroundMark x1="60541" y1="3784" x2="60541" y2="3784"/>
                        <a14:foregroundMark x1="92703" y1="7432" x2="92703" y2="7432"/>
                        <a14:foregroundMark x1="48649" y1="36486" x2="48649" y2="36486"/>
                        <a14:foregroundMark x1="28649" y1="35000" x2="28649" y2="35000"/>
                        <a14:foregroundMark x1="29324" y1="12432" x2="29324" y2="12432"/>
                        <a14:backgroundMark x1="27027" y1="1081" x2="27027" y2="1081"/>
                        <a14:backgroundMark x1="44595" y1="13649" x2="44595" y2="13649"/>
                        <a14:backgroundMark x1="36351" y1="11351" x2="36351" y2="11351"/>
                        <a14:backgroundMark x1="58919" y1="36216" x2="58919" y2="36216"/>
                        <a14:backgroundMark x1="57973" y1="27027" x2="57973" y2="270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618951" y="1063712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466" y="4292372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725" y="4284949"/>
            <a:ext cx="2713297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64" y="4284950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75589" y="4284951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71954" y="4284951"/>
            <a:ext cx="2620045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11807985" y="59737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7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95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</TotalTime>
  <Words>333</Words>
  <Application>Microsoft Office PowerPoint</Application>
  <PresentationFormat>Широкоэкранный</PresentationFormat>
  <Paragraphs>110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9" baseType="lpstr">
      <vt:lpstr>Arial</vt:lpstr>
      <vt:lpstr>Arial</vt:lpstr>
      <vt:lpstr>Consolas</vt:lpstr>
      <vt:lpstr>Mona Sans VF</vt:lpstr>
      <vt:lpstr>OpenSymbol</vt:lpstr>
      <vt:lpstr>Outfit</vt:lpstr>
      <vt:lpstr>Symbol</vt:lpstr>
      <vt:lpstr>Tahoma</vt:lpstr>
      <vt:lpstr>Wingdings</vt:lpstr>
      <vt:lpstr>Blue Simple Theme by Slidesgo</vt:lpstr>
      <vt:lpstr>Slidesgo Final Pages</vt:lpstr>
      <vt:lpstr>АэроМонитор</vt:lpstr>
      <vt:lpstr>Презентация PowerPoint</vt:lpstr>
      <vt:lpstr>Архитектура системы</vt:lpstr>
      <vt:lpstr>Архитектура системы</vt:lpstr>
      <vt:lpstr>Описание данных и используемых признаков</vt:lpstr>
      <vt:lpstr>Презентация PowerPoint</vt:lpstr>
      <vt:lpstr>Результаты тестирования модели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Denis</dc:creator>
  <cp:lastModifiedBy>Неустроев Илья Леонидович</cp:lastModifiedBy>
  <cp:revision>52</cp:revision>
  <dcterms:modified xsi:type="dcterms:W3CDTF">2026-06-02T11:54:01Z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2026-04-14T21:24:23Z</dcterms:created>
  <dc:creator>Unknown Creator</dc:creator>
  <dc:description/>
  <dc:language>en-US</dc:language>
  <cp:lastModifiedBy>Unknown Creator</cp:lastModifiedBy>
  <dcterms:modified xsi:type="dcterms:W3CDTF">2026-04-14T21:24:23Z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