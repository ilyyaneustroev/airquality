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1" r:id="rId2"/>
  </p:sldMasterIdLst>
  <p:sldIdLst>
    <p:sldId id="256" r:id="rId3"/>
    <p:sldId id="280" r:id="rId4"/>
    <p:sldId id="279" r:id="rId5"/>
    <p:sldId id="287" r:id="rId6"/>
    <p:sldId id="286" r:id="rId7"/>
    <p:sldId id="285" r:id="rId8"/>
    <p:sldId id="28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B2546C11-D457-469F-B42D-1D8F5D6888A9}">
          <p14:sldIdLst>
            <p14:sldId id="256"/>
            <p14:sldId id="280"/>
            <p14:sldId id="279"/>
            <p14:sldId id="287"/>
            <p14:sldId id="286"/>
            <p14:sldId id="285"/>
            <p14:sldId id="28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777" userDrawn="1">
          <p15:clr>
            <a:srgbClr val="A4A3A4"/>
          </p15:clr>
        </p15:guide>
        <p15:guide id="2" pos="2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A107856-5554-42FB-B03E-39F5DBC370BA}" styleName="Средний стиль 4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C4B1156A-380E-4F78-BDF5-A606A8083BF9}" styleName="Средний стиль 4 — акцент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91EBBBCC-DAD2-459C-BE2E-F6DE35CF9A28}" styleName="Темный стиль 2 — акцент 3/акцент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DA37D80-6434-44D0-A028-1B22A696006F}" styleName="Светлый стиль 3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Светлый стиль 3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Светлый стиль 3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Светлый стиль 3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674" autoAdjust="0"/>
    <p:restoredTop sz="94660"/>
  </p:normalViewPr>
  <p:slideViewPr>
    <p:cSldViewPr snapToGrid="0" showGuides="1">
      <p:cViewPr varScale="1">
        <p:scale>
          <a:sx n="135" d="100"/>
          <a:sy n="135" d="100"/>
        </p:scale>
        <p:origin x="427" y="77"/>
      </p:cViewPr>
      <p:guideLst>
        <p:guide orient="horz" pos="777"/>
        <p:guide pos="2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950880" y="719520"/>
            <a:ext cx="10289760" cy="1232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3" name="Google Shape;11;p2"/>
          <p:cNvPicPr/>
          <p:nvPr/>
        </p:nvPicPr>
        <p:blipFill>
          <a:blip r:embed="rId2"/>
          <a:srcRect l="6446" t="15265" r="28409" b="40210"/>
          <a:stretch/>
        </p:blipFill>
        <p:spPr>
          <a:xfrm>
            <a:off x="6555840" y="3006720"/>
            <a:ext cx="5635680" cy="3851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609600" y="1604640"/>
            <a:ext cx="109723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/>
            </a:lvl1pPr>
          </a:lstStyle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3978" lvl="1" indent="-323992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5968" lvl="2" indent="-287993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7957" lvl="3" indent="-215995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59946" lvl="4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1936" lvl="5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3924" lvl="6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47;p11"/>
          <p:cNvPicPr/>
          <p:nvPr/>
        </p:nvPicPr>
        <p:blipFill>
          <a:blip r:embed="rId2"/>
          <a:srcRect r="50065" b="37830"/>
          <a:stretch/>
        </p:blipFill>
        <p:spPr>
          <a:xfrm rot="16200000">
            <a:off x="7370880" y="-561120"/>
            <a:ext cx="4319040" cy="537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950880" y="1255200"/>
            <a:ext cx="6784320" cy="1392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>
              <a:lnSpc>
                <a:spcPct val="100000"/>
              </a:lnSpc>
              <a:buNone/>
              <a:defRPr/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fr-FR" sz="6000" b="1" u="none" strike="noStrik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2;p13"/>
          <p:cNvPicPr/>
          <p:nvPr/>
        </p:nvPicPr>
        <p:blipFill>
          <a:blip r:embed="rId2"/>
          <a:srcRect l="29900" b="52150"/>
          <a:stretch/>
        </p:blipFill>
        <p:spPr>
          <a:xfrm rot="10800000">
            <a:off x="6127680" y="480"/>
            <a:ext cx="6064320" cy="413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960000" y="719520"/>
            <a:ext cx="10271520" cy="763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" name="PlaceHolder 2"/>
          <p:cNvSpPr>
            <a:spLocks noGrp="1"/>
          </p:cNvSpPr>
          <p:nvPr>
            <p:ph type="title"/>
          </p:nvPr>
        </p:nvSpPr>
        <p:spPr>
          <a:xfrm>
            <a:off x="950880" y="2340000"/>
            <a:ext cx="1117920" cy="596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>
              <a:lnSpc>
                <a:spcPct val="100000"/>
              </a:lnSpc>
              <a:buNone/>
              <a:defRPr/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title"/>
          </p:nvPr>
        </p:nvSpPr>
        <p:spPr>
          <a:xfrm>
            <a:off x="950880" y="4367040"/>
            <a:ext cx="1117920" cy="596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>
              <a:lnSpc>
                <a:spcPct val="100000"/>
              </a:lnSpc>
              <a:buNone/>
              <a:defRPr/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title"/>
          </p:nvPr>
        </p:nvSpPr>
        <p:spPr>
          <a:xfrm>
            <a:off x="4456320" y="2340000"/>
            <a:ext cx="1117920" cy="596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>
              <a:lnSpc>
                <a:spcPct val="100000"/>
              </a:lnSpc>
              <a:buNone/>
              <a:defRPr/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title"/>
          </p:nvPr>
        </p:nvSpPr>
        <p:spPr>
          <a:xfrm>
            <a:off x="4456320" y="4367040"/>
            <a:ext cx="1117920" cy="596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>
              <a:lnSpc>
                <a:spcPct val="100000"/>
              </a:lnSpc>
              <a:buNone/>
              <a:defRPr/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title"/>
          </p:nvPr>
        </p:nvSpPr>
        <p:spPr>
          <a:xfrm>
            <a:off x="7961760" y="2340000"/>
            <a:ext cx="1117920" cy="596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>
              <a:lnSpc>
                <a:spcPct val="100000"/>
              </a:lnSpc>
              <a:buNone/>
              <a:defRPr/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7"/>
          <p:cNvSpPr>
            <a:spLocks noGrp="1"/>
          </p:cNvSpPr>
          <p:nvPr>
            <p:ph type="title"/>
          </p:nvPr>
        </p:nvSpPr>
        <p:spPr>
          <a:xfrm>
            <a:off x="7961760" y="4367040"/>
            <a:ext cx="1117920" cy="596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>
              <a:lnSpc>
                <a:spcPct val="100000"/>
              </a:lnSpc>
              <a:buNone/>
              <a:defRPr/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67;p14"/>
          <p:cNvPicPr/>
          <p:nvPr/>
        </p:nvPicPr>
        <p:blipFill>
          <a:blip r:embed="rId2"/>
          <a:srcRect l="29900" b="56210"/>
          <a:stretch/>
        </p:blipFill>
        <p:spPr>
          <a:xfrm rot="5400000" flipH="1">
            <a:off x="-1148160" y="1932000"/>
            <a:ext cx="6064320" cy="37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960000" y="719520"/>
            <a:ext cx="10271520" cy="763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609600" y="1604640"/>
            <a:ext cx="109723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/>
            </a:lvl1pPr>
          </a:lstStyle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3978" lvl="1" indent="-323992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5968" lvl="2" indent="-287993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7957" lvl="3" indent="-215995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59946" lvl="4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1936" lvl="5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3924" lvl="6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70;p15"/>
          <p:cNvPicPr/>
          <p:nvPr/>
        </p:nvPicPr>
        <p:blipFill>
          <a:blip r:embed="rId2"/>
          <a:srcRect l="29900" b="52150"/>
          <a:stretch/>
        </p:blipFill>
        <p:spPr>
          <a:xfrm rot="16200000" flipH="1">
            <a:off x="7090080" y="962880"/>
            <a:ext cx="6064320" cy="413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960000" y="719520"/>
            <a:ext cx="10271520" cy="763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73;p16"/>
          <p:cNvPicPr/>
          <p:nvPr/>
        </p:nvPicPr>
        <p:blipFill>
          <a:blip r:embed="rId2"/>
          <a:srcRect r="55545" b="37830"/>
          <a:stretch/>
        </p:blipFill>
        <p:spPr>
          <a:xfrm rot="5400000">
            <a:off x="780960" y="2262720"/>
            <a:ext cx="3845280" cy="537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960000" y="719520"/>
            <a:ext cx="4796640" cy="141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960000" y="719520"/>
            <a:ext cx="10271520" cy="763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200160" y="2112480"/>
            <a:ext cx="5031360" cy="4025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92500" lnSpcReduction="9999"/>
          </a:bodyPr>
          <a:lstStyle>
            <a:lvl1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/>
            </a:lvl1pPr>
          </a:lstStyle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3978" lvl="1" indent="-323992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5968" lvl="2" indent="-287993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7957" lvl="3" indent="-215995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59946" lvl="4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1936" lvl="5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3924" lvl="6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pic>
        <p:nvPicPr>
          <p:cNvPr id="24" name="Google Shape;80;p17"/>
          <p:cNvPicPr/>
          <p:nvPr/>
        </p:nvPicPr>
        <p:blipFill>
          <a:blip r:embed="rId2"/>
          <a:srcRect l="29900" b="52150"/>
          <a:stretch/>
        </p:blipFill>
        <p:spPr>
          <a:xfrm>
            <a:off x="0" y="2719200"/>
            <a:ext cx="6064320" cy="41385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82;p18"/>
          <p:cNvPicPr/>
          <p:nvPr/>
        </p:nvPicPr>
        <p:blipFill>
          <a:blip r:embed="rId2"/>
          <a:srcRect l="37988" t="12339" r="-8087" b="39811"/>
          <a:stretch/>
        </p:blipFill>
        <p:spPr>
          <a:xfrm flipH="1">
            <a:off x="6127680" y="2719200"/>
            <a:ext cx="6064320" cy="413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950880" y="1059360"/>
            <a:ext cx="10289760" cy="930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651680" y="3198240"/>
            <a:ext cx="6588960" cy="2600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/>
            </a:lvl1pPr>
          </a:lstStyle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3978" lvl="1" indent="-323992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5968" lvl="2" indent="-287993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7957" lvl="3" indent="-215995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59946" lvl="4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1936" lvl="5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3924" lvl="6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86;p19"/>
          <p:cNvPicPr/>
          <p:nvPr/>
        </p:nvPicPr>
        <p:blipFill>
          <a:blip r:embed="rId2"/>
          <a:srcRect l="42971" t="8605" r="8129" b="53361"/>
          <a:stretch/>
        </p:blipFill>
        <p:spPr>
          <a:xfrm>
            <a:off x="0" y="3568320"/>
            <a:ext cx="4229760" cy="3288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960000" y="719520"/>
            <a:ext cx="10271520" cy="763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95;p20"/>
          <p:cNvPicPr/>
          <p:nvPr/>
        </p:nvPicPr>
        <p:blipFill>
          <a:blip r:embed="rId2"/>
          <a:srcRect l="29900" b="52150"/>
          <a:stretch/>
        </p:blipFill>
        <p:spPr>
          <a:xfrm flipH="1">
            <a:off x="6127680" y="2715360"/>
            <a:ext cx="6064320" cy="413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960000" y="719520"/>
            <a:ext cx="10271520" cy="763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950880" y="3890880"/>
            <a:ext cx="6756480" cy="2014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3" name="PlaceHolder 2"/>
          <p:cNvSpPr>
            <a:spLocks noGrp="1"/>
          </p:cNvSpPr>
          <p:nvPr>
            <p:ph type="title"/>
          </p:nvPr>
        </p:nvSpPr>
        <p:spPr>
          <a:xfrm>
            <a:off x="950880" y="2205120"/>
            <a:ext cx="1519680" cy="1220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>
              <a:lnSpc>
                <a:spcPct val="100000"/>
              </a:lnSpc>
              <a:buNone/>
              <a:defRPr/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fr-FR" sz="6000" b="1" u="none" strike="noStrik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34" name="Google Shape;15;p3"/>
          <p:cNvPicPr/>
          <p:nvPr/>
        </p:nvPicPr>
        <p:blipFill>
          <a:blip r:embed="rId2"/>
          <a:srcRect r="30128" b="37830"/>
          <a:stretch/>
        </p:blipFill>
        <p:spPr>
          <a:xfrm rot="16200000">
            <a:off x="6508320" y="313920"/>
            <a:ext cx="6044160" cy="53779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106;p21"/>
          <p:cNvPicPr/>
          <p:nvPr/>
        </p:nvPicPr>
        <p:blipFill>
          <a:blip r:embed="rId2"/>
          <a:srcRect l="6446" t="15265" r="28409" b="40210"/>
          <a:stretch/>
        </p:blipFill>
        <p:spPr>
          <a:xfrm rot="10800000" flipH="1">
            <a:off x="6555840" y="0"/>
            <a:ext cx="5635680" cy="3851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933120" y="995040"/>
            <a:ext cx="6593760" cy="1291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7" name="Google Shape;109;p21"/>
          <p:cNvSpPr/>
          <p:nvPr/>
        </p:nvSpPr>
        <p:spPr>
          <a:xfrm>
            <a:off x="933120" y="4804800"/>
            <a:ext cx="6593760" cy="74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defTabSz="914378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0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CREDITS: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This presentation template was created by </a:t>
            </a:r>
            <a:r>
              <a:rPr lang="en" sz="1000" b="1" u="sng" strike="noStrike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3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, and includes icons, infographics &amp;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  <a:hlinkClick r:id="rId4"/>
              </a:rPr>
              <a:t>Freepik</a:t>
            </a:r>
            <a:r>
              <a:rPr lang="en" sz="1000" b="0" u="sng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111;p22"/>
          <p:cNvPicPr/>
          <p:nvPr/>
        </p:nvPicPr>
        <p:blipFill>
          <a:blip r:embed="rId2"/>
          <a:srcRect l="29900" b="55808"/>
          <a:stretch/>
        </p:blipFill>
        <p:spPr>
          <a:xfrm rot="5400000" flipH="1">
            <a:off x="-1165440" y="1914720"/>
            <a:ext cx="6064320" cy="38222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113;p23"/>
          <p:cNvPicPr/>
          <p:nvPr/>
        </p:nvPicPr>
        <p:blipFill>
          <a:blip r:embed="rId2"/>
          <a:srcRect l="29900" b="52150"/>
          <a:stretch/>
        </p:blipFill>
        <p:spPr>
          <a:xfrm rot="16200000" flipH="1">
            <a:off x="7090080" y="962880"/>
            <a:ext cx="6064320" cy="41385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17;p4"/>
          <p:cNvPicPr/>
          <p:nvPr/>
        </p:nvPicPr>
        <p:blipFill>
          <a:blip r:embed="rId2"/>
          <a:srcRect l="45858" t="18030" r="7192" b="53365"/>
          <a:stretch/>
        </p:blipFill>
        <p:spPr>
          <a:xfrm rot="5400000">
            <a:off x="-792960" y="793440"/>
            <a:ext cx="4060800" cy="2473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960000" y="719520"/>
            <a:ext cx="10271520" cy="763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960000" y="2112480"/>
            <a:ext cx="6775200" cy="4025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/>
            </a:lvl1pPr>
          </a:lstStyle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3978" lvl="1" indent="-323992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5968" lvl="2" indent="-287993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7957" lvl="3" indent="-215995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59946" lvl="4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1936" lvl="5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3924" lvl="6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960000" y="715680"/>
            <a:ext cx="10271520" cy="763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44" name="Google Shape;26;p5"/>
          <p:cNvPicPr/>
          <p:nvPr/>
        </p:nvPicPr>
        <p:blipFill>
          <a:blip r:embed="rId2"/>
          <a:srcRect t="43934" r="58145" b="-38"/>
          <a:stretch/>
        </p:blipFill>
        <p:spPr>
          <a:xfrm>
            <a:off x="8571360" y="0"/>
            <a:ext cx="3620160" cy="48532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960000" y="719520"/>
            <a:ext cx="10271520" cy="763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46" name="Google Shape;29;p6"/>
          <p:cNvPicPr/>
          <p:nvPr/>
        </p:nvPicPr>
        <p:blipFill>
          <a:blip r:embed="rId2"/>
          <a:srcRect l="29900" b="52150"/>
          <a:stretch/>
        </p:blipFill>
        <p:spPr>
          <a:xfrm flipH="1">
            <a:off x="6127680" y="2715360"/>
            <a:ext cx="6064320" cy="41385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960000" y="719520"/>
            <a:ext cx="10271520" cy="763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6200160" y="2112480"/>
            <a:ext cx="5031360" cy="1892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55000" lnSpcReduction="19999"/>
          </a:bodyPr>
          <a:lstStyle>
            <a:lvl1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/>
            </a:lvl1pPr>
          </a:lstStyle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3978" lvl="1" indent="-323992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5968" lvl="2" indent="-287993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7957" lvl="3" indent="-215995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59946" lvl="4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1936" lvl="5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3924" lvl="6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pic>
        <p:nvPicPr>
          <p:cNvPr id="49" name="Google Shape;34;p7"/>
          <p:cNvPicPr/>
          <p:nvPr/>
        </p:nvPicPr>
        <p:blipFill>
          <a:blip r:embed="rId2"/>
          <a:srcRect l="29900" b="52150"/>
          <a:stretch/>
        </p:blipFill>
        <p:spPr>
          <a:xfrm>
            <a:off x="0" y="2719200"/>
            <a:ext cx="6064320" cy="413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6200160" y="4245600"/>
            <a:ext cx="5031360" cy="1892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55000" lnSpcReduction="19999"/>
          </a:bodyPr>
          <a:lstStyle>
            <a:lvl1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/>
            </a:lvl1pPr>
          </a:lstStyle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3978" lvl="1" indent="-323992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5968" lvl="2" indent="-287993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7957" lvl="3" indent="-215995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59946" lvl="4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1936" lvl="5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3924" lvl="6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37;p8"/>
          <p:cNvPicPr/>
          <p:nvPr/>
        </p:nvPicPr>
        <p:blipFill>
          <a:blip r:embed="rId2"/>
          <a:srcRect t="43934" r="58145" b="-38"/>
          <a:stretch/>
        </p:blipFill>
        <p:spPr>
          <a:xfrm>
            <a:off x="8571360" y="0"/>
            <a:ext cx="3620160" cy="4853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2358240" y="1742880"/>
            <a:ext cx="7475520" cy="3372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40;p9"/>
          <p:cNvPicPr/>
          <p:nvPr/>
        </p:nvPicPr>
        <p:blipFill>
          <a:blip r:embed="rId2"/>
          <a:srcRect l="29900" b="52150"/>
          <a:stretch/>
        </p:blipFill>
        <p:spPr>
          <a:xfrm>
            <a:off x="0" y="2719200"/>
            <a:ext cx="6064320" cy="413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2847360" y="1922400"/>
            <a:ext cx="6496800" cy="1582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12191520" cy="685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/>
            </a:lvl1pPr>
          </a:lstStyle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3978" lvl="1" indent="-323992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5968" lvl="2" indent="-287993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7957" lvl="3" indent="-215995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59946" lvl="4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1936" lvl="5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3924" lvl="6" indent="-215995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56" name="PlaceHolder 2"/>
          <p:cNvSpPr>
            <a:spLocks noGrp="1"/>
          </p:cNvSpPr>
          <p:nvPr>
            <p:ph type="title"/>
          </p:nvPr>
        </p:nvSpPr>
        <p:spPr>
          <a:xfrm>
            <a:off x="960000" y="5352480"/>
            <a:ext cx="10271520" cy="76320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119;p26"/>
          <p:cNvSpPr/>
          <p:nvPr/>
        </p:nvSpPr>
        <p:spPr>
          <a:xfrm>
            <a:off x="0" y="-13920"/>
            <a:ext cx="12191520" cy="15739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378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950880" y="719520"/>
            <a:ext cx="10289760" cy="642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122;p27"/>
          <p:cNvSpPr/>
          <p:nvPr/>
        </p:nvSpPr>
        <p:spPr>
          <a:xfrm>
            <a:off x="0" y="-13920"/>
            <a:ext cx="12191520" cy="15739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378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971520" y="719520"/>
            <a:ext cx="4463040" cy="642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1" name="PlaceHolder 2"/>
          <p:cNvSpPr>
            <a:spLocks noGrp="1"/>
          </p:cNvSpPr>
          <p:nvPr>
            <p:ph type="title"/>
          </p:nvPr>
        </p:nvSpPr>
        <p:spPr>
          <a:xfrm>
            <a:off x="6636960" y="719520"/>
            <a:ext cx="4610880" cy="642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txStyles>
    <p:titleStyle>
      <a:lvl1pPr algn="l" defTabSz="914378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</p:sldLayoutIdLst>
  <p:txStyles>
    <p:titleStyle>
      <a:lvl1pPr algn="l" defTabSz="914378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4.png"/><Relationship Id="rId4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png"/><Relationship Id="rId5" Type="http://schemas.microsoft.com/office/2007/relationships/hdphoto" Target="../media/hdphoto3.wdp"/><Relationship Id="rId10" Type="http://schemas.microsoft.com/office/2007/relationships/hdphoto" Target="../media/hdphoto5.wdp"/><Relationship Id="rId4" Type="http://schemas.openxmlformats.org/officeDocument/2006/relationships/image" Target="../media/image17.png"/><Relationship Id="rId9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384040" y="655744"/>
            <a:ext cx="7714800" cy="923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000" b="1" dirty="0" err="1">
                <a:solidFill>
                  <a:schemeClr val="dk1"/>
                </a:solidFill>
                <a:latin typeface="Outfit"/>
                <a:ea typeface="Outfit"/>
              </a:rPr>
              <a:t>АэроМонитор</a:t>
            </a:r>
            <a:endParaRPr lang="fr-FR" sz="5000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subTitle"/>
          </p:nvPr>
        </p:nvSpPr>
        <p:spPr>
          <a:xfrm>
            <a:off x="384040" y="2776375"/>
            <a:ext cx="4841103" cy="409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lstStyle/>
          <a:p>
            <a:r>
              <a:rPr lang="ru-RU" sz="1600" dirty="0"/>
              <a:t>Прототип интеллектуальной системы контроля качества воздуха для больших зданий</a:t>
            </a:r>
          </a:p>
        </p:txBody>
      </p:sp>
      <p:cxnSp>
        <p:nvCxnSpPr>
          <p:cNvPr id="64" name="Google Shape;131;p28"/>
          <p:cNvCxnSpPr/>
          <p:nvPr/>
        </p:nvCxnSpPr>
        <p:spPr>
          <a:xfrm>
            <a:off x="384040" y="3524756"/>
            <a:ext cx="4710474" cy="0"/>
          </a:xfrm>
          <a:prstGeom prst="straightConnector1">
            <a:avLst/>
          </a:prstGeom>
          <a:ln w="19050">
            <a:solidFill>
              <a:srgbClr val="021024"/>
            </a:solidFill>
            <a:round/>
          </a:ln>
        </p:spPr>
      </p:cxnSp>
      <p:pic>
        <p:nvPicPr>
          <p:cNvPr id="10" name="image69deb088b29cd" descr="image69deb088b29d2"/>
          <p:cNvPicPr/>
          <p:nvPr/>
        </p:nvPicPr>
        <p:blipFill>
          <a:blip r:embed="rId2"/>
          <a:stretch/>
        </p:blipFill>
        <p:spPr>
          <a:xfrm>
            <a:off x="6096267" y="0"/>
            <a:ext cx="6095733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C85D806-9C5D-64EC-0D4D-7A9F2BA23C37}"/>
              </a:ext>
            </a:extLst>
          </p:cNvPr>
          <p:cNvSpPr txBox="1"/>
          <p:nvPr/>
        </p:nvSpPr>
        <p:spPr>
          <a:xfrm>
            <a:off x="384041" y="3863818"/>
            <a:ext cx="474360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latin typeface="Consolas" panose="020B0609020204030204" pitchFamily="49" charset="0"/>
              </a:rPr>
              <a:t>Команда</a:t>
            </a:r>
            <a:r>
              <a:rPr lang="en-US" b="1" dirty="0">
                <a:latin typeface="Consolas" panose="020B0609020204030204" pitchFamily="49" charset="0"/>
              </a:rPr>
              <a:t> 13</a:t>
            </a:r>
            <a:endParaRPr lang="ru-RU" dirty="0">
              <a:latin typeface="Consolas" panose="020B0609020204030204" pitchFamily="49" charset="0"/>
            </a:endParaRPr>
          </a:p>
          <a:p>
            <a:r>
              <a:rPr lang="ru-RU" dirty="0">
                <a:latin typeface="Consolas" panose="020B0609020204030204" pitchFamily="49" charset="0"/>
              </a:rPr>
              <a:t>1. Харлов Максим @maksimkharlovv</a:t>
            </a:r>
          </a:p>
          <a:p>
            <a:r>
              <a:rPr lang="ru-RU" dirty="0">
                <a:latin typeface="Consolas" panose="020B0609020204030204" pitchFamily="49" charset="0"/>
              </a:rPr>
              <a:t>2. </a:t>
            </a:r>
            <a:r>
              <a:rPr lang="ru-RU" dirty="0" err="1">
                <a:latin typeface="Consolas" panose="020B0609020204030204" pitchFamily="49" charset="0"/>
              </a:rPr>
              <a:t>Лещишин</a:t>
            </a:r>
            <a:r>
              <a:rPr lang="ru-RU" dirty="0">
                <a:latin typeface="Consolas" panose="020B0609020204030204" pitchFamily="49" charset="0"/>
              </a:rPr>
              <a:t> Роман @Roman36519</a:t>
            </a:r>
          </a:p>
          <a:p>
            <a:r>
              <a:rPr lang="ru-RU" dirty="0">
                <a:latin typeface="Consolas" panose="020B0609020204030204" pitchFamily="49" charset="0"/>
              </a:rPr>
              <a:t>3. Неустроев Илья @NeustroevIL</a:t>
            </a:r>
          </a:p>
          <a:p>
            <a:r>
              <a:rPr lang="ru-RU" dirty="0">
                <a:latin typeface="Consolas" panose="020B0609020204030204" pitchFamily="49" charset="0"/>
              </a:rPr>
              <a:t>4. </a:t>
            </a:r>
            <a:r>
              <a:rPr lang="ru-RU" dirty="0" err="1">
                <a:latin typeface="Consolas" panose="020B0609020204030204" pitchFamily="49" charset="0"/>
              </a:rPr>
              <a:t>Cавельев</a:t>
            </a:r>
            <a:r>
              <a:rPr lang="ru-RU" dirty="0">
                <a:latin typeface="Consolas" panose="020B0609020204030204" pitchFamily="49" charset="0"/>
              </a:rPr>
              <a:t> Денис @DenisSavelev2025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ru-RU" dirty="0">
                <a:latin typeface="Consolas" panose="020B0609020204030204" pitchFamily="49" charset="0"/>
              </a:rPr>
              <a:t>5. </a:t>
            </a:r>
            <a:r>
              <a:rPr lang="ru-RU" dirty="0" err="1">
                <a:latin typeface="Consolas" panose="020B0609020204030204" pitchFamily="49" charset="0"/>
              </a:rPr>
              <a:t>Метиекам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</a:rPr>
              <a:t>Коаье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</a:rPr>
              <a:t>Мануэль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</a:rPr>
              <a:t>Патрисия</a:t>
            </a:r>
            <a:endParaRPr lang="ru-RU" dirty="0">
              <a:latin typeface="Consolas" panose="020B0609020204030204" pitchFamily="49" charset="0"/>
            </a:endParaRPr>
          </a:p>
          <a:p>
            <a:endParaRPr lang="ru-RU" dirty="0"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ADBA66-CB68-0276-8050-5DDD5CF0BE2B}"/>
              </a:ext>
            </a:extLst>
          </p:cNvPr>
          <p:cNvSpPr txBox="1"/>
          <p:nvPr/>
        </p:nvSpPr>
        <p:spPr>
          <a:xfrm>
            <a:off x="384040" y="5522333"/>
            <a:ext cx="44451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latin typeface="Consolas" panose="020B0609020204030204" pitchFamily="49" charset="0"/>
              </a:rPr>
              <a:t>github</a:t>
            </a:r>
            <a:r>
              <a:rPr lang="ru-RU" b="1" dirty="0">
                <a:latin typeface="Consolas" panose="020B0609020204030204" pitchFamily="49" charset="0"/>
              </a:rPr>
              <a:t>:</a:t>
            </a:r>
          </a:p>
          <a:p>
            <a:r>
              <a:rPr lang="en-US" dirty="0">
                <a:solidFill>
                  <a:schemeClr val="bg1">
                    <a:lumMod val="25000"/>
                  </a:schemeClr>
                </a:solidFill>
                <a:latin typeface="Consolas" panose="020B0609020204030204" pitchFamily="49" charset="0"/>
              </a:rPr>
              <a:t>https://github.com/IlyyaNeustroev/airQuality</a:t>
            </a:r>
            <a:endParaRPr lang="ru-RU" dirty="0">
              <a:solidFill>
                <a:schemeClr val="bg1">
                  <a:lumMod val="25000"/>
                </a:schemeClr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"/>
          <p:cNvSpPr txBox="1">
            <a:spLocks/>
          </p:cNvSpPr>
          <p:nvPr/>
        </p:nvSpPr>
        <p:spPr>
          <a:xfrm>
            <a:off x="361950" y="491681"/>
            <a:ext cx="8573314" cy="74180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 algn="l" defTabSz="91437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b="1" dirty="0">
                <a:latin typeface="Outfit"/>
              </a:rPr>
              <a:t>Решение бизнес задачи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3854" y="3002690"/>
            <a:ext cx="109960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Ключевой принцип:</a:t>
            </a:r>
          </a:p>
          <a:p>
            <a:pPr algn="just"/>
            <a:r>
              <a:rPr lang="ru-RU" dirty="0"/>
              <a:t>вентиляция включается только в той комнате, где реально ухудшилось качество воздуха, а не работает избыточно по всему зданию</a:t>
            </a:r>
            <a:endParaRPr lang="ru-RU" sz="1600" b="1" dirty="0">
              <a:latin typeface="Consolas" panose="020B060902020403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050" name="Picture 2" descr="Money growth - Free business and finance icon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3527" y="247650"/>
            <a:ext cx="7715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201,249 Branch With Fresh Green Leaves Royalty-Free Images, Stock Photos &amp;  Pictures | Shutterstock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178" b="100000" l="0" r="99500">
                        <a14:foregroundMark x1="32167" y1="48564" x2="32167" y2="48564"/>
                        <a14:foregroundMark x1="26667" y1="46736" x2="26667" y2="46736"/>
                        <a14:foregroundMark x1="25167" y1="46475" x2="25167" y2="46475"/>
                        <a14:foregroundMark x1="27333" y1="59269" x2="27333" y2="59269"/>
                        <a14:foregroundMark x1="35333" y1="59791" x2="35333" y2="59791"/>
                        <a14:foregroundMark x1="24500" y1="46214" x2="24500" y2="46214"/>
                        <a14:foregroundMark x1="29667" y1="41514" x2="29667" y2="41514"/>
                        <a14:foregroundMark x1="35667" y1="35509" x2="35667" y2="35509"/>
                        <a14:foregroundMark x1="57333" y1="14360" x2="57333" y2="14360"/>
                        <a14:foregroundMark x1="56500" y1="13316" x2="56500" y2="13316"/>
                        <a14:foregroundMark x1="69500" y1="7572" x2="69500" y2="7572"/>
                        <a14:foregroundMark x1="59500" y1="10705" x2="59500" y2="10705"/>
                        <a14:foregroundMark x1="59500" y1="10183" x2="59500" y2="10183"/>
                        <a14:foregroundMark x1="59500" y1="9922" x2="59500" y2="9922"/>
                        <a14:foregroundMark x1="93500" y1="31332" x2="93500" y2="3133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084581" flipH="1">
            <a:off x="9443007" y="5362685"/>
            <a:ext cx="2751496" cy="1756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TextBox 42"/>
          <p:cNvSpPr txBox="1"/>
          <p:nvPr/>
        </p:nvSpPr>
        <p:spPr>
          <a:xfrm>
            <a:off x="6111902" y="1233487"/>
            <a:ext cx="545060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Как стало: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200" dirty="0"/>
              <a:t>датчики в комнатах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200" dirty="0"/>
              <a:t>ML-модель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200" dirty="0"/>
              <a:t>локальное включение только там, где ухудшился воздух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200" dirty="0"/>
              <a:t>экономия энергии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200" dirty="0"/>
              <a:t>более комфортный микроклимат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200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снижение износа оборудования</a:t>
            </a:r>
            <a:endParaRPr lang="ru-RU" sz="1100" dirty="0">
              <a:latin typeface="Consolas" panose="020B060902020403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54129" y="1233487"/>
            <a:ext cx="5450605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Как было: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200" dirty="0"/>
              <a:t>централизованная вентиляция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200" dirty="0"/>
              <a:t>фиксированный режим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200" dirty="0"/>
              <a:t>лишний воздухообмен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200" dirty="0"/>
              <a:t>перерасход энергии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200" dirty="0"/>
              <a:t>шум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200" dirty="0"/>
              <a:t>сквозняки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200" dirty="0"/>
              <a:t>износ оборудования</a:t>
            </a:r>
            <a:endParaRPr lang="ru-RU" sz="1200" b="1" dirty="0">
              <a:latin typeface="Consolas" panose="020B060902020403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6" name="Picture 2" descr="Скачать бесплатно иконки на тему «Управляющая компания» в форматах PNG и SVG"/>
          <p:cNvPicPr>
            <a:picLocks noChangeAspect="1" noChangeArrowheads="1"/>
          </p:cNvPicPr>
          <p:nvPr/>
        </p:nvPicPr>
        <p:blipFill>
          <a:blip r:embed="rId5" cstate="print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5270" y="4613537"/>
            <a:ext cx="752752" cy="752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4" descr="Администрация – Бесплатные иконки: архитектура и город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9923" y="4554499"/>
            <a:ext cx="777367" cy="777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Picture 6" descr="Завод завод – Бесплатные иконки: промышленность"/>
          <p:cNvPicPr>
            <a:picLocks noChangeAspect="1" noChangeArrowheads="1"/>
          </p:cNvPicPr>
          <p:nvPr/>
        </p:nvPicPr>
        <p:blipFill>
          <a:blip r:embed="rId7" cstate="print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5385" y="4554499"/>
            <a:ext cx="740088" cy="740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8" descr="Дата центр – Бесплатные иконки: компьютер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4913" y="4554498"/>
            <a:ext cx="777368" cy="777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TextBox 49"/>
          <p:cNvSpPr txBox="1"/>
          <p:nvPr/>
        </p:nvSpPr>
        <p:spPr>
          <a:xfrm>
            <a:off x="746124" y="5410847"/>
            <a:ext cx="17510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Коммерческая недвижимость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79431" y="5410847"/>
            <a:ext cx="25326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Административные и бюджетные здания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04634" y="5410846"/>
            <a:ext cx="25326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Промышленные предприятия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67262" y="5410846"/>
            <a:ext cx="25326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Дата-центры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613854" y="4081260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dirty="0">
                <a:latin typeface="Consolas" panose="020B0609020204030204" pitchFamily="49" charset="0"/>
              </a:rPr>
              <a:t>Целевая аудитория:</a:t>
            </a:r>
            <a:endParaRPr lang="ru-RU" b="1" i="0" dirty="0"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8083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71475" y="561531"/>
            <a:ext cx="10725150" cy="671957"/>
          </a:xfrm>
        </p:spPr>
        <p:txBody>
          <a:bodyPr/>
          <a:lstStyle/>
          <a:p>
            <a:r>
              <a:rPr lang="ru-RU" sz="3600" b="1" dirty="0">
                <a:latin typeface="Outfit"/>
              </a:rPr>
              <a:t>Архитектура системы</a:t>
            </a:r>
          </a:p>
        </p:txBody>
      </p:sp>
      <p:pic>
        <p:nvPicPr>
          <p:cNvPr id="42" name="Picture 2" descr="Tree leaves Vectors - Download Free High-Quality Vectors | Magnific  (formerly Freepik)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865" b="48919" l="5270" r="52838">
                        <a14:backgroundMark x1="24865" y1="22432" x2="24865" y2="22432"/>
                        <a14:backgroundMark x1="13919" y1="18108" x2="13919" y2="18108"/>
                        <a14:backgroundMark x1="15811" y1="16486" x2="15811" y2="16486"/>
                        <a14:backgroundMark x1="23243" y1="19730" x2="23243" y2="19730"/>
                        <a14:backgroundMark x1="32162" y1="32162" x2="32162" y2="32162"/>
                        <a14:backgroundMark x1="28108" y1="28649" x2="28108" y2="28649"/>
                        <a14:backgroundMark x1="27027" y1="28514" x2="27027" y2="28514"/>
                        <a14:backgroundMark x1="30811" y1="29054" x2="30811" y2="29054"/>
                        <a14:backgroundMark x1="27703" y1="26216" x2="27703" y2="2621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1362" t="-3518" r="46702" b="50354"/>
          <a:stretch/>
        </p:blipFill>
        <p:spPr bwMode="auto">
          <a:xfrm rot="10800000">
            <a:off x="10986487" y="-137121"/>
            <a:ext cx="1436651" cy="1397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2708" y="1319559"/>
            <a:ext cx="9462274" cy="5149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607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71475" y="561531"/>
            <a:ext cx="10725150" cy="671957"/>
          </a:xfrm>
        </p:spPr>
        <p:txBody>
          <a:bodyPr/>
          <a:lstStyle/>
          <a:p>
            <a:r>
              <a:rPr lang="ru-RU" sz="3600" b="1" dirty="0">
                <a:latin typeface="Outfit"/>
              </a:rPr>
              <a:t>Датчики и признаки</a:t>
            </a:r>
          </a:p>
        </p:txBody>
      </p:sp>
      <p:pic>
        <p:nvPicPr>
          <p:cNvPr id="42" name="Picture 2" descr="Tree leaves Vectors - Download Free High-Quality Vectors | Magnific  (formerly Freepik)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865" b="48919" l="5270" r="52838">
                        <a14:backgroundMark x1="24865" y1="22432" x2="24865" y2="22432"/>
                        <a14:backgroundMark x1="13919" y1="18108" x2="13919" y2="18108"/>
                        <a14:backgroundMark x1="15811" y1="16486" x2="15811" y2="16486"/>
                        <a14:backgroundMark x1="23243" y1="19730" x2="23243" y2="19730"/>
                        <a14:backgroundMark x1="32162" y1="32162" x2="32162" y2="32162"/>
                        <a14:backgroundMark x1="28108" y1="28649" x2="28108" y2="28649"/>
                        <a14:backgroundMark x1="27027" y1="28514" x2="27027" y2="28514"/>
                        <a14:backgroundMark x1="30811" y1="29054" x2="30811" y2="29054"/>
                        <a14:backgroundMark x1="27703" y1="26216" x2="27703" y2="2621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1362" t="-3518" r="46702" b="50354"/>
          <a:stretch/>
        </p:blipFill>
        <p:spPr bwMode="auto">
          <a:xfrm rot="10800000">
            <a:off x="10986487" y="-137121"/>
            <a:ext cx="1436651" cy="1397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3A93F476-B751-7AA6-3932-6D341A3AE3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1834377"/>
              </p:ext>
            </p:extLst>
          </p:nvPr>
        </p:nvGraphicFramePr>
        <p:xfrm>
          <a:off x="1278467" y="1661936"/>
          <a:ext cx="9080500" cy="4195237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25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4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9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1439">
                <a:tc>
                  <a:txBody>
                    <a:bodyPr/>
                    <a:lstStyle>
                      <a:defPPr>
                        <a:defRPr lang="ru-RU" b="1">
                          <a:solidFill>
                            <a:schemeClr val="lt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Датчик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ru-RU" b="1">
                          <a:solidFill>
                            <a:schemeClr val="lt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Признак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ru-RU" b="1">
                          <a:solidFill>
                            <a:schemeClr val="lt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Диапазон измерений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ru-RU" b="1">
                          <a:solidFill>
                            <a:schemeClr val="lt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Единица измерений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184">
                <a:tc rowSpan="3">
                  <a:txBody>
                    <a:bodyPr/>
                    <a:lstStyle>
                      <a:defPPr>
                        <a:defRPr lang="ru-RU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ENS160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ru-RU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TVOC (</a:t>
                      </a: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Содержание</a:t>
                      </a:r>
                      <a:r>
                        <a:rPr lang="ru-RU" baseline="0" dirty="0">
                          <a:solidFill>
                            <a:schemeClr val="tx1"/>
                          </a:solidFill>
                        </a:rPr>
                        <a:t> органики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ru-RU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0-65535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ru-RU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ppb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184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ru-RU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eCO2</a:t>
                      </a:r>
                      <a:r>
                        <a:rPr lang="ru-RU" baseline="0" dirty="0">
                          <a:solidFill>
                            <a:schemeClr val="tx1"/>
                          </a:solidFill>
                        </a:rPr>
                        <a:t> (эквивалент 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CO2</a:t>
                      </a:r>
                      <a:r>
                        <a:rPr lang="ru-RU" baseline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ru-RU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400-65535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ru-RU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ppm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184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ru-RU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Индекс</a:t>
                      </a:r>
                      <a:r>
                        <a:rPr lang="ru-RU" baseline="0" dirty="0">
                          <a:solidFill>
                            <a:schemeClr val="tx1"/>
                          </a:solidFill>
                        </a:rPr>
                        <a:t> качества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ru-RU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0-500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ru-RU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2184">
                <a:tc rowSpan="2">
                  <a:txBody>
                    <a:bodyPr/>
                    <a:lstStyle>
                      <a:defPPr>
                        <a:defRPr lang="ru-RU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АНТ-21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ru-RU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Температура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ru-RU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40-120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ru-RU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С</a:t>
                      </a:r>
                      <a:r>
                        <a:rPr lang="ru-RU" baseline="30000" dirty="0">
                          <a:solidFill>
                            <a:schemeClr val="tx1"/>
                          </a:solidFill>
                        </a:rPr>
                        <a:t>о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2184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ru-RU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Относительная влажность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ru-RU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0-100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ru-RU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%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1439">
                <a:tc>
                  <a:txBody>
                    <a:bodyPr/>
                    <a:lstStyle>
                      <a:defPPr>
                        <a:defRPr lang="ru-RU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MQ-135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ru-RU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Концентрация газа (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NH3,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 NOx, CO2, </a:t>
                      </a:r>
                      <a:r>
                        <a:rPr lang="en-US" baseline="0" dirty="0" err="1">
                          <a:solidFill>
                            <a:schemeClr val="tx1"/>
                          </a:solidFill>
                        </a:rPr>
                        <a:t>SOx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, etc…</a:t>
                      </a: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ru-RU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0-10000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ru-RU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ppm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11439">
                <a:tc>
                  <a:txBody>
                    <a:bodyPr/>
                    <a:lstStyle>
                      <a:defPPr>
                        <a:defRPr lang="ru-RU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MQ-7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ru-RU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Концентрация газа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(H2, CO, NH4, C3H8,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 etc…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ru-RU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20-10000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ru-RU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ppm 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840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71475" y="561531"/>
            <a:ext cx="10725150" cy="671957"/>
          </a:xfrm>
        </p:spPr>
        <p:txBody>
          <a:bodyPr/>
          <a:lstStyle/>
          <a:p>
            <a:r>
              <a:rPr lang="en-US" sz="3600" b="1" dirty="0">
                <a:latin typeface="Outfit"/>
              </a:rPr>
              <a:t>ML-</a:t>
            </a:r>
            <a:r>
              <a:rPr lang="ru-RU" sz="3600" b="1" dirty="0">
                <a:latin typeface="Outfit"/>
              </a:rPr>
              <a:t>модель</a:t>
            </a:r>
          </a:p>
        </p:txBody>
      </p:sp>
      <p:pic>
        <p:nvPicPr>
          <p:cNvPr id="42" name="Picture 2" descr="Tree leaves Vectors - Download Free High-Quality Vectors | Magnific  (formerly Freepik)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865" b="48919" l="5270" r="52838">
                        <a14:backgroundMark x1="24865" y1="22432" x2="24865" y2="22432"/>
                        <a14:backgroundMark x1="13919" y1="18108" x2="13919" y2="18108"/>
                        <a14:backgroundMark x1="15811" y1="16486" x2="15811" y2="16486"/>
                        <a14:backgroundMark x1="23243" y1="19730" x2="23243" y2="19730"/>
                        <a14:backgroundMark x1="32162" y1="32162" x2="32162" y2="32162"/>
                        <a14:backgroundMark x1="28108" y1="28649" x2="28108" y2="28649"/>
                        <a14:backgroundMark x1="27027" y1="28514" x2="27027" y2="28514"/>
                        <a14:backgroundMark x1="30811" y1="29054" x2="30811" y2="29054"/>
                        <a14:backgroundMark x1="27703" y1="26216" x2="27703" y2="2621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1362" t="-3518" r="46702" b="50354"/>
          <a:stretch/>
        </p:blipFill>
        <p:spPr bwMode="auto">
          <a:xfrm rot="10800000">
            <a:off x="10986487" y="-137121"/>
            <a:ext cx="1436651" cy="1397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BFB0B25-3F0D-0563-27CF-F5EC1A764F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148" y="1606754"/>
            <a:ext cx="8251473" cy="34647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242C273-623A-F1EC-5658-A837BB9767AF}"/>
              </a:ext>
            </a:extLst>
          </p:cNvPr>
          <p:cNvSpPr txBox="1"/>
          <p:nvPr/>
        </p:nvSpPr>
        <p:spPr>
          <a:xfrm>
            <a:off x="565148" y="5174777"/>
            <a:ext cx="109960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RandomizedSearchCV</a:t>
            </a:r>
            <a:endParaRPr lang="ru-RU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MLflow</a:t>
            </a:r>
            <a:endParaRPr lang="ru-RU" b="1" dirty="0">
              <a:latin typeface="Consolas" panose="020B060902020403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5502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71475" y="561531"/>
            <a:ext cx="10725150" cy="671957"/>
          </a:xfrm>
        </p:spPr>
        <p:txBody>
          <a:bodyPr/>
          <a:lstStyle/>
          <a:p>
            <a:r>
              <a:rPr lang="ru-RU" sz="3600" b="1" dirty="0">
                <a:latin typeface="Outfit"/>
              </a:rPr>
              <a:t>Экономическая эффективность</a:t>
            </a:r>
          </a:p>
        </p:txBody>
      </p:sp>
      <p:pic>
        <p:nvPicPr>
          <p:cNvPr id="6146" name="Picture 2" descr="Tree leaves Vectors - Download Free High-Quality Vectors | Magnific  (formerly Freepik)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243" b="54324" l="47838" r="94324">
                        <a14:foregroundMark x1="57973" y1="13919" x2="57973" y2="13919"/>
                        <a14:foregroundMark x1="59189" y1="14865" x2="59189" y2="14865"/>
                        <a14:foregroundMark x1="60270" y1="13919" x2="60270" y2="13919"/>
                        <a14:foregroundMark x1="56622" y1="14865" x2="56622" y2="14865"/>
                        <a14:foregroundMark x1="75270" y1="33108" x2="75270" y2="33108"/>
                        <a14:foregroundMark x1="75000" y1="31757" x2="75000" y2="31757"/>
                        <a14:foregroundMark x1="72432" y1="32432" x2="72432" y2="32432"/>
                        <a14:foregroundMark x1="70676" y1="34595" x2="70676" y2="34595"/>
                        <a14:foregroundMark x1="69595" y1="20946" x2="69595" y2="20946"/>
                        <a14:foregroundMark x1="69459" y1="22703" x2="69459" y2="22703"/>
                        <a14:foregroundMark x1="82703" y1="42027" x2="82703" y2="42027"/>
                        <a14:backgroundMark x1="61216" y1="13243" x2="61216" y2="13243"/>
                        <a14:backgroundMark x1="55541" y1="11081" x2="55541" y2="11081"/>
                        <a14:backgroundMark x1="56622" y1="14054" x2="56622" y2="14054"/>
                        <a14:backgroundMark x1="57432" y1="12838" x2="57432" y2="12838"/>
                        <a14:backgroundMark x1="60946" y1="15541" x2="60946" y2="15541"/>
                        <a14:backgroundMark x1="63784" y1="15000" x2="63784" y2="15000"/>
                        <a14:backgroundMark x1="79865" y1="31892" x2="79865" y2="31892"/>
                        <a14:backgroundMark x1="81351" y1="31622" x2="81351" y2="31622"/>
                        <a14:backgroundMark x1="75135" y1="39595" x2="75135" y2="39595"/>
                        <a14:backgroundMark x1="57162" y1="15135" x2="57162" y2="15135"/>
                        <a14:backgroundMark x1="57973" y1="13378" x2="57973" y2="13378"/>
                        <a14:backgroundMark x1="60405" y1="9189" x2="60405" y2="91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5566" b="43974"/>
          <a:stretch/>
        </p:blipFill>
        <p:spPr bwMode="auto">
          <a:xfrm rot="16976911">
            <a:off x="10045537" y="4883772"/>
            <a:ext cx="2290107" cy="2357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screenshot">
            <a:extLst>
              <a:ext uri="{FF2B5EF4-FFF2-40B4-BE49-F238E27FC236}">
                <a16:creationId xmlns:a16="http://schemas.microsoft.com/office/drawing/2014/main" id="{EE0CDCEF-F167-AF51-438E-505E8F9AC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005" y="1583444"/>
            <a:ext cx="4705427" cy="2421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7470530-42F3-4401-0825-A35C2B2751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0081" y="1583444"/>
            <a:ext cx="5228391" cy="2421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9962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Прямоугольник 73"/>
          <p:cNvSpPr/>
          <p:nvPr/>
        </p:nvSpPr>
        <p:spPr>
          <a:xfrm>
            <a:off x="381733" y="577881"/>
            <a:ext cx="8598354" cy="65560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>
              <a:tabLst>
                <a:tab pos="0" algn="l"/>
              </a:tabLst>
            </a:pPr>
            <a:r>
              <a:rPr lang="ru-RU" sz="3600" b="1" dirty="0">
                <a:latin typeface="Outfit"/>
              </a:rPr>
              <a:t>Ключевые выводы для бизнеса</a:t>
            </a:r>
            <a:endParaRPr lang="en-US" sz="3200" b="1" dirty="0">
              <a:solidFill>
                <a:srgbClr val="000000"/>
              </a:solidFill>
              <a:latin typeface="Outfit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81733" y="1458527"/>
            <a:ext cx="8905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Модель работает по заявленным характеристикам и опробована в железе</a:t>
            </a:r>
            <a:endParaRPr lang="ru-RU" b="1" dirty="0">
              <a:latin typeface="Consolas" panose="020B060902020403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81733" y="1916638"/>
            <a:ext cx="8905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Модель способна адаптироваться к уникальным условиям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1733" y="2368493"/>
            <a:ext cx="8905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Принцип работы системы понятен и легко изменяем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1733" y="2820348"/>
            <a:ext cx="8905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Легкое внедрение и обслуживание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1733" y="3275758"/>
            <a:ext cx="8905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Существенная экономия в короткие сроки</a:t>
            </a:r>
          </a:p>
        </p:txBody>
      </p:sp>
      <p:pic>
        <p:nvPicPr>
          <p:cNvPr id="7170" name="Picture 2" descr="Product Management - Free shipping and delivery icon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464366" y="4167571"/>
            <a:ext cx="1702721" cy="1702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Economic - Free business icon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7608" y="4083840"/>
            <a:ext cx="1685516" cy="1685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/>
          <p:cNvSpPr txBox="1"/>
          <p:nvPr/>
        </p:nvSpPr>
        <p:spPr>
          <a:xfrm>
            <a:off x="415677" y="4603432"/>
            <a:ext cx="28196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Мы даем вам рабочий продукт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15873" y="4199696"/>
            <a:ext cx="266421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Вы получаете экономию и заботу о вашем микроклимате</a:t>
            </a:r>
          </a:p>
        </p:txBody>
      </p:sp>
      <p:pic>
        <p:nvPicPr>
          <p:cNvPr id="7176" name="Picture 8" descr="Green leaves Vectors - Download Free High-Quality Vectors | Magnific  (formerly Freepik)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75811" l="0" r="100000">
                        <a14:foregroundMark x1="72162" y1="17162" x2="72162" y2="17162"/>
                        <a14:foregroundMark x1="85676" y1="5000" x2="85676" y2="5000"/>
                        <a14:foregroundMark x1="23378" y1="5000" x2="23378" y2="5000"/>
                        <a14:foregroundMark x1="25135" y1="33378" x2="25135" y2="33378"/>
                        <a14:foregroundMark x1="40270" y1="43649" x2="40270" y2="43649"/>
                        <a14:foregroundMark x1="42432" y1="34595" x2="42432" y2="34595"/>
                        <a14:foregroundMark x1="33649" y1="25541" x2="33649" y2="25541"/>
                        <a14:foregroundMark x1="24595" y1="22027" x2="24595" y2="22027"/>
                        <a14:foregroundMark x1="22297" y1="13243" x2="22297" y2="13243"/>
                        <a14:foregroundMark x1="16081" y1="11757" x2="16081" y2="11757"/>
                        <a14:foregroundMark x1="5000" y1="11351" x2="5000" y2="11351"/>
                        <a14:foregroundMark x1="9054" y1="31486" x2="9054" y2="31486"/>
                        <a14:foregroundMark x1="17162" y1="42703" x2="17162" y2="42703"/>
                        <a14:foregroundMark x1="25811" y1="47162" x2="25811" y2="47162"/>
                        <a14:foregroundMark x1="32568" y1="46622" x2="32568" y2="46622"/>
                        <a14:foregroundMark x1="37162" y1="61757" x2="37162" y2="61757"/>
                        <a14:foregroundMark x1="53784" y1="56216" x2="53784" y2="56216"/>
                        <a14:foregroundMark x1="70270" y1="57297" x2="70270" y2="57297"/>
                        <a14:foregroundMark x1="71351" y1="36486" x2="71351" y2="36486"/>
                        <a14:foregroundMark x1="78108" y1="42838" x2="78108" y2="42838"/>
                        <a14:foregroundMark x1="79730" y1="29054" x2="79730" y2="29054"/>
                        <a14:foregroundMark x1="90405" y1="36216" x2="90405" y2="36216"/>
                        <a14:foregroundMark x1="95000" y1="23514" x2="95000" y2="23514"/>
                        <a14:foregroundMark x1="73919" y1="8919" x2="73919" y2="8919"/>
                        <a14:foregroundMark x1="75405" y1="3514" x2="75405" y2="3514"/>
                        <a14:foregroundMark x1="68784" y1="5000" x2="68784" y2="5000"/>
                        <a14:foregroundMark x1="64324" y1="7432" x2="64324" y2="7432"/>
                        <a14:foregroundMark x1="60541" y1="3784" x2="60541" y2="3784"/>
                        <a14:foregroundMark x1="92703" y1="7432" x2="92703" y2="7432"/>
                        <a14:foregroundMark x1="48649" y1="36486" x2="48649" y2="36486"/>
                        <a14:foregroundMark x1="28649" y1="35000" x2="28649" y2="35000"/>
                        <a14:foregroundMark x1="29324" y1="12432" x2="29324" y2="12432"/>
                        <a14:backgroundMark x1="27027" y1="1081" x2="27027" y2="1081"/>
                        <a14:backgroundMark x1="44595" y1="13649" x2="44595" y2="13649"/>
                        <a14:backgroundMark x1="36351" y1="11351" x2="36351" y2="11351"/>
                        <a14:backgroundMark x1="58919" y1="36216" x2="58919" y2="36216"/>
                        <a14:backgroundMark x1="57973" y1="27027" x2="57973" y2="2702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9618951" y="1063712"/>
            <a:ext cx="2573048" cy="2573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8" descr="Green leaves Vectors - Download Free High-Quality Vectors | Magnific  (formerly Freepik)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5946" b="100000" l="0" r="100000">
                        <a14:foregroundMark x1="12297" y1="99189" x2="12297" y2="99189"/>
                        <a14:foregroundMark x1="22838" y1="86351" x2="22838" y2="86351"/>
                        <a14:foregroundMark x1="12703" y1="84865" x2="12703" y2="84865"/>
                        <a14:foregroundMark x1="40000" y1="84730" x2="40000" y2="84730"/>
                        <a14:backgroundMark x1="33378" y1="94595" x2="33378" y2="94595"/>
                        <a14:backgroundMark x1="65541" y1="94054" x2="65541" y2="94054"/>
                        <a14:backgroundMark x1="64730" y1="93378" x2="64730" y2="93378"/>
                        <a14:backgroundMark x1="66757" y1="92703" x2="66757" y2="92703"/>
                        <a14:backgroundMark x1="86081" y1="88649" x2="86081" y2="8864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4466" y="4292372"/>
            <a:ext cx="2573048" cy="2573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8" descr="Green leaves Vectors - Download Free High-Quality Vectors | Magnific  (formerly Freepik)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5946" b="100000" l="0" r="100000">
                        <a14:foregroundMark x1="12297" y1="99189" x2="12297" y2="99189"/>
                        <a14:foregroundMark x1="22838" y1="86351" x2="22838" y2="86351"/>
                        <a14:foregroundMark x1="12703" y1="84865" x2="12703" y2="84865"/>
                        <a14:foregroundMark x1="40000" y1="84730" x2="40000" y2="84730"/>
                        <a14:backgroundMark x1="33378" y1="94595" x2="33378" y2="94595"/>
                        <a14:backgroundMark x1="65541" y1="94054" x2="65541" y2="94054"/>
                        <a14:backgroundMark x1="64730" y1="93378" x2="64730" y2="93378"/>
                        <a14:backgroundMark x1="66757" y1="92703" x2="66757" y2="92703"/>
                        <a14:backgroundMark x1="86081" y1="88649" x2="86081" y2="8864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5725" y="4284949"/>
            <a:ext cx="2713297" cy="2573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8" descr="Green leaves Vectors - Download Free High-Quality Vectors | Magnific  (formerly Freepik)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5946" b="100000" l="0" r="100000">
                        <a14:foregroundMark x1="12297" y1="99189" x2="12297" y2="99189"/>
                        <a14:foregroundMark x1="22838" y1="86351" x2="22838" y2="86351"/>
                        <a14:foregroundMark x1="12703" y1="84865" x2="12703" y2="84865"/>
                        <a14:foregroundMark x1="40000" y1="84730" x2="40000" y2="84730"/>
                        <a14:backgroundMark x1="33378" y1="94595" x2="33378" y2="94595"/>
                        <a14:backgroundMark x1="65541" y1="94054" x2="65541" y2="94054"/>
                        <a14:backgroundMark x1="64730" y1="93378" x2="64730" y2="93378"/>
                        <a14:backgroundMark x1="66757" y1="92703" x2="66757" y2="92703"/>
                        <a14:backgroundMark x1="86081" y1="88649" x2="86081" y2="8864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4364" y="4284950"/>
            <a:ext cx="2573048" cy="2573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8" descr="Green leaves Vectors - Download Free High-Quality Vectors | Magnific  (formerly Freepik)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5946" b="100000" l="0" r="100000">
                        <a14:foregroundMark x1="12297" y1="99189" x2="12297" y2="99189"/>
                        <a14:foregroundMark x1="22838" y1="86351" x2="22838" y2="86351"/>
                        <a14:foregroundMark x1="12703" y1="84865" x2="12703" y2="84865"/>
                        <a14:foregroundMark x1="40000" y1="84730" x2="40000" y2="84730"/>
                        <a14:backgroundMark x1="33378" y1="94595" x2="33378" y2="94595"/>
                        <a14:backgroundMark x1="65541" y1="94054" x2="65541" y2="94054"/>
                        <a14:backgroundMark x1="64730" y1="93378" x2="64730" y2="93378"/>
                        <a14:backgroundMark x1="66757" y1="92703" x2="66757" y2="92703"/>
                        <a14:backgroundMark x1="86081" y1="88649" x2="86081" y2="8864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875589" y="4284951"/>
            <a:ext cx="2573048" cy="2573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8" descr="Green leaves Vectors - Download Free High-Quality Vectors | Magnific  (formerly Freepik)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65946" b="100000" l="0" r="100000">
                        <a14:foregroundMark x1="12297" y1="99189" x2="12297" y2="99189"/>
                        <a14:foregroundMark x1="22838" y1="86351" x2="22838" y2="86351"/>
                        <a14:foregroundMark x1="12703" y1="84865" x2="12703" y2="84865"/>
                        <a14:foregroundMark x1="40000" y1="84730" x2="40000" y2="84730"/>
                        <a14:backgroundMark x1="33378" y1="94595" x2="33378" y2="94595"/>
                        <a14:backgroundMark x1="65541" y1="94054" x2="65541" y2="94054"/>
                        <a14:backgroundMark x1="64730" y1="93378" x2="64730" y2="93378"/>
                        <a14:backgroundMark x1="66757" y1="92703" x2="66757" y2="92703"/>
                        <a14:backgroundMark x1="86081" y1="88649" x2="86081" y2="8864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571954" y="4284951"/>
            <a:ext cx="2620045" cy="2573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0954628"/>
      </p:ext>
    </p:extLst>
  </p:cSld>
  <p:clrMapOvr>
    <a:masterClrMapping/>
  </p:clrMapOvr>
</p:sld>
</file>

<file path=ppt/theme/theme1.xml><?xml version="1.0" encoding="utf-8"?>
<a:theme xmlns:a="http://schemas.openxmlformats.org/drawingml/2006/main" name="Blue Simple Theme by Slidesgo">
  <a:themeElements>
    <a:clrScheme name="Simple Light">
      <a:dk1>
        <a:srgbClr val="021024"/>
      </a:dk1>
      <a:lt1>
        <a:srgbClr val="CAF2FF"/>
      </a:lt1>
      <a:dk2>
        <a:srgbClr val="023373"/>
      </a:dk2>
      <a:lt2>
        <a:srgbClr val="0487D9"/>
      </a:lt2>
      <a:accent1>
        <a:srgbClr val="63D8F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21024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662</TotalTime>
  <Words>254</Words>
  <Application>Microsoft Office PowerPoint</Application>
  <PresentationFormat>Широкоэкранный</PresentationFormat>
  <Paragraphs>76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7</vt:i4>
      </vt:variant>
    </vt:vector>
  </HeadingPairs>
  <TitlesOfParts>
    <vt:vector size="18" baseType="lpstr">
      <vt:lpstr>Arial</vt:lpstr>
      <vt:lpstr>Arial</vt:lpstr>
      <vt:lpstr>Calibri</vt:lpstr>
      <vt:lpstr>Consolas</vt:lpstr>
      <vt:lpstr>OpenSymbol</vt:lpstr>
      <vt:lpstr>Outfit</vt:lpstr>
      <vt:lpstr>Symbol</vt:lpstr>
      <vt:lpstr>Tahoma</vt:lpstr>
      <vt:lpstr>Wingdings</vt:lpstr>
      <vt:lpstr>Blue Simple Theme by Slidesgo</vt:lpstr>
      <vt:lpstr>Slidesgo Final Pages</vt:lpstr>
      <vt:lpstr>АэроМонитор</vt:lpstr>
      <vt:lpstr>Презентация PowerPoint</vt:lpstr>
      <vt:lpstr>Архитектура системы</vt:lpstr>
      <vt:lpstr>Датчики и признаки</vt:lpstr>
      <vt:lpstr>ML-модель</vt:lpstr>
      <vt:lpstr>Экономическая эффективность</vt:lpstr>
      <vt:lpstr>Презентация PowerPoint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АэроМонитор</dc:title>
  <dc:creator>Denis</dc:creator>
  <cp:lastModifiedBy>PC</cp:lastModifiedBy>
  <cp:revision>53</cp:revision>
  <dcterms:modified xsi:type="dcterms:W3CDTF">2026-06-02T15:21:28Z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2026-04-14T21:24:23Z</dcterms:created>
  <dc:creator>Unknown Creator</dc:creator>
  <dc:description/>
  <dc:language>en-US</dc:language>
  <cp:lastModifiedBy>Unknown Creator</cp:lastModifiedBy>
  <dcterms:modified xsi:type="dcterms:W3CDTF">2026-04-14T21:24:23Z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20</vt:r8>
  </property>
</Properties>
</file>