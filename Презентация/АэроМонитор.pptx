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5" r:id="rId8"/>
    <p:sldId id="264" r:id="rId9"/>
    <p:sldId id="266" r:id="rId10"/>
    <p:sldId id="267" r:id="rId11"/>
    <p:sldId id="268" r:id="rId12"/>
    <p:sldId id="271" r:id="rId13"/>
    <p:sldId id="273" r:id="rId14"/>
    <p:sldId id="274" r:id="rId15"/>
    <p:sldId id="275" r:id="rId16"/>
    <p:sldId id="276" r:id="rId17"/>
    <p:sldId id="277" r:id="rId18"/>
    <p:sldId id="278" r:id="rId19"/>
    <p:sldId id="270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4/14/2026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4/14/2026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4/14/2026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4/14/2026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4/14/2026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4/14/2026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4/14/2026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1298448"/>
            <a:ext cx="1522492" cy="141618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F5DB69-F0BA-0721-14D5-F7C14C3C89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АэроМонитор</a:t>
            </a:r>
            <a:r>
              <a:rPr lang="ru-RU" dirty="0"/>
              <a:t> 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7FF2BC9-DAE6-299C-50F5-5CA53E1EAA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Прототип активной системы контроля качества воздуха для больших зданий</a:t>
            </a:r>
          </a:p>
        </p:txBody>
      </p:sp>
    </p:spTree>
    <p:extLst>
      <p:ext uri="{BB962C8B-B14F-4D97-AF65-F5344CB8AC3E}">
        <p14:creationId xmlns:p14="http://schemas.microsoft.com/office/powerpoint/2010/main" val="2879426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A56E4F-4593-F090-BAAA-15835B318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Команда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85D806-9C5D-64EC-0D4D-7A9F2BA23C37}"/>
              </a:ext>
            </a:extLst>
          </p:cNvPr>
          <p:cNvSpPr txBox="1"/>
          <p:nvPr/>
        </p:nvSpPr>
        <p:spPr>
          <a:xfrm>
            <a:off x="3769744" y="800671"/>
            <a:ext cx="487024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effectLst/>
                <a:latin typeface="Consolas" panose="020B0609020204030204" pitchFamily="49" charset="0"/>
              </a:rPr>
              <a:t>Список команды</a:t>
            </a:r>
            <a:endParaRPr lang="ru-RU" b="0" dirty="0"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chemeClr val="accent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1.   Харлов Максим @maksimkharlovv</a:t>
            </a:r>
          </a:p>
          <a:p>
            <a:r>
              <a:rPr lang="ru-RU" b="0" dirty="0">
                <a:solidFill>
                  <a:schemeClr val="accent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2.   </a:t>
            </a:r>
            <a:r>
              <a:rPr lang="ru-RU" b="0" dirty="0" err="1">
                <a:solidFill>
                  <a:schemeClr val="accent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Лещишин</a:t>
            </a:r>
            <a:r>
              <a:rPr lang="ru-RU" b="0" dirty="0">
                <a:solidFill>
                  <a:schemeClr val="accent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Роман @Roman36519</a:t>
            </a:r>
          </a:p>
          <a:p>
            <a:r>
              <a:rPr lang="ru-RU" b="0" dirty="0">
                <a:solidFill>
                  <a:schemeClr val="accent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3.   Неустроев Илья @NeustroevIL</a:t>
            </a:r>
          </a:p>
          <a:p>
            <a:r>
              <a:rPr lang="ru-RU" b="0" dirty="0">
                <a:solidFill>
                  <a:schemeClr val="accent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5.   </a:t>
            </a:r>
            <a:r>
              <a:rPr lang="ru-RU" b="0" dirty="0" err="1">
                <a:solidFill>
                  <a:schemeClr val="accent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Cавельев</a:t>
            </a:r>
            <a:r>
              <a:rPr lang="ru-RU" b="0" dirty="0">
                <a:solidFill>
                  <a:schemeClr val="accent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Денис @DenisSavelev2025</a:t>
            </a:r>
          </a:p>
          <a:p>
            <a:r>
              <a:rPr lang="ru-RU" b="0" dirty="0">
                <a:solidFill>
                  <a:schemeClr val="accent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6.   </a:t>
            </a:r>
            <a:r>
              <a:rPr lang="ru-RU" b="0" dirty="0" err="1">
                <a:solidFill>
                  <a:schemeClr val="accent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Метиекам</a:t>
            </a:r>
            <a:r>
              <a:rPr lang="ru-RU" b="0" dirty="0">
                <a:solidFill>
                  <a:schemeClr val="accent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 err="1">
                <a:solidFill>
                  <a:schemeClr val="accent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Коаье</a:t>
            </a:r>
            <a:r>
              <a:rPr lang="ru-RU" b="0" dirty="0">
                <a:solidFill>
                  <a:schemeClr val="accent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 Мануэль Патрисия</a:t>
            </a:r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ADBA66-CB68-0276-8050-5DDD5CF0BE2B}"/>
              </a:ext>
            </a:extLst>
          </p:cNvPr>
          <p:cNvSpPr txBox="1"/>
          <p:nvPr/>
        </p:nvSpPr>
        <p:spPr>
          <a:xfrm>
            <a:off x="3769744" y="2778097"/>
            <a:ext cx="5756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latin typeface="Consolas" panose="020B0609020204030204" pitchFamily="49" charset="0"/>
              </a:rPr>
              <a:t>github</a:t>
            </a:r>
            <a:r>
              <a:rPr lang="ru-RU" b="1" dirty="0">
                <a:latin typeface="Consolas" panose="020B0609020204030204" pitchFamily="49" charset="0"/>
              </a:rPr>
              <a:t>: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https://github.com/IlyyaNeustroev/airQuality</a:t>
            </a:r>
            <a:endParaRPr lang="ru-RU" dirty="0">
              <a:solidFill>
                <a:schemeClr val="accent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5844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A56E4F-4593-F090-BAAA-15835B318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85D806-9C5D-64EC-0D4D-7A9F2BA23C37}"/>
              </a:ext>
            </a:extLst>
          </p:cNvPr>
          <p:cNvSpPr txBox="1"/>
          <p:nvPr/>
        </p:nvSpPr>
        <p:spPr>
          <a:xfrm>
            <a:off x="3769744" y="800670"/>
            <a:ext cx="7936301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Consolas" panose="020B0609020204030204" pitchFamily="49" charset="0"/>
              </a:rPr>
              <a:t>Традиционные системы приточно‑вытяжной вентиляции работают по жёстким алгоритмам или вручную, из‑за чего возникают:</a:t>
            </a:r>
          </a:p>
          <a:p>
            <a:pPr algn="l"/>
            <a:endParaRPr lang="ru-RU" sz="1600" b="0" dirty="0">
              <a:effectLst/>
              <a:latin typeface="YS Geo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1" i="0" dirty="0">
                <a:effectLst/>
                <a:latin typeface="YS Geo"/>
              </a:rPr>
              <a:t> Перерасход энергии</a:t>
            </a:r>
            <a:r>
              <a:rPr lang="ru-RU" sz="1600" b="0" i="0" dirty="0">
                <a:effectLst/>
                <a:latin typeface="YS Geo"/>
              </a:rPr>
              <a:t> — вентиляция работает на полную мощность даже в пустых помещениях</a:t>
            </a:r>
          </a:p>
          <a:p>
            <a:pPr algn="l"/>
            <a:endParaRPr lang="ru-RU" sz="1600" b="0" i="0" dirty="0">
              <a:effectLst/>
              <a:latin typeface="YS Geo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1" i="0" dirty="0">
                <a:effectLst/>
                <a:latin typeface="YS Geo"/>
              </a:rPr>
              <a:t> Неравномерное качество воздуха</a:t>
            </a:r>
            <a:r>
              <a:rPr lang="ru-RU" sz="1600" b="0" i="0" dirty="0">
                <a:effectLst/>
                <a:latin typeface="YS Geo"/>
              </a:rPr>
              <a:t> — в занятых помещениях может быть высокий уровень CO₂ и загрязнителей, а в незанятых — избыточный приток свежего воздуха</a:t>
            </a:r>
          </a:p>
          <a:p>
            <a:pPr algn="l"/>
            <a:endParaRPr lang="ru-RU" sz="1600" b="0" i="0" dirty="0">
              <a:effectLst/>
              <a:latin typeface="YS Geo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1" i="0" dirty="0">
                <a:effectLst/>
                <a:latin typeface="YS Geo"/>
              </a:rPr>
              <a:t> Высокие эксплуатационные затраты</a:t>
            </a:r>
            <a:r>
              <a:rPr lang="ru-RU" sz="1600" b="0" i="0" dirty="0">
                <a:effectLst/>
                <a:latin typeface="YS Geo"/>
              </a:rPr>
              <a:t> — преждевременный износ оборудования, частая замена фильтров, большие счета</a:t>
            </a:r>
            <a:r>
              <a:rPr lang="en-US" sz="1600" b="0" i="0" dirty="0">
                <a:effectLst/>
                <a:latin typeface="YS Geo"/>
              </a:rPr>
              <a:t> </a:t>
            </a:r>
            <a:r>
              <a:rPr lang="ru-RU" sz="1600" b="0" i="0" dirty="0">
                <a:effectLst/>
                <a:latin typeface="YS Geo"/>
              </a:rPr>
              <a:t>за электричество и отопление</a:t>
            </a:r>
          </a:p>
          <a:p>
            <a:pPr algn="l"/>
            <a:endParaRPr lang="ru-RU" sz="1600" b="0" i="0" dirty="0">
              <a:effectLst/>
              <a:latin typeface="YS Geo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1" i="0" dirty="0">
                <a:effectLst/>
                <a:latin typeface="YS Geo"/>
              </a:rPr>
              <a:t> Зависимость от человеческого фактора</a:t>
            </a:r>
            <a:r>
              <a:rPr lang="ru-RU" sz="1600" b="0" i="0" dirty="0">
                <a:effectLst/>
                <a:latin typeface="YS Geo"/>
              </a:rPr>
              <a:t> — необходимость вручную регулировать клапаны и режимы, риск пропустить </a:t>
            </a:r>
          </a:p>
          <a:p>
            <a:pPr algn="l"/>
            <a:r>
              <a:rPr lang="ru-RU" sz="1600" b="0" i="0" dirty="0">
                <a:effectLst/>
                <a:latin typeface="YS Geo"/>
              </a:rPr>
              <a:t>ухудшение качества воздуха.</a:t>
            </a:r>
          </a:p>
          <a:p>
            <a:pPr algn="l"/>
            <a:endParaRPr lang="ru-RU" sz="1600" b="0" i="0" dirty="0">
              <a:effectLst/>
              <a:latin typeface="YS Geo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1" i="0" dirty="0">
                <a:effectLst/>
                <a:latin typeface="YS Geo"/>
              </a:rPr>
              <a:t> Потери тепла через рекуператор</a:t>
            </a:r>
            <a:r>
              <a:rPr lang="ru-RU" sz="1600" b="0" i="0" dirty="0">
                <a:effectLst/>
                <a:latin typeface="YS Geo"/>
              </a:rPr>
              <a:t> — неоптимальный режим работы снижает эффективность рекуперации, особенно в</a:t>
            </a:r>
            <a:r>
              <a:rPr lang="en-US" sz="1600" b="0" i="0" dirty="0">
                <a:effectLst/>
                <a:latin typeface="YS Geo"/>
              </a:rPr>
              <a:t> </a:t>
            </a:r>
            <a:r>
              <a:rPr lang="ru-RU" sz="1600" b="0" i="0" dirty="0">
                <a:effectLst/>
                <a:latin typeface="YS Geo"/>
              </a:rPr>
              <a:t>холодное время года.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56254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A56E4F-4593-F090-BAAA-15835B318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Решение</a:t>
            </a:r>
          </a:p>
        </p:txBody>
      </p:sp>
      <p:pic>
        <p:nvPicPr>
          <p:cNvPr id="6" name="Рисунок 5" descr="Изображение выглядит как снимок экрана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CC87AD08-0AA1-6BBD-1FB8-E1631F90F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2715" y="2929424"/>
            <a:ext cx="5909095" cy="34889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1DC7550-D225-85C3-EB52-361ABC3EA0BE}"/>
              </a:ext>
            </a:extLst>
          </p:cNvPr>
          <p:cNvSpPr txBox="1"/>
          <p:nvPr/>
        </p:nvSpPr>
        <p:spPr>
          <a:xfrm>
            <a:off x="3899433" y="2929424"/>
            <a:ext cx="2031325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Consolas" panose="020B0609020204030204" pitchFamily="49" charset="0"/>
              </a:rPr>
              <a:t>Arduino</a:t>
            </a:r>
            <a:r>
              <a:rPr lang="ru-RU" sz="1100" b="1" dirty="0">
                <a:latin typeface="Consolas" panose="020B0609020204030204" pitchFamily="49" charset="0"/>
              </a:rPr>
              <a:t> + </a:t>
            </a:r>
            <a:r>
              <a:rPr lang="en-US" sz="1100" b="1" dirty="0">
                <a:latin typeface="Consolas" panose="020B0609020204030204" pitchFamily="49" charset="0"/>
              </a:rPr>
              <a:t>Wi-Fi </a:t>
            </a:r>
            <a:r>
              <a:rPr lang="ru-RU" sz="1100" b="1" dirty="0">
                <a:latin typeface="Consolas" panose="020B0609020204030204" pitchFamily="49" charset="0"/>
              </a:rPr>
              <a:t>модуль</a:t>
            </a:r>
          </a:p>
          <a:p>
            <a:r>
              <a:rPr lang="en-US" sz="1100" b="1" dirty="0">
                <a:latin typeface="Consolas" panose="020B0609020204030204" pitchFamily="49" charset="0"/>
              </a:rPr>
              <a:t>WEB</a:t>
            </a:r>
            <a:r>
              <a:rPr lang="ru-RU" sz="1100" b="1" dirty="0">
                <a:latin typeface="Consolas" panose="020B0609020204030204" pitchFamily="49" charset="0"/>
              </a:rPr>
              <a:t> сервер с приложением</a:t>
            </a:r>
          </a:p>
          <a:p>
            <a:r>
              <a:rPr lang="en-US" sz="1100" b="1" dirty="0">
                <a:latin typeface="Consolas" panose="020B0609020204030204" pitchFamily="49" charset="0"/>
              </a:rPr>
              <a:t>ML</a:t>
            </a:r>
            <a:r>
              <a:rPr lang="ru-RU" sz="1100" b="1" dirty="0">
                <a:latin typeface="Consolas" panose="020B0609020204030204" pitchFamily="49" charset="0"/>
              </a:rPr>
              <a:t>-модель классификации</a:t>
            </a:r>
          </a:p>
          <a:p>
            <a:r>
              <a:rPr lang="ru-RU" sz="1100" b="1" dirty="0">
                <a:latin typeface="Consolas" panose="020B0609020204030204" pitchFamily="49" charset="0"/>
              </a:rPr>
              <a:t>Управление нагрузкой: </a:t>
            </a:r>
          </a:p>
          <a:p>
            <a:r>
              <a:rPr lang="ru-RU" sz="1100" b="1" dirty="0">
                <a:latin typeface="Consolas" panose="020B0609020204030204" pitchFamily="49" charset="0"/>
              </a:rPr>
              <a:t>вентиляторы и клапаны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84044" y="773083"/>
            <a:ext cx="904927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latin typeface="Consolas" panose="020B0609020204030204" pitchFamily="49" charset="0"/>
              </a:rPr>
              <a:t>Интеллектуальная, энергоэффективная система вентиляции на базе ML. </a:t>
            </a:r>
          </a:p>
          <a:p>
            <a:r>
              <a:rPr lang="ru-RU" b="1" dirty="0">
                <a:latin typeface="Consolas" panose="020B0609020204030204" pitchFamily="49" charset="0"/>
              </a:rPr>
              <a:t>Ключевые преимущества — экономия энергии и улучшение качества воздуха </a:t>
            </a:r>
          </a:p>
          <a:p>
            <a:r>
              <a:rPr lang="ru-RU" b="1" dirty="0">
                <a:latin typeface="Consolas" panose="020B0609020204030204" pitchFamily="49" charset="0"/>
              </a:rPr>
              <a:t>за счёт точечного управления. </a:t>
            </a:r>
          </a:p>
          <a:p>
            <a:r>
              <a:rPr lang="ru-RU" b="1" dirty="0">
                <a:latin typeface="Consolas" panose="020B0609020204030204" pitchFamily="49" charset="0"/>
              </a:rPr>
              <a:t>Основные вызовы — калибровка датчиков и надёжность ML‑модели. </a:t>
            </a:r>
          </a:p>
          <a:p>
            <a:r>
              <a:rPr lang="ru-RU" b="1" dirty="0">
                <a:latin typeface="Consolas" panose="020B0609020204030204" pitchFamily="49" charset="0"/>
              </a:rPr>
              <a:t>При грамотном проектировании и тестировании система окупается за счёт </a:t>
            </a:r>
          </a:p>
          <a:p>
            <a:r>
              <a:rPr lang="ru-RU" b="1" dirty="0">
                <a:latin typeface="Consolas" panose="020B0609020204030204" pitchFamily="49" charset="0"/>
              </a:rPr>
              <a:t>снижения энергопотребления и повышения комфорта/безопасности в здании</a:t>
            </a:r>
          </a:p>
        </p:txBody>
      </p:sp>
    </p:spTree>
    <p:extLst>
      <p:ext uri="{BB962C8B-B14F-4D97-AF65-F5344CB8AC3E}">
        <p14:creationId xmlns:p14="http://schemas.microsoft.com/office/powerpoint/2010/main" val="3575480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A56E4F-4593-F090-BAAA-15835B318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65" y="1123837"/>
            <a:ext cx="3350030" cy="4601183"/>
          </a:xfrm>
        </p:spPr>
        <p:txBody>
          <a:bodyPr>
            <a:normAutofit/>
          </a:bodyPr>
          <a:lstStyle/>
          <a:p>
            <a:r>
              <a:rPr lang="ru-RU" sz="2800" dirty="0"/>
              <a:t>Как датчики </a:t>
            </a:r>
            <a:br>
              <a:rPr lang="ru-RU" sz="2800" dirty="0"/>
            </a:br>
            <a:r>
              <a:rPr lang="ru-RU" sz="2800" dirty="0"/>
              <a:t>превращаются в </a:t>
            </a:r>
            <a:br>
              <a:rPr lang="ru-RU" sz="2800" dirty="0"/>
            </a:br>
            <a:r>
              <a:rPr lang="ru-RU" sz="2800" dirty="0"/>
              <a:t>интеллект: признаки для модели качества воздуха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8095" y="632546"/>
            <a:ext cx="8617527" cy="5583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945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A56E4F-4593-F090-BAAA-15835B318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65" y="1123837"/>
            <a:ext cx="3350030" cy="4601183"/>
          </a:xfrm>
        </p:spPr>
        <p:txBody>
          <a:bodyPr>
            <a:normAutofit/>
          </a:bodyPr>
          <a:lstStyle/>
          <a:p>
            <a:r>
              <a:rPr lang="ru-RU" sz="2800" dirty="0"/>
              <a:t>Ключевые моменты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49287" y="872836"/>
            <a:ext cx="77973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latin typeface="Consolas" panose="020B0609020204030204" pitchFamily="49" charset="0"/>
              </a:rPr>
              <a:t>На вход </a:t>
            </a:r>
            <a:r>
              <a:rPr lang="ru-RU" sz="1600" dirty="0">
                <a:latin typeface="YS Geo"/>
              </a:rPr>
              <a:t>системы поступают показания с датчиков, дни недели, признак состояния клапана, время суток, сезон, занятость помещения, температура и влажность с уличных датчиков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49287" y="1703833"/>
            <a:ext cx="77973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latin typeface="Consolas" panose="020B0609020204030204" pitchFamily="49" charset="0"/>
              </a:rPr>
              <a:t>На выходе </a:t>
            </a:r>
            <a:r>
              <a:rPr lang="ru-RU" sz="1600" dirty="0">
                <a:latin typeface="YS Geo"/>
              </a:rPr>
              <a:t>имеем класс качества воздуха </a:t>
            </a:r>
            <a:r>
              <a:rPr lang="en-US" sz="1600" dirty="0">
                <a:latin typeface="YS Geo"/>
              </a:rPr>
              <a:t>AQI</a:t>
            </a:r>
            <a:r>
              <a:rPr lang="ru-RU" sz="1600" dirty="0">
                <a:latin typeface="YS Geo"/>
              </a:rPr>
              <a:t>, по которому определяем какой клапан открыть, включить двигатели вентиляторов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49286" y="2319386"/>
            <a:ext cx="77973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latin typeface="Consolas" panose="020B0609020204030204" pitchFamily="49" charset="0"/>
              </a:rPr>
              <a:t>Экономия энергии:</a:t>
            </a:r>
            <a:r>
              <a:rPr lang="ru-RU" dirty="0"/>
              <a:t> вентиляция работает только там, где нужно, и когда нужно, а не постоянно и во всех помещениях. Актуально в крупных зданиях, где нагрузки 10-100 КВт </a:t>
            </a:r>
            <a:endParaRPr lang="ru-RU" sz="1600" dirty="0">
              <a:latin typeface="YS Geo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49285" y="3198703"/>
            <a:ext cx="77973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/>
              <a:t>Улучшение качества воздуха:</a:t>
            </a:r>
            <a:r>
              <a:rPr lang="ru-RU" dirty="0"/>
              <a:t> оперативное реагирование на ухудшение параметров</a:t>
            </a:r>
            <a:endParaRPr lang="ru-RU" sz="1600" dirty="0">
              <a:latin typeface="YS Ge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49285" y="3817763"/>
            <a:ext cx="77973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/>
              <a:t>Автоматизация:</a:t>
            </a:r>
            <a:r>
              <a:rPr lang="ru-RU" dirty="0"/>
              <a:t> минимизация ручного управления, снижение нагрузки </a:t>
            </a:r>
          </a:p>
          <a:p>
            <a:r>
              <a:rPr lang="ru-RU" dirty="0"/>
              <a:t>      на персонал</a:t>
            </a:r>
            <a:endParaRPr lang="ru-RU" sz="1600" dirty="0">
              <a:latin typeface="YS Geo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49285" y="4426303"/>
            <a:ext cx="77973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/>
              <a:t>Прогнозирование:</a:t>
            </a:r>
            <a:r>
              <a:rPr lang="ru-RU" dirty="0"/>
              <a:t> ML‑модель может выявлять тренды и предупреждать о возможном ухудшении воздуха.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9285" y="5079647"/>
            <a:ext cx="77973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/>
              <a:t>Минусы:</a:t>
            </a:r>
            <a:r>
              <a:rPr lang="ru-RU" dirty="0"/>
              <a:t> зависимость от </a:t>
            </a:r>
            <a:r>
              <a:rPr lang="en-US" dirty="0"/>
              <a:t>ML</a:t>
            </a:r>
            <a:r>
              <a:rPr lang="ru-RU" dirty="0"/>
              <a:t>, калибровка датчиков, определенная схема</a:t>
            </a:r>
          </a:p>
          <a:p>
            <a:r>
              <a:rPr lang="ru-RU" dirty="0"/>
              <a:t>      вентиляции с центральным приточно-вытяжными каналами и    </a:t>
            </a:r>
          </a:p>
          <a:p>
            <a:r>
              <a:rPr lang="ru-RU" dirty="0"/>
              <a:t>      отдельными каналами для каждого помещения</a:t>
            </a:r>
          </a:p>
        </p:txBody>
      </p:sp>
    </p:spTree>
    <p:extLst>
      <p:ext uri="{BB962C8B-B14F-4D97-AF65-F5344CB8AC3E}">
        <p14:creationId xmlns:p14="http://schemas.microsoft.com/office/powerpoint/2010/main" val="32250430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A56E4F-4593-F090-BAAA-15835B318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65" y="1123837"/>
            <a:ext cx="3350030" cy="4601183"/>
          </a:xfrm>
        </p:spPr>
        <p:txBody>
          <a:bodyPr>
            <a:normAutofit/>
          </a:bodyPr>
          <a:lstStyle/>
          <a:p>
            <a:r>
              <a:rPr lang="ru-RU" sz="2800" dirty="0"/>
              <a:t>Целевая аудитория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66159" y="66502"/>
            <a:ext cx="7797338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400" b="1" dirty="0"/>
              <a:t>Управляющие компании и собственники коммерческой недвижимости</a:t>
            </a:r>
            <a:endParaRPr lang="ru-RU" sz="1000" dirty="0"/>
          </a:p>
          <a:p>
            <a:pPr lvl="1"/>
            <a:r>
              <a:rPr lang="ru-RU" sz="1000" b="1" dirty="0"/>
              <a:t>Примеры:</a:t>
            </a:r>
            <a:r>
              <a:rPr lang="ru-RU" sz="1000" dirty="0"/>
              <a:t> бизнес‑центры, торговые центры, гостиницы.</a:t>
            </a:r>
          </a:p>
          <a:p>
            <a:pPr lvl="1"/>
            <a:r>
              <a:rPr lang="ru-RU" sz="1000" b="1" dirty="0"/>
              <a:t>Потребности:</a:t>
            </a:r>
            <a:endParaRPr lang="ru-RU" sz="1000" dirty="0"/>
          </a:p>
          <a:p>
            <a:pPr lvl="2"/>
            <a:r>
              <a:rPr lang="ru-RU" sz="1000" dirty="0"/>
              <a:t>снижение эксплуатационных расходов (особенно на электроэнергию);</a:t>
            </a:r>
          </a:p>
          <a:p>
            <a:pPr lvl="2"/>
            <a:r>
              <a:rPr lang="ru-RU" sz="1000" dirty="0"/>
              <a:t>соответствие санитарным нормам и стандартам (ASHRAE, ГОСТ);</a:t>
            </a:r>
          </a:p>
          <a:p>
            <a:pPr lvl="2"/>
            <a:r>
              <a:rPr lang="ru-RU" sz="1000" dirty="0"/>
              <a:t>обеспечение комфорта арендаторов/гостей;</a:t>
            </a:r>
          </a:p>
          <a:p>
            <a:pPr lvl="2"/>
            <a:r>
              <a:rPr lang="ru-RU" sz="1000" dirty="0"/>
              <a:t>автоматизация инженерных систем.</a:t>
            </a:r>
          </a:p>
          <a:p>
            <a:pPr lvl="1"/>
            <a:r>
              <a:rPr lang="ru-RU" sz="1000" b="1" dirty="0"/>
              <a:t>Мотивация к покупке:</a:t>
            </a:r>
            <a:r>
              <a:rPr lang="ru-RU" sz="1000" dirty="0"/>
              <a:t> экономия на счетах за электричество (до 40 %), повышение привлекательности объекта для арендаторов.</a:t>
            </a:r>
          </a:p>
          <a:p>
            <a:pPr lvl="1"/>
            <a:r>
              <a:rPr lang="ru-RU" sz="1000" b="1" dirty="0"/>
              <a:t>Бюджет:</a:t>
            </a:r>
            <a:r>
              <a:rPr lang="ru-RU" sz="1000" dirty="0"/>
              <a:t> высокий, готовы инвестировать в долгосрочную экономию.</a:t>
            </a:r>
          </a:p>
          <a:p>
            <a:pPr lvl="1"/>
            <a:endParaRPr lang="ru-RU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400" b="1" dirty="0"/>
              <a:t>Административные и государственные учреждения</a:t>
            </a:r>
            <a:endParaRPr lang="ru-RU" sz="1000" b="1" dirty="0"/>
          </a:p>
          <a:p>
            <a:pPr lvl="1"/>
            <a:r>
              <a:rPr lang="ru-RU" sz="1000" b="1" dirty="0"/>
              <a:t>Примеры:</a:t>
            </a:r>
            <a:r>
              <a:rPr lang="ru-RU" sz="1000" dirty="0"/>
              <a:t> школы, университеты, больницы, поликлиники, административные здания.</a:t>
            </a:r>
          </a:p>
          <a:p>
            <a:pPr lvl="1"/>
            <a:r>
              <a:rPr lang="ru-RU" sz="1000" b="1" dirty="0"/>
              <a:t>Потребности:</a:t>
            </a:r>
            <a:endParaRPr lang="ru-RU" sz="1000" dirty="0"/>
          </a:p>
          <a:p>
            <a:pPr lvl="2"/>
            <a:r>
              <a:rPr lang="ru-RU" sz="1000" dirty="0"/>
              <a:t>поддержание здорового микроклимата для сотрудников и посетителей;</a:t>
            </a:r>
          </a:p>
          <a:p>
            <a:pPr lvl="2"/>
            <a:r>
              <a:rPr lang="ru-RU" sz="1000" dirty="0"/>
              <a:t>соблюдение строгих санитарных норм;</a:t>
            </a:r>
          </a:p>
          <a:p>
            <a:pPr lvl="2"/>
            <a:r>
              <a:rPr lang="ru-RU" sz="1000" dirty="0"/>
              <a:t>предотвращение распространения инфекций (особенно актуально для медучреждений);</a:t>
            </a:r>
          </a:p>
          <a:p>
            <a:pPr lvl="2"/>
            <a:r>
              <a:rPr lang="ru-RU" sz="1000" dirty="0"/>
              <a:t>отчётность и мониторинг в реальном времени.</a:t>
            </a:r>
          </a:p>
          <a:p>
            <a:pPr lvl="1"/>
            <a:r>
              <a:rPr lang="ru-RU" sz="1000" b="1" dirty="0"/>
              <a:t>Мотивация:</a:t>
            </a:r>
            <a:r>
              <a:rPr lang="ru-RU" sz="1000" dirty="0"/>
              <a:t> забота о здоровье людей, соответствие регуляторным требованиям.</a:t>
            </a:r>
          </a:p>
          <a:p>
            <a:pPr lvl="1"/>
            <a:r>
              <a:rPr lang="ru-RU" sz="1000" b="1" dirty="0"/>
              <a:t>Бюджет:</a:t>
            </a:r>
            <a:r>
              <a:rPr lang="ru-RU" sz="1000" dirty="0"/>
              <a:t> средний/высокий, часто выделяются целевые средства на модернизацию.</a:t>
            </a:r>
          </a:p>
          <a:p>
            <a:pPr lvl="1"/>
            <a:r>
              <a:rPr lang="ru-RU" sz="1000" b="1" dirty="0"/>
              <a:t>Ключевые требования:</a:t>
            </a:r>
            <a:r>
              <a:rPr lang="ru-RU" sz="1000" dirty="0"/>
              <a:t> надёжность, документированная точность измерений, интеграция с BMS.</a:t>
            </a:r>
          </a:p>
          <a:p>
            <a:pPr lvl="1"/>
            <a:endParaRPr lang="ru-RU" sz="14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400" b="1" dirty="0"/>
              <a:t>Промышленные предприятия</a:t>
            </a:r>
            <a:endParaRPr lang="ru-RU" sz="1000" b="1" dirty="0"/>
          </a:p>
          <a:p>
            <a:pPr lvl="1"/>
            <a:r>
              <a:rPr lang="ru-RU" sz="1000" b="1" dirty="0"/>
              <a:t>Примеры:</a:t>
            </a:r>
            <a:r>
              <a:rPr lang="ru-RU" sz="1000" dirty="0"/>
              <a:t> заводы, склады, логистические центры, производственные цеха.</a:t>
            </a:r>
          </a:p>
          <a:p>
            <a:pPr lvl="1"/>
            <a:r>
              <a:rPr lang="ru-RU" sz="1000" b="1" dirty="0"/>
              <a:t>Потребности:</a:t>
            </a:r>
            <a:endParaRPr lang="ru-RU" sz="1000" dirty="0"/>
          </a:p>
          <a:p>
            <a:pPr lvl="2"/>
            <a:r>
              <a:rPr lang="ru-RU" sz="1000" dirty="0"/>
              <a:t>контроль опасных газов (CO, ЛОС) для безопасности персонала;</a:t>
            </a:r>
          </a:p>
          <a:p>
            <a:pPr lvl="2"/>
            <a:r>
              <a:rPr lang="ru-RU" sz="1000" dirty="0"/>
              <a:t>оптимизация вентиляции в зонах с разным уровнем загрязнения;</a:t>
            </a:r>
          </a:p>
          <a:p>
            <a:pPr lvl="2"/>
            <a:r>
              <a:rPr lang="ru-RU" sz="1000" dirty="0"/>
              <a:t>предотвращение аварийных ситуаций;</a:t>
            </a:r>
          </a:p>
          <a:p>
            <a:pPr lvl="2"/>
            <a:r>
              <a:rPr lang="ru-RU" sz="1000" dirty="0"/>
              <a:t>соответствие нормам охраны труда.</a:t>
            </a:r>
          </a:p>
          <a:p>
            <a:pPr lvl="1"/>
            <a:r>
              <a:rPr lang="ru-RU" sz="1000" b="1" dirty="0"/>
              <a:t>Мотивация:</a:t>
            </a:r>
            <a:r>
              <a:rPr lang="ru-RU" sz="1000" dirty="0"/>
              <a:t> безопасность персонала, снижение рисков штрафов и аварий.</a:t>
            </a:r>
          </a:p>
          <a:p>
            <a:pPr lvl="1"/>
            <a:r>
              <a:rPr lang="ru-RU" sz="1000" b="1" dirty="0"/>
              <a:t>Бюджет:</a:t>
            </a:r>
            <a:r>
              <a:rPr lang="ru-RU" sz="1000" dirty="0"/>
              <a:t> высокий (особенно в опасных производствах).</a:t>
            </a:r>
          </a:p>
          <a:p>
            <a:pPr lvl="1"/>
            <a:r>
              <a:rPr lang="ru-RU" sz="1000" b="1" dirty="0"/>
              <a:t>Ключевые требования:</a:t>
            </a:r>
            <a:r>
              <a:rPr lang="ru-RU" sz="1000" dirty="0"/>
              <a:t> взрывозащищённое исполнение датчиков, высокая надёжность, устойчивость к агрессивным средам.</a:t>
            </a:r>
          </a:p>
          <a:p>
            <a:pPr lvl="1"/>
            <a:endParaRPr lang="ru-RU" sz="10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400" b="1" dirty="0"/>
              <a:t>Операторы дата‑центров и серверных помещений</a:t>
            </a:r>
            <a:endParaRPr lang="ru-RU" sz="1400" dirty="0"/>
          </a:p>
          <a:p>
            <a:pPr lvl="1"/>
            <a:r>
              <a:rPr lang="ru-RU" sz="1000" b="1" dirty="0"/>
              <a:t>Потребности:</a:t>
            </a:r>
            <a:endParaRPr lang="ru-RU" sz="1000" dirty="0"/>
          </a:p>
          <a:p>
            <a:pPr lvl="2"/>
            <a:r>
              <a:rPr lang="ru-RU" sz="1000" dirty="0"/>
              <a:t>контроль температуры и влажности для стабильной работы оборудования;</a:t>
            </a:r>
          </a:p>
          <a:p>
            <a:pPr lvl="2"/>
            <a:r>
              <a:rPr lang="ru-RU" sz="1000" dirty="0"/>
              <a:t>минимизация энергопотребления систем охлаждения;</a:t>
            </a:r>
          </a:p>
          <a:p>
            <a:pPr lvl="2"/>
            <a:r>
              <a:rPr lang="ru-RU" sz="1000" dirty="0"/>
              <a:t>раннее обнаружение утечек хладагентов или других газов.</a:t>
            </a:r>
          </a:p>
          <a:p>
            <a:pPr lvl="1"/>
            <a:r>
              <a:rPr lang="ru-RU" sz="1000" b="1" dirty="0"/>
              <a:t>Мотивация:</a:t>
            </a:r>
            <a:r>
              <a:rPr lang="ru-RU" sz="1000" dirty="0"/>
              <a:t> предотвращение простоев оборудования, экономия на охлаждении.</a:t>
            </a:r>
          </a:p>
          <a:p>
            <a:pPr lvl="1"/>
            <a:r>
              <a:rPr lang="ru-RU" sz="1000" b="1" dirty="0"/>
              <a:t>Бюджет:</a:t>
            </a:r>
            <a:r>
              <a:rPr lang="ru-RU" sz="1000" dirty="0"/>
              <a:t> очень высокий, приоритет — надёжность и безотказность.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000" dirty="0">
              <a:latin typeface="YS Geo"/>
            </a:endParaRPr>
          </a:p>
        </p:txBody>
      </p:sp>
    </p:spTree>
    <p:extLst>
      <p:ext uri="{BB962C8B-B14F-4D97-AF65-F5344CB8AC3E}">
        <p14:creationId xmlns:p14="http://schemas.microsoft.com/office/powerpoint/2010/main" val="2275226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A56E4F-4593-F090-BAAA-15835B318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65" y="1123837"/>
            <a:ext cx="3350030" cy="4601183"/>
          </a:xfrm>
        </p:spPr>
        <p:txBody>
          <a:bodyPr>
            <a:normAutofit/>
          </a:bodyPr>
          <a:lstStyle/>
          <a:p>
            <a:r>
              <a:rPr lang="ru-RU" sz="2800" dirty="0"/>
              <a:t>Гипотеза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85D806-9C5D-64EC-0D4D-7A9F2BA23C37}"/>
              </a:ext>
            </a:extLst>
          </p:cNvPr>
          <p:cNvSpPr txBox="1"/>
          <p:nvPr/>
        </p:nvSpPr>
        <p:spPr>
          <a:xfrm>
            <a:off x="3636740" y="2516487"/>
            <a:ext cx="793630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YS Geo"/>
              </a:rPr>
              <a:t>Если внедрить автоматизированную систему контроля качества воздуха с </a:t>
            </a:r>
          </a:p>
          <a:p>
            <a:r>
              <a:rPr lang="ru-RU" sz="1600" dirty="0">
                <a:latin typeface="YS Geo"/>
              </a:rPr>
              <a:t>ML‑моделью для управления приточно‑вытяжной вентиляцией в больших </a:t>
            </a:r>
          </a:p>
          <a:p>
            <a:r>
              <a:rPr lang="ru-RU" sz="1600" dirty="0">
                <a:latin typeface="YS Geo"/>
              </a:rPr>
              <a:t>зданиях, то можно сократить энергопотребление на 25–40 % по сравнению </a:t>
            </a:r>
          </a:p>
          <a:p>
            <a:r>
              <a:rPr lang="ru-RU" sz="1600" dirty="0">
                <a:latin typeface="YS Geo"/>
              </a:rPr>
              <a:t>с традиционной круглосуточной вентиляцией и улучшить качество воздуха </a:t>
            </a:r>
          </a:p>
          <a:p>
            <a:r>
              <a:rPr lang="ru-RU" sz="1600" dirty="0">
                <a:latin typeface="YS Geo"/>
              </a:rPr>
              <a:t>там где необходимо, потому что система будет активировать проветривание </a:t>
            </a:r>
          </a:p>
          <a:p>
            <a:r>
              <a:rPr lang="ru-RU" sz="1600" dirty="0">
                <a:latin typeface="YS Geo"/>
              </a:rPr>
              <a:t>только в тех помещениях, где реально зафиксировано ухудшение качества </a:t>
            </a:r>
          </a:p>
          <a:p>
            <a:r>
              <a:rPr lang="ru-RU" sz="1600" dirty="0">
                <a:latin typeface="YS Geo"/>
              </a:rPr>
              <a:t>воздуха, а не работать по жёсткому расписанию или круглосуточно, кроме того система будет прогнозировать возможные пики (когда много народа или другой фактор, скажем загрязнение в </a:t>
            </a:r>
            <a:r>
              <a:rPr lang="en-US" sz="1600" dirty="0">
                <a:latin typeface="YS Geo"/>
              </a:rPr>
              <a:t>n-</a:t>
            </a:r>
            <a:r>
              <a:rPr lang="ru-RU" sz="1600" dirty="0">
                <a:latin typeface="YS Geo"/>
              </a:rPr>
              <a:t>ом помещении</a:t>
            </a:r>
            <a:r>
              <a:rPr lang="en-US" sz="1600" dirty="0">
                <a:latin typeface="YS Geo"/>
              </a:rPr>
              <a:t>)</a:t>
            </a:r>
            <a:endParaRPr lang="ru-RU" sz="1600" dirty="0">
              <a:latin typeface="YS Geo"/>
            </a:endParaRPr>
          </a:p>
        </p:txBody>
      </p:sp>
    </p:spTree>
    <p:extLst>
      <p:ext uri="{BB962C8B-B14F-4D97-AF65-F5344CB8AC3E}">
        <p14:creationId xmlns:p14="http://schemas.microsoft.com/office/powerpoint/2010/main" val="6951953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A56E4F-4593-F090-BAAA-15835B318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65" y="1123837"/>
            <a:ext cx="3350030" cy="4601183"/>
          </a:xfrm>
        </p:spPr>
        <p:txBody>
          <a:bodyPr>
            <a:normAutofit/>
          </a:bodyPr>
          <a:lstStyle/>
          <a:p>
            <a:r>
              <a:rPr lang="ru-RU" sz="2800" dirty="0"/>
              <a:t>Конкуренты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8095" y="1700209"/>
            <a:ext cx="8578734" cy="3654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10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A56E4F-4593-F090-BAAA-15835B31863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123950"/>
            <a:ext cx="3349625" cy="4600575"/>
          </a:xfrm>
        </p:spPr>
        <p:txBody>
          <a:bodyPr>
            <a:normAutofit/>
          </a:bodyPr>
          <a:lstStyle/>
          <a:p>
            <a:r>
              <a:rPr lang="ru-RU" sz="2800" dirty="0"/>
              <a:t>Примерная архитектура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4057" y="1062933"/>
            <a:ext cx="9134795" cy="5795067"/>
          </a:xfrm>
          <a:prstGeom prst="rect">
            <a:avLst/>
          </a:prstGeom>
        </p:spPr>
      </p:pic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5EA56E4F-4593-F090-BAAA-15835B31863E}"/>
              </a:ext>
            </a:extLst>
          </p:cNvPr>
          <p:cNvSpPr txBox="1">
            <a:spLocks/>
          </p:cNvSpPr>
          <p:nvPr/>
        </p:nvSpPr>
        <p:spPr>
          <a:xfrm>
            <a:off x="532014" y="349657"/>
            <a:ext cx="10665230" cy="622932"/>
          </a:xfrm>
          <a:prstGeom prst="rect">
            <a:avLst/>
          </a:prstGeom>
          <a:solidFill>
            <a:schemeClr val="accent1"/>
          </a:solidFill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dirty="0"/>
              <a:t>Примерная архитектура</a:t>
            </a:r>
          </a:p>
        </p:txBody>
      </p:sp>
    </p:spTree>
    <p:extLst>
      <p:ext uri="{BB962C8B-B14F-4D97-AF65-F5344CB8AC3E}">
        <p14:creationId xmlns:p14="http://schemas.microsoft.com/office/powerpoint/2010/main" val="804820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A56E4F-4593-F090-BAAA-15835B31863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123950"/>
            <a:ext cx="3349625" cy="4600575"/>
          </a:xfrm>
        </p:spPr>
        <p:txBody>
          <a:bodyPr>
            <a:normAutofit/>
          </a:bodyPr>
          <a:lstStyle/>
          <a:p>
            <a:r>
              <a:rPr lang="en-US" sz="2800" dirty="0"/>
              <a:t>===</a:t>
            </a:r>
            <a:r>
              <a:rPr lang="en-US" sz="2800" dirty="0">
                <a:solidFill>
                  <a:schemeClr val="tx1"/>
                </a:solidFill>
              </a:rPr>
              <a:t>Stitch</a:t>
            </a:r>
            <a:endParaRPr lang="ru-RU" sz="2800" dirty="0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5EA56E4F-4593-F090-BAAA-15835B31863E}"/>
              </a:ext>
            </a:extLst>
          </p:cNvPr>
          <p:cNvSpPr txBox="1">
            <a:spLocks/>
          </p:cNvSpPr>
          <p:nvPr/>
        </p:nvSpPr>
        <p:spPr>
          <a:xfrm>
            <a:off x="532014" y="349657"/>
            <a:ext cx="10665230" cy="622932"/>
          </a:xfrm>
          <a:prstGeom prst="rect">
            <a:avLst/>
          </a:prstGeom>
          <a:solidFill>
            <a:schemeClr val="accent1"/>
          </a:solidFill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dirty="0"/>
              <a:t>Прототипы  </a:t>
            </a:r>
            <a:r>
              <a:rPr lang="en-US" sz="2800" dirty="0"/>
              <a:t>UI</a:t>
            </a:r>
            <a:endParaRPr lang="ru-RU" sz="28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CA219F8-88D4-0868-4FF8-66B63B6B2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977" y="1123950"/>
            <a:ext cx="6551239" cy="5543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9367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5EA56E4F-4593-F090-BAAA-15835B31863E}"/>
              </a:ext>
            </a:extLst>
          </p:cNvPr>
          <p:cNvSpPr txBox="1">
            <a:spLocks/>
          </p:cNvSpPr>
          <p:nvPr/>
        </p:nvSpPr>
        <p:spPr>
          <a:xfrm>
            <a:off x="0" y="297898"/>
            <a:ext cx="10665230" cy="622932"/>
          </a:xfrm>
          <a:prstGeom prst="rect">
            <a:avLst/>
          </a:prstGeom>
          <a:solidFill>
            <a:schemeClr val="accent1"/>
          </a:solidFill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dirty="0"/>
              <a:t>Прототипы  </a:t>
            </a:r>
            <a:r>
              <a:rPr lang="en-US" sz="2800" dirty="0"/>
              <a:t>UI</a:t>
            </a:r>
            <a:r>
              <a:rPr lang="ru-RU" sz="2800" dirty="0"/>
              <a:t> </a:t>
            </a:r>
            <a:r>
              <a:rPr lang="en-US" sz="2800" dirty="0" err="1"/>
              <a:t>poehali.dev</a:t>
            </a:r>
            <a:endParaRPr lang="ru-RU" sz="28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FCAA5F5-3BE6-E7B1-9A72-E56150AC2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848" y="1042816"/>
            <a:ext cx="9057382" cy="560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9587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5EA56E4F-4593-F090-BAAA-15835B31863E}"/>
              </a:ext>
            </a:extLst>
          </p:cNvPr>
          <p:cNvSpPr txBox="1">
            <a:spLocks/>
          </p:cNvSpPr>
          <p:nvPr/>
        </p:nvSpPr>
        <p:spPr>
          <a:xfrm>
            <a:off x="0" y="297898"/>
            <a:ext cx="10665230" cy="622932"/>
          </a:xfrm>
          <a:prstGeom prst="rect">
            <a:avLst/>
          </a:prstGeom>
          <a:solidFill>
            <a:schemeClr val="accent1"/>
          </a:solidFill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dirty="0"/>
              <a:t>Прототипы  </a:t>
            </a:r>
            <a:r>
              <a:rPr lang="en-US" sz="2800" dirty="0"/>
              <a:t>UI</a:t>
            </a:r>
            <a:r>
              <a:rPr lang="ru-RU" sz="2800" dirty="0"/>
              <a:t> </a:t>
            </a:r>
            <a:r>
              <a:rPr lang="en-US" sz="2800" dirty="0" err="1"/>
              <a:t>poehali.dev</a:t>
            </a:r>
            <a:endParaRPr lang="ru-RU" sz="28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FC936DF-5D3C-728A-3B4A-C6DB2BA92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459" y="998416"/>
            <a:ext cx="9025771" cy="5686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9346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5EA56E4F-4593-F090-BAAA-15835B31863E}"/>
              </a:ext>
            </a:extLst>
          </p:cNvPr>
          <p:cNvSpPr txBox="1">
            <a:spLocks/>
          </p:cNvSpPr>
          <p:nvPr/>
        </p:nvSpPr>
        <p:spPr>
          <a:xfrm>
            <a:off x="0" y="297898"/>
            <a:ext cx="10665230" cy="622932"/>
          </a:xfrm>
          <a:prstGeom prst="rect">
            <a:avLst/>
          </a:prstGeom>
          <a:solidFill>
            <a:schemeClr val="accent1"/>
          </a:solidFill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dirty="0"/>
              <a:t>Прототипы  </a:t>
            </a:r>
            <a:r>
              <a:rPr lang="en-US" sz="2800" dirty="0"/>
              <a:t>UI</a:t>
            </a:r>
            <a:r>
              <a:rPr lang="ru-RU" sz="2800" dirty="0"/>
              <a:t> </a:t>
            </a:r>
            <a:r>
              <a:rPr lang="en-US" sz="2800" dirty="0" err="1"/>
              <a:t>poehali.dev</a:t>
            </a:r>
            <a:endParaRPr lang="ru-RU" sz="28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F66BB47-2D46-7724-D936-C4BED89C38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498" y="1063391"/>
            <a:ext cx="8861732" cy="5565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5973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5EA56E4F-4593-F090-BAAA-15835B31863E}"/>
              </a:ext>
            </a:extLst>
          </p:cNvPr>
          <p:cNvSpPr txBox="1">
            <a:spLocks/>
          </p:cNvSpPr>
          <p:nvPr/>
        </p:nvSpPr>
        <p:spPr>
          <a:xfrm>
            <a:off x="0" y="297898"/>
            <a:ext cx="10665230" cy="622932"/>
          </a:xfrm>
          <a:prstGeom prst="rect">
            <a:avLst/>
          </a:prstGeom>
          <a:solidFill>
            <a:schemeClr val="accent1"/>
          </a:solidFill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dirty="0"/>
              <a:t>Прототипы  </a:t>
            </a:r>
            <a:r>
              <a:rPr lang="en-US" sz="2800" dirty="0"/>
              <a:t>UI</a:t>
            </a:r>
            <a:r>
              <a:rPr lang="ru-RU" sz="2800" dirty="0"/>
              <a:t> </a:t>
            </a:r>
            <a:r>
              <a:rPr lang="en-US" sz="2800" dirty="0" err="1"/>
              <a:t>poehali.dev</a:t>
            </a:r>
            <a:endParaRPr lang="ru-RU" sz="28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46ACCBE-E02F-6280-0E59-E5A6BE152B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4210" y="1083558"/>
            <a:ext cx="8981020" cy="5653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3102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5EA56E4F-4593-F090-BAAA-15835B31863E}"/>
              </a:ext>
            </a:extLst>
          </p:cNvPr>
          <p:cNvSpPr txBox="1">
            <a:spLocks/>
          </p:cNvSpPr>
          <p:nvPr/>
        </p:nvSpPr>
        <p:spPr>
          <a:xfrm>
            <a:off x="0" y="297898"/>
            <a:ext cx="10665230" cy="622932"/>
          </a:xfrm>
          <a:prstGeom prst="rect">
            <a:avLst/>
          </a:prstGeom>
          <a:solidFill>
            <a:schemeClr val="accent1"/>
          </a:solidFill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dirty="0"/>
              <a:t>Прототипы  </a:t>
            </a:r>
            <a:r>
              <a:rPr lang="en-US" sz="2800" dirty="0"/>
              <a:t>UI</a:t>
            </a:r>
            <a:r>
              <a:rPr lang="ru-RU" sz="2800" dirty="0"/>
              <a:t> </a:t>
            </a:r>
            <a:r>
              <a:rPr lang="en-US" sz="2800" dirty="0" err="1"/>
              <a:t>poehali.dev</a:t>
            </a:r>
            <a:endParaRPr lang="ru-RU" sz="28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C4AEBA1-E8E5-C20F-28A3-C36F3B060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8364" y="1088165"/>
            <a:ext cx="8806866" cy="5536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5488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5EA56E4F-4593-F090-BAAA-15835B31863E}"/>
              </a:ext>
            </a:extLst>
          </p:cNvPr>
          <p:cNvSpPr txBox="1">
            <a:spLocks/>
          </p:cNvSpPr>
          <p:nvPr/>
        </p:nvSpPr>
        <p:spPr>
          <a:xfrm>
            <a:off x="0" y="297898"/>
            <a:ext cx="10665230" cy="622932"/>
          </a:xfrm>
          <a:prstGeom prst="rect">
            <a:avLst/>
          </a:prstGeom>
          <a:solidFill>
            <a:schemeClr val="accent1"/>
          </a:solidFill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dirty="0"/>
              <a:t>Прототипы  </a:t>
            </a:r>
            <a:r>
              <a:rPr lang="en-US" sz="2800" dirty="0"/>
              <a:t>UI</a:t>
            </a:r>
            <a:r>
              <a:rPr lang="ru-RU" sz="2800" dirty="0"/>
              <a:t> </a:t>
            </a:r>
            <a:r>
              <a:rPr lang="en-US" sz="2800" dirty="0" err="1"/>
              <a:t>poehali.dev</a:t>
            </a:r>
            <a:endParaRPr lang="ru-RU" sz="28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2A5004B-3511-3F30-11A2-B9A0AEBDA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7362" y="1104397"/>
            <a:ext cx="8967868" cy="5650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592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5EA56E4F-4593-F090-BAAA-15835B31863E}"/>
              </a:ext>
            </a:extLst>
          </p:cNvPr>
          <p:cNvSpPr txBox="1">
            <a:spLocks/>
          </p:cNvSpPr>
          <p:nvPr/>
        </p:nvSpPr>
        <p:spPr>
          <a:xfrm>
            <a:off x="0" y="297898"/>
            <a:ext cx="10665230" cy="622932"/>
          </a:xfrm>
          <a:prstGeom prst="rect">
            <a:avLst/>
          </a:prstGeom>
          <a:solidFill>
            <a:schemeClr val="accent1"/>
          </a:solidFill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dirty="0"/>
              <a:t>Прототипы  </a:t>
            </a:r>
            <a:r>
              <a:rPr lang="en-US" sz="2800" dirty="0"/>
              <a:t>UI</a:t>
            </a:r>
            <a:r>
              <a:rPr lang="ru-RU" sz="2800" dirty="0"/>
              <a:t> </a:t>
            </a:r>
            <a:r>
              <a:rPr lang="en-US" sz="2800" dirty="0" err="1"/>
              <a:t>poehali.dev</a:t>
            </a:r>
            <a:endParaRPr lang="ru-RU" sz="28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01BAA81-6910-8A20-E847-CACB28A2C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4310" y="1061733"/>
            <a:ext cx="9010920" cy="5665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4447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A56E4F-4593-F090-BAAA-15835B318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65" y="1123837"/>
            <a:ext cx="3350030" cy="4601183"/>
          </a:xfrm>
        </p:spPr>
        <p:txBody>
          <a:bodyPr>
            <a:normAutofit/>
          </a:bodyPr>
          <a:lstStyle/>
          <a:p>
            <a:r>
              <a:rPr lang="ru-RU" sz="2800" dirty="0"/>
              <a:t>Проблемы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49287" y="872836"/>
            <a:ext cx="77973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latin typeface="Consolas" panose="020B0609020204030204" pitchFamily="49" charset="0"/>
              </a:rPr>
              <a:t>Где взять данные? Опытная эксплуатация и сбор данных с датчиков или случайная генерация с последующей классификацией на неразмеченных данных с привязкой к формуле связывающей все предикторы (стандарты ВОЗ, ГОСТ и др.)?</a:t>
            </a:r>
            <a:endParaRPr lang="ru-RU" sz="1600" dirty="0">
              <a:latin typeface="YS Ge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56B1B0-835E-8E1E-CF55-04F560AC758F}"/>
              </a:ext>
            </a:extLst>
          </p:cNvPr>
          <p:cNvSpPr txBox="1"/>
          <p:nvPr/>
        </p:nvSpPr>
        <p:spPr>
          <a:xfrm>
            <a:off x="3649287" y="2350164"/>
            <a:ext cx="7797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latin typeface="Consolas" panose="020B0609020204030204" pitchFamily="49" charset="0"/>
              </a:rPr>
              <a:t>Метрики</a:t>
            </a:r>
            <a:endParaRPr lang="ru-RU" sz="1600" dirty="0">
              <a:latin typeface="YS Geo"/>
            </a:endParaRPr>
          </a:p>
        </p:txBody>
      </p:sp>
    </p:spTree>
    <p:extLst>
      <p:ext uri="{BB962C8B-B14F-4D97-AF65-F5344CB8AC3E}">
        <p14:creationId xmlns:p14="http://schemas.microsoft.com/office/powerpoint/2010/main" val="1679019135"/>
      </p:ext>
    </p:extLst>
  </p:cSld>
  <p:clrMapOvr>
    <a:masterClrMapping/>
  </p:clrMapOvr>
</p:sld>
</file>

<file path=ppt/theme/theme1.xml><?xml version="1.0" encoding="utf-8"?>
<a:theme xmlns:a="http://schemas.openxmlformats.org/drawingml/2006/main" name="Рамка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{B7079474-8051-40F6-9CD7-85FDD9F1823F}TF5b254a55-10e1-4643-bbf8-937ce7de93d8262d2579-9a9bf82529c5</Template>
  <TotalTime>543</TotalTime>
  <Words>861</Words>
  <Application>Microsoft Office PowerPoint</Application>
  <PresentationFormat>Широкоэкранный</PresentationFormat>
  <Paragraphs>111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5" baseType="lpstr">
      <vt:lpstr>Arial</vt:lpstr>
      <vt:lpstr>Consolas</vt:lpstr>
      <vt:lpstr>Corbel</vt:lpstr>
      <vt:lpstr>Wingdings 2</vt:lpstr>
      <vt:lpstr>YS Geo</vt:lpstr>
      <vt:lpstr>Рамка</vt:lpstr>
      <vt:lpstr>АэроМонитор </vt:lpstr>
      <vt:lpstr>Команда</vt:lpstr>
      <vt:lpstr>Проблема</vt:lpstr>
      <vt:lpstr>Решение</vt:lpstr>
      <vt:lpstr>Как датчики  превращаются в  интеллект: признаки для модели качества воздуха</vt:lpstr>
      <vt:lpstr>Ключевые моменты</vt:lpstr>
      <vt:lpstr>Целевая аудитория</vt:lpstr>
      <vt:lpstr>Гипотеза</vt:lpstr>
      <vt:lpstr>Конкуренты</vt:lpstr>
      <vt:lpstr>Примерная архитектура</vt:lpstr>
      <vt:lpstr>===Stitch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Проблемы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АэроМонитор</dc:title>
  <dc:creator>PC</dc:creator>
  <cp:lastModifiedBy>PC</cp:lastModifiedBy>
  <cp:revision>23</cp:revision>
  <dcterms:created xsi:type="dcterms:W3CDTF">2026-04-13T18:30:16Z</dcterms:created>
  <dcterms:modified xsi:type="dcterms:W3CDTF">2026-04-14T15:27:01Z</dcterms:modified>
</cp:coreProperties>
</file>