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64" r:id="rId9"/>
    <p:sldId id="266" r:id="rId10"/>
    <p:sldId id="267" r:id="rId11"/>
    <p:sldId id="268" r:id="rId12"/>
    <p:sldId id="271" r:id="rId13"/>
    <p:sldId id="273" r:id="rId14"/>
    <p:sldId id="274" r:id="rId15"/>
    <p:sldId id="275" r:id="rId16"/>
    <p:sldId id="276" r:id="rId17"/>
    <p:sldId id="277" r:id="rId18"/>
    <p:sldId id="278" r:id="rId19"/>
    <p:sldId id="27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298448"/>
            <a:ext cx="1522492" cy="141618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F5DB69-F0BA-0721-14D5-F7C14C3C89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АэроМонитор</a:t>
            </a:r>
            <a:r>
              <a:rPr lang="ru-RU" dirty="0"/>
              <a:t>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FF2BC9-DAE6-299C-50F5-5CA53E1EAA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Прототип активной системы контроля качества воздуха для больших зданий</a:t>
            </a:r>
          </a:p>
        </p:txBody>
      </p:sp>
    </p:spTree>
    <p:extLst>
      <p:ext uri="{BB962C8B-B14F-4D97-AF65-F5344CB8AC3E}">
        <p14:creationId xmlns:p14="http://schemas.microsoft.com/office/powerpoint/2010/main" val="2879426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Команда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1"/>
            <a:ext cx="48702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effectLst/>
                <a:latin typeface="Consolas" panose="020B0609020204030204" pitchFamily="49" charset="0"/>
              </a:rPr>
              <a:t>Список команды</a:t>
            </a:r>
            <a:endParaRPr lang="ru-RU" b="0" dirty="0"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1.   Харлов Максим @maksimkharlovv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Лещишин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Роман @Roman36519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3.   Неустроев Илья @NeustroevIL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Cавельев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Денис @DenisSavelev2025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Метиекам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Коаье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Мануэль Патрисия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DBA66-CB68-0276-8050-5DDD5CF0BE2B}"/>
              </a:ext>
            </a:extLst>
          </p:cNvPr>
          <p:cNvSpPr txBox="1"/>
          <p:nvPr/>
        </p:nvSpPr>
        <p:spPr>
          <a:xfrm>
            <a:off x="3769744" y="2778097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github</a:t>
            </a:r>
            <a:r>
              <a:rPr lang="ru-RU" b="1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https://github.com/IlyyaNeustroev/airQuality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844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0"/>
            <a:ext cx="793630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Традиционные системы приточно‑вытяжной вентиляции работают по жёстким алгоритмам или вручную, из‑за чего возникают:</a:t>
            </a:r>
          </a:p>
          <a:p>
            <a:pPr algn="l"/>
            <a:endParaRPr lang="ru-RU" sz="1600" b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Перерасход энергии</a:t>
            </a:r>
            <a:r>
              <a:rPr lang="ru-RU" sz="1600" b="0" i="0" dirty="0">
                <a:effectLst/>
                <a:latin typeface="YS Geo"/>
              </a:rPr>
              <a:t> — вентиляция работает на полную мощность даже в пустых помещениях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Неравномерное качество воздуха</a:t>
            </a:r>
            <a:r>
              <a:rPr lang="ru-RU" sz="1600" b="0" i="0" dirty="0">
                <a:effectLst/>
                <a:latin typeface="YS Geo"/>
              </a:rPr>
              <a:t> — в занятых помещениях может быть высокий уровень CO₂ и загрязнителей, а в </a:t>
            </a:r>
            <a:endParaRPr lang="ru-RU" sz="1600" b="0" i="0" dirty="0" smtClean="0">
              <a:effectLst/>
              <a:latin typeface="YS Geo"/>
            </a:endParaRPr>
          </a:p>
          <a:p>
            <a:pPr algn="l"/>
            <a:r>
              <a:rPr lang="ru-RU" sz="1600" b="0" i="0" dirty="0" smtClean="0">
                <a:effectLst/>
                <a:latin typeface="YS Geo"/>
              </a:rPr>
              <a:t>незанятых</a:t>
            </a:r>
            <a:r>
              <a:rPr lang="ru-RU" sz="1600" b="0" i="0" dirty="0">
                <a:effectLst/>
                <a:latin typeface="YS Geo"/>
              </a:rPr>
              <a:t> — избыточный приток свежего воздуха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Высокие эксплуатационные затраты</a:t>
            </a:r>
            <a:r>
              <a:rPr lang="ru-RU" sz="1600" b="0" i="0" dirty="0">
                <a:effectLst/>
                <a:latin typeface="YS Geo"/>
              </a:rPr>
              <a:t> — преждевременный износ оборудования, частая замена фильтров, большие счета</a:t>
            </a:r>
            <a:r>
              <a:rPr lang="en-US" sz="1600" b="0" i="0" dirty="0">
                <a:effectLst/>
                <a:latin typeface="YS Geo"/>
              </a:rPr>
              <a:t> </a:t>
            </a:r>
            <a:r>
              <a:rPr lang="ru-RU" sz="1600" b="0" i="0" dirty="0">
                <a:effectLst/>
                <a:latin typeface="YS Geo"/>
              </a:rPr>
              <a:t>за электричество и отопление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Зависимость от человеческого фактора</a:t>
            </a:r>
            <a:r>
              <a:rPr lang="ru-RU" sz="1600" b="0" i="0" dirty="0">
                <a:effectLst/>
                <a:latin typeface="YS Geo"/>
              </a:rPr>
              <a:t> — необходимость вручную регулировать клапаны и режимы, риск пропустить </a:t>
            </a:r>
          </a:p>
          <a:p>
            <a:pPr algn="l"/>
            <a:r>
              <a:rPr lang="ru-RU" sz="1600" b="0" i="0" dirty="0">
                <a:effectLst/>
                <a:latin typeface="YS Geo"/>
              </a:rPr>
              <a:t>ухудшение качества воздуха.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Потери тепла через рекуператор</a:t>
            </a:r>
            <a:r>
              <a:rPr lang="ru-RU" sz="1600" b="0" i="0" dirty="0">
                <a:effectLst/>
                <a:latin typeface="YS Geo"/>
              </a:rPr>
              <a:t> — неоптимальный режим работы снижает эффективность рекуперации, особенно в</a:t>
            </a:r>
            <a:r>
              <a:rPr lang="en-US" sz="1600" b="0" i="0" dirty="0">
                <a:effectLst/>
                <a:latin typeface="YS Geo"/>
              </a:rPr>
              <a:t> </a:t>
            </a:r>
            <a:r>
              <a:rPr lang="ru-RU" sz="1600" b="0" i="0" dirty="0">
                <a:effectLst/>
                <a:latin typeface="YS Geo"/>
              </a:rPr>
              <a:t>холодное время года.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625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</a:t>
            </a:r>
          </a:p>
        </p:txBody>
      </p:sp>
      <p:pic>
        <p:nvPicPr>
          <p:cNvPr id="6" name="Рисунок 5" descr="Изображение выглядит как снимок экран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CC87AD08-0AA1-6BBD-1FB8-E1631F90F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715" y="2929424"/>
            <a:ext cx="5909095" cy="34889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DC7550-D225-85C3-EB52-361ABC3EA0BE}"/>
              </a:ext>
            </a:extLst>
          </p:cNvPr>
          <p:cNvSpPr txBox="1"/>
          <p:nvPr/>
        </p:nvSpPr>
        <p:spPr>
          <a:xfrm>
            <a:off x="3899433" y="2929424"/>
            <a:ext cx="2031325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Consolas" panose="020B0609020204030204" pitchFamily="49" charset="0"/>
              </a:rPr>
              <a:t>Arduino</a:t>
            </a:r>
            <a:r>
              <a:rPr lang="ru-RU" sz="1100" b="1" dirty="0">
                <a:latin typeface="Consolas" panose="020B0609020204030204" pitchFamily="49" charset="0"/>
              </a:rPr>
              <a:t> + </a:t>
            </a:r>
            <a:r>
              <a:rPr lang="en-US" sz="1100" b="1" dirty="0">
                <a:latin typeface="Consolas" panose="020B0609020204030204" pitchFamily="49" charset="0"/>
              </a:rPr>
              <a:t>Wi-Fi </a:t>
            </a:r>
            <a:r>
              <a:rPr lang="ru-RU" sz="1100" b="1" dirty="0">
                <a:latin typeface="Consolas" panose="020B0609020204030204" pitchFamily="49" charset="0"/>
              </a:rPr>
              <a:t>модуль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WEB</a:t>
            </a:r>
            <a:r>
              <a:rPr lang="ru-RU" sz="1100" b="1" dirty="0">
                <a:latin typeface="Consolas" panose="020B0609020204030204" pitchFamily="49" charset="0"/>
              </a:rPr>
              <a:t> сервер с приложением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ML</a:t>
            </a:r>
            <a:r>
              <a:rPr lang="ru-RU" sz="1100" b="1" dirty="0">
                <a:latin typeface="Consolas" panose="020B0609020204030204" pitchFamily="49" charset="0"/>
              </a:rPr>
              <a:t>-модель классификации</a:t>
            </a:r>
          </a:p>
          <a:p>
            <a:r>
              <a:rPr lang="ru-RU" sz="1100" b="1" dirty="0">
                <a:latin typeface="Consolas" panose="020B0609020204030204" pitchFamily="49" charset="0"/>
              </a:rPr>
              <a:t>Управление нагрузкой: </a:t>
            </a:r>
          </a:p>
          <a:p>
            <a:r>
              <a:rPr lang="ru-RU" sz="1100" b="1" dirty="0">
                <a:latin typeface="Consolas" panose="020B0609020204030204" pitchFamily="49" charset="0"/>
              </a:rPr>
              <a:t>вентиляторы и клапаны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4044" y="773083"/>
            <a:ext cx="90492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Интеллектуальная, энергоэффективная система вентиляции на базе ML. </a:t>
            </a:r>
          </a:p>
          <a:p>
            <a:r>
              <a:rPr lang="ru-RU" b="1" dirty="0">
                <a:latin typeface="Consolas" panose="020B0609020204030204" pitchFamily="49" charset="0"/>
              </a:rPr>
              <a:t>Ключевые преимущества — экономия энергии и улучшение качества воздуха </a:t>
            </a:r>
          </a:p>
          <a:p>
            <a:r>
              <a:rPr lang="ru-RU" b="1" dirty="0">
                <a:latin typeface="Consolas" panose="020B0609020204030204" pitchFamily="49" charset="0"/>
              </a:rPr>
              <a:t>за счёт точечного </a:t>
            </a:r>
            <a:r>
              <a:rPr lang="ru-RU" b="1" dirty="0" smtClean="0">
                <a:latin typeface="Consolas" panose="020B0609020204030204" pitchFamily="49" charset="0"/>
              </a:rPr>
              <a:t>управления и прогнозирования. </a:t>
            </a:r>
            <a:endParaRPr lang="ru-RU" b="1" dirty="0">
              <a:latin typeface="Consolas" panose="020B0609020204030204" pitchFamily="49" charset="0"/>
            </a:endParaRPr>
          </a:p>
          <a:p>
            <a:r>
              <a:rPr lang="ru-RU" b="1" dirty="0">
                <a:latin typeface="Consolas" panose="020B0609020204030204" pitchFamily="49" charset="0"/>
              </a:rPr>
              <a:t>Основные вызовы — калибровка датчиков и надёжность ML‑модели. </a:t>
            </a:r>
          </a:p>
          <a:p>
            <a:r>
              <a:rPr lang="ru-RU" b="1" dirty="0">
                <a:latin typeface="Consolas" panose="020B0609020204030204" pitchFamily="49" charset="0"/>
              </a:rPr>
              <a:t>При грамотном проектировании и тестировании система окупается за счёт </a:t>
            </a:r>
          </a:p>
          <a:p>
            <a:r>
              <a:rPr lang="ru-RU" b="1" dirty="0">
                <a:latin typeface="Consolas" panose="020B0609020204030204" pitchFamily="49" charset="0"/>
              </a:rPr>
              <a:t>снижения энергопотребления и повышения комфорта/безопасности в здании</a:t>
            </a:r>
          </a:p>
        </p:txBody>
      </p:sp>
    </p:spTree>
    <p:extLst>
      <p:ext uri="{BB962C8B-B14F-4D97-AF65-F5344CB8AC3E}">
        <p14:creationId xmlns:p14="http://schemas.microsoft.com/office/powerpoint/2010/main" val="3575480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Как датчики </a:t>
            </a:r>
            <a:br>
              <a:rPr lang="ru-RU" sz="2800" dirty="0"/>
            </a:br>
            <a:r>
              <a:rPr lang="ru-RU" sz="2800" dirty="0"/>
              <a:t>превращаются в </a:t>
            </a:r>
            <a:br>
              <a:rPr lang="ru-RU" sz="2800" dirty="0"/>
            </a:br>
            <a:r>
              <a:rPr lang="ru-RU" sz="2800" dirty="0"/>
              <a:t>интеллект: признаки для модели качества воздуха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632546"/>
            <a:ext cx="8617527" cy="558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945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Ключевые моменты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49287" y="872836"/>
            <a:ext cx="779733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вход </a:t>
            </a:r>
            <a:r>
              <a:rPr lang="ru-RU" sz="1600" dirty="0">
                <a:latin typeface="YS Geo"/>
              </a:rPr>
              <a:t>системы поступают показания с датчиков, дни недели, признак состояния клапана, время суток, сезон, занятость помещения, температура и влажность с уличных датчиков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9287" y="1703833"/>
            <a:ext cx="779733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выходе </a:t>
            </a:r>
            <a:r>
              <a:rPr lang="ru-RU" sz="1600" dirty="0">
                <a:latin typeface="YS Geo"/>
              </a:rPr>
              <a:t>имеем класс качества воздуха </a:t>
            </a:r>
            <a:r>
              <a:rPr lang="en-US" sz="1600" dirty="0">
                <a:latin typeface="YS Geo"/>
              </a:rPr>
              <a:t>AQI</a:t>
            </a:r>
            <a:r>
              <a:rPr lang="ru-RU" sz="1600" dirty="0">
                <a:latin typeface="YS Geo"/>
              </a:rPr>
              <a:t>, по которому определяем какой клапан открыть, включить двигатели вентиляторов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9286" y="2319386"/>
            <a:ext cx="77973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Экономия энергии:</a:t>
            </a:r>
            <a:r>
              <a:rPr lang="ru-RU" dirty="0"/>
              <a:t> вентиляция работает только там, где нужно, и когда нужно, а не постоянно и во всех помещениях. Актуально в крупных зданиях, где нагрузки 10-100 КВт </a:t>
            </a:r>
            <a:endParaRPr lang="ru-RU" sz="1600" dirty="0">
              <a:latin typeface="YS Ge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49285" y="31987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Улучшение качества воздуха:</a:t>
            </a:r>
            <a:r>
              <a:rPr lang="ru-RU" dirty="0"/>
              <a:t> оперативное реагирование на ухудшение параметров</a:t>
            </a:r>
            <a:endParaRPr lang="ru-RU" sz="1600" dirty="0">
              <a:latin typeface="YS Ge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49285" y="381776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Автоматизация:</a:t>
            </a:r>
            <a:r>
              <a:rPr lang="ru-RU" dirty="0"/>
              <a:t> минимизация ручного управления, снижение нагрузки </a:t>
            </a:r>
          </a:p>
          <a:p>
            <a:r>
              <a:rPr lang="ru-RU" dirty="0"/>
              <a:t>      на персонал</a:t>
            </a:r>
            <a:endParaRPr lang="ru-RU" sz="1600" dirty="0">
              <a:latin typeface="YS Ge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49285" y="44263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Прогнозирование:</a:t>
            </a:r>
            <a:r>
              <a:rPr lang="ru-RU" dirty="0"/>
              <a:t> ML‑модель может выявлять тренды и предупреждать о возможном ухудшении воздуха.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9285" y="5079647"/>
            <a:ext cx="779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Минусы:</a:t>
            </a:r>
            <a:r>
              <a:rPr lang="ru-RU" dirty="0"/>
              <a:t> зависимость от </a:t>
            </a:r>
            <a:r>
              <a:rPr lang="en-US" dirty="0"/>
              <a:t>ML</a:t>
            </a:r>
            <a:r>
              <a:rPr lang="ru-RU" dirty="0"/>
              <a:t>, калибровка датчиков, определенная схема</a:t>
            </a:r>
          </a:p>
          <a:p>
            <a:r>
              <a:rPr lang="ru-RU" dirty="0"/>
              <a:t>      вентиляции с центральным приточно-вытяжными каналами и    </a:t>
            </a:r>
          </a:p>
          <a:p>
            <a:r>
              <a:rPr lang="ru-RU" dirty="0"/>
              <a:t>      отдельными каналами для каждого помещения</a:t>
            </a:r>
          </a:p>
        </p:txBody>
      </p:sp>
    </p:spTree>
    <p:extLst>
      <p:ext uri="{BB962C8B-B14F-4D97-AF65-F5344CB8AC3E}">
        <p14:creationId xmlns:p14="http://schemas.microsoft.com/office/powerpoint/2010/main" val="3225043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Целевая аудитория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59" y="66502"/>
            <a:ext cx="7797338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Управляющие компании и собственники коммерческой недвижимости</a:t>
            </a:r>
            <a:endParaRPr lang="ru-RU" sz="1000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бизнес‑центры, торговые центры, гостиницы.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снижение эксплуатационных расходов (особенно на электроэнергию);</a:t>
            </a:r>
          </a:p>
          <a:p>
            <a:pPr lvl="2"/>
            <a:r>
              <a:rPr lang="ru-RU" sz="1000" dirty="0"/>
              <a:t>соответствие санитарным нормам и стандартам (ASHRAE, ГОСТ);</a:t>
            </a:r>
          </a:p>
          <a:p>
            <a:pPr lvl="2"/>
            <a:r>
              <a:rPr lang="ru-RU" sz="1000" dirty="0"/>
              <a:t>обеспечение комфорта арендаторов/гостей;</a:t>
            </a:r>
          </a:p>
          <a:p>
            <a:pPr lvl="2"/>
            <a:r>
              <a:rPr lang="ru-RU" sz="1000" dirty="0"/>
              <a:t>автоматизация инженерных систем.</a:t>
            </a:r>
          </a:p>
          <a:p>
            <a:pPr lvl="1"/>
            <a:r>
              <a:rPr lang="ru-RU" sz="1000" b="1" dirty="0"/>
              <a:t>Мотивация к покупке:</a:t>
            </a:r>
            <a:r>
              <a:rPr lang="ru-RU" sz="1000" dirty="0"/>
              <a:t> экономия на счетах за электричество (до 40 %), повышение привлекательности объекта для арендаторов.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высокий, готовы инвестировать в долгосрочную экономию.</a:t>
            </a:r>
          </a:p>
          <a:p>
            <a:pPr lvl="1"/>
            <a:endParaRPr lang="ru-RU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Административные и государственные учреждения</a:t>
            </a:r>
            <a:endParaRPr lang="ru-RU" sz="1000" b="1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школы, университеты, больницы, поликлиники, административные здания.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поддержание здорового микроклимата для сотрудников и посетителей;</a:t>
            </a:r>
          </a:p>
          <a:p>
            <a:pPr lvl="2"/>
            <a:r>
              <a:rPr lang="ru-RU" sz="1000" dirty="0"/>
              <a:t>соблюдение строгих санитарных норм;</a:t>
            </a:r>
          </a:p>
          <a:p>
            <a:pPr lvl="2"/>
            <a:r>
              <a:rPr lang="ru-RU" sz="1000" dirty="0"/>
              <a:t>предотвращение распространения инфекций (особенно актуально для медучреждений);</a:t>
            </a:r>
          </a:p>
          <a:p>
            <a:pPr lvl="2"/>
            <a:r>
              <a:rPr lang="ru-RU" sz="1000" dirty="0"/>
              <a:t>отчётность и мониторинг в реальном времени.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забота о здоровье людей, соответствие регуляторным требованиям.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средний/высокий, часто выделяются целевые средства на модернизацию.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надёжность, документированная точность измерений, интеграция с BMS.</a:t>
            </a:r>
          </a:p>
          <a:p>
            <a:pPr lvl="1"/>
            <a:endParaRPr lang="ru-RU" sz="14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Промышленные предприятия</a:t>
            </a:r>
            <a:endParaRPr lang="ru-RU" sz="1000" b="1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заводы, склады, логистические центры, производственные цеха.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опасных газов (CO, ЛОС) для безопасности персонала;</a:t>
            </a:r>
          </a:p>
          <a:p>
            <a:pPr lvl="2"/>
            <a:r>
              <a:rPr lang="ru-RU" sz="1000" dirty="0"/>
              <a:t>оптимизация вентиляции в зонах с разным уровнем загрязнения;</a:t>
            </a:r>
          </a:p>
          <a:p>
            <a:pPr lvl="2"/>
            <a:r>
              <a:rPr lang="ru-RU" sz="1000" dirty="0"/>
              <a:t>предотвращение аварийных ситуаций;</a:t>
            </a:r>
          </a:p>
          <a:p>
            <a:pPr lvl="2"/>
            <a:r>
              <a:rPr lang="ru-RU" sz="1000" dirty="0"/>
              <a:t>соответствие нормам охраны труда.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безопасность персонала, снижение рисков штрафов и аварий.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 (особенно в опасных производствах).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взрывозащищённое исполнение датчиков, высокая надёжность, устойчивость к агрессивным средам.</a:t>
            </a:r>
          </a:p>
          <a:p>
            <a:pPr lvl="1"/>
            <a:endParaRPr lang="ru-RU" sz="10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Операторы дата‑центров и серверных помещений</a:t>
            </a:r>
            <a:endParaRPr lang="ru-RU" sz="1400" dirty="0"/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температуры и влажности для стабильной работы оборудования;</a:t>
            </a:r>
          </a:p>
          <a:p>
            <a:pPr lvl="2"/>
            <a:r>
              <a:rPr lang="ru-RU" sz="1000" dirty="0"/>
              <a:t>минимизация энергопотребления систем охлаждения;</a:t>
            </a:r>
          </a:p>
          <a:p>
            <a:pPr lvl="2"/>
            <a:r>
              <a:rPr lang="ru-RU" sz="1000" dirty="0"/>
              <a:t>раннее обнаружение утечек хладагентов или других газов.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предотвращение простоев оборудования, экономия на охлаждении.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очень высокий, приоритет — надёжность и безотказность.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0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2275226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Гипотеза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636740" y="2516487"/>
            <a:ext cx="793630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YS Geo"/>
              </a:rPr>
              <a:t>Если внедрить </a:t>
            </a:r>
            <a:r>
              <a:rPr lang="ru-RU" sz="1600" dirty="0" smtClean="0">
                <a:latin typeface="YS Geo"/>
              </a:rPr>
              <a:t>адаптивную, интеллектуальную</a:t>
            </a:r>
            <a:r>
              <a:rPr lang="ru-RU" sz="1600" dirty="0">
                <a:latin typeface="YS Geo"/>
              </a:rPr>
              <a:t> систему контроля качества </a:t>
            </a:r>
            <a:endParaRPr lang="ru-RU" sz="1600" dirty="0" smtClean="0">
              <a:latin typeface="YS Geo"/>
            </a:endParaRPr>
          </a:p>
          <a:p>
            <a:r>
              <a:rPr lang="ru-RU" sz="1600" dirty="0" smtClean="0">
                <a:latin typeface="YS Geo"/>
              </a:rPr>
              <a:t>воздуха</a:t>
            </a:r>
            <a:r>
              <a:rPr lang="ru-RU" sz="1600" dirty="0">
                <a:latin typeface="YS Geo"/>
              </a:rPr>
              <a:t> с </a:t>
            </a:r>
            <a:r>
              <a:rPr lang="ru-RU" sz="1600" dirty="0" smtClean="0">
                <a:latin typeface="YS Geo"/>
              </a:rPr>
              <a:t>ML‑моделью,</a:t>
            </a:r>
            <a:r>
              <a:rPr lang="ru-RU" sz="1600" dirty="0">
                <a:latin typeface="YS Geo"/>
              </a:rPr>
              <a:t> для управления приточно‑вытяжной вентиляцией в </a:t>
            </a:r>
            <a:endParaRPr lang="ru-RU" sz="1600" dirty="0" smtClean="0">
              <a:latin typeface="YS Geo"/>
            </a:endParaRPr>
          </a:p>
          <a:p>
            <a:r>
              <a:rPr lang="ru-RU" sz="1600" dirty="0" smtClean="0">
                <a:latin typeface="YS Geo"/>
              </a:rPr>
              <a:t>больших</a:t>
            </a:r>
            <a:r>
              <a:rPr lang="ru-RU" sz="1600" dirty="0">
                <a:latin typeface="YS Geo"/>
              </a:rPr>
              <a:t> </a:t>
            </a:r>
            <a:r>
              <a:rPr lang="ru-RU" sz="1600" dirty="0" smtClean="0">
                <a:latin typeface="YS Geo"/>
              </a:rPr>
              <a:t>зданиях</a:t>
            </a:r>
            <a:r>
              <a:rPr lang="ru-RU" sz="1600" dirty="0">
                <a:latin typeface="YS Geo"/>
              </a:rPr>
              <a:t>, то можно сократить энергопотребление на </a:t>
            </a:r>
            <a:r>
              <a:rPr lang="ru-RU" sz="1600" dirty="0" smtClean="0">
                <a:latin typeface="YS Geo"/>
              </a:rPr>
              <a:t>25–40% </a:t>
            </a:r>
            <a:r>
              <a:rPr lang="ru-RU" sz="1600" dirty="0">
                <a:latin typeface="YS Geo"/>
              </a:rPr>
              <a:t>по сравнению </a:t>
            </a:r>
            <a:r>
              <a:rPr lang="ru-RU" sz="1600" dirty="0" smtClean="0">
                <a:latin typeface="YS Geo"/>
              </a:rPr>
              <a:t>с</a:t>
            </a:r>
            <a:r>
              <a:rPr lang="ru-RU" sz="1600" dirty="0">
                <a:latin typeface="YS Geo"/>
              </a:rPr>
              <a:t> традиционной </a:t>
            </a:r>
            <a:r>
              <a:rPr lang="ru-RU" sz="1600" dirty="0" smtClean="0">
                <a:latin typeface="YS Geo"/>
              </a:rPr>
              <a:t>круглосуточной, централизованной</a:t>
            </a:r>
            <a:r>
              <a:rPr lang="ru-RU" sz="1600" dirty="0">
                <a:latin typeface="YS Geo"/>
              </a:rPr>
              <a:t> вентиляцией и улучшить качество воздуха </a:t>
            </a:r>
            <a:r>
              <a:rPr lang="ru-RU" sz="1600" dirty="0" smtClean="0">
                <a:latin typeface="YS Geo"/>
              </a:rPr>
              <a:t>там где необходимо</a:t>
            </a:r>
            <a:r>
              <a:rPr lang="ru-RU" sz="1600" dirty="0">
                <a:latin typeface="YS Geo"/>
              </a:rPr>
              <a:t>, потому </a:t>
            </a:r>
            <a:r>
              <a:rPr lang="ru-RU" sz="1600" dirty="0" smtClean="0">
                <a:latin typeface="YS Geo"/>
              </a:rPr>
              <a:t>что</a:t>
            </a:r>
            <a:r>
              <a:rPr lang="ru-RU" sz="1600" dirty="0">
                <a:latin typeface="YS Geo"/>
              </a:rPr>
              <a:t> система </a:t>
            </a:r>
            <a:r>
              <a:rPr lang="ru-RU" sz="1600" dirty="0" smtClean="0">
                <a:latin typeface="YS Geo"/>
              </a:rPr>
              <a:t>будет</a:t>
            </a:r>
            <a:r>
              <a:rPr lang="ru-RU" sz="1600" dirty="0">
                <a:latin typeface="YS Geo"/>
              </a:rPr>
              <a:t> </a:t>
            </a:r>
            <a:endParaRPr lang="ru-RU" sz="1600" dirty="0" smtClean="0">
              <a:latin typeface="YS Geo"/>
            </a:endParaRPr>
          </a:p>
          <a:p>
            <a:r>
              <a:rPr lang="ru-RU" sz="1600" dirty="0" smtClean="0">
                <a:latin typeface="YS Geo"/>
              </a:rPr>
              <a:t>активировать</a:t>
            </a:r>
            <a:r>
              <a:rPr lang="ru-RU" sz="1600" dirty="0">
                <a:latin typeface="YS Geo"/>
              </a:rPr>
              <a:t> проветривание </a:t>
            </a:r>
            <a:r>
              <a:rPr lang="ru-RU" sz="1600" dirty="0" smtClean="0">
                <a:latin typeface="YS Geo"/>
              </a:rPr>
              <a:t>только</a:t>
            </a:r>
            <a:r>
              <a:rPr lang="ru-RU" sz="1600" dirty="0">
                <a:latin typeface="YS Geo"/>
              </a:rPr>
              <a:t> в тех помещениях, где реально </a:t>
            </a:r>
            <a:endParaRPr lang="ru-RU" sz="1600" dirty="0" smtClean="0">
              <a:latin typeface="YS Geo"/>
            </a:endParaRPr>
          </a:p>
          <a:p>
            <a:r>
              <a:rPr lang="ru-RU" sz="1600" dirty="0" smtClean="0">
                <a:latin typeface="YS Geo"/>
              </a:rPr>
              <a:t>зафиксировано</a:t>
            </a:r>
            <a:r>
              <a:rPr lang="ru-RU" sz="1600" dirty="0">
                <a:latin typeface="YS Geo"/>
              </a:rPr>
              <a:t> ухудшение качества </a:t>
            </a:r>
            <a:r>
              <a:rPr lang="ru-RU" sz="1600" dirty="0" smtClean="0">
                <a:latin typeface="YS Geo"/>
              </a:rPr>
              <a:t>воздуха</a:t>
            </a:r>
            <a:r>
              <a:rPr lang="ru-RU" sz="1600" dirty="0">
                <a:latin typeface="YS Geo"/>
              </a:rPr>
              <a:t>, а не работать по </a:t>
            </a:r>
            <a:r>
              <a:rPr lang="ru-RU" sz="1600" dirty="0" smtClean="0">
                <a:latin typeface="YS Geo"/>
              </a:rPr>
              <a:t>всему зданию, жёсткому</a:t>
            </a:r>
            <a:r>
              <a:rPr lang="ru-RU" sz="1600" dirty="0">
                <a:latin typeface="YS Geo"/>
              </a:rPr>
              <a:t> расписанию или </a:t>
            </a:r>
            <a:r>
              <a:rPr lang="ru-RU" sz="1600" dirty="0" smtClean="0">
                <a:latin typeface="YS Geo"/>
              </a:rPr>
              <a:t>круглосуточно </a:t>
            </a:r>
            <a:endParaRPr lang="ru-RU" sz="16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695195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Конкуренты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1700209"/>
            <a:ext cx="8578734" cy="365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0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ru-RU" sz="2800" dirty="0"/>
              <a:t>Примерная архитектура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057" y="1062933"/>
            <a:ext cx="9134795" cy="5795067"/>
          </a:xfrm>
          <a:prstGeom prst="rect">
            <a:avLst/>
          </a:prstGeom>
        </p:spPr>
      </p:pic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Примерная архитектура</a:t>
            </a:r>
          </a:p>
        </p:txBody>
      </p:sp>
    </p:spTree>
    <p:extLst>
      <p:ext uri="{BB962C8B-B14F-4D97-AF65-F5344CB8AC3E}">
        <p14:creationId xmlns:p14="http://schemas.microsoft.com/office/powerpoint/2010/main" val="804820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en-US" sz="2800" dirty="0"/>
              <a:t>===</a:t>
            </a:r>
            <a:r>
              <a:rPr lang="en-US" sz="2800" dirty="0">
                <a:solidFill>
                  <a:schemeClr val="tx1"/>
                </a:solidFill>
              </a:rPr>
              <a:t>Stitch</a:t>
            </a:r>
            <a:endParaRPr lang="ru-RU" sz="2800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A219F8-88D4-0868-4FF8-66B63B6B2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977" y="1123950"/>
            <a:ext cx="6551239" cy="5543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936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FCAA5F5-3BE6-E7B1-9A72-E56150AC2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848" y="1042816"/>
            <a:ext cx="9057382" cy="560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58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C936DF-5D3C-728A-3B4A-C6DB2BA92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459" y="998416"/>
            <a:ext cx="9025771" cy="5686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34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66BB47-2D46-7724-D936-C4BED89C3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498" y="1063391"/>
            <a:ext cx="8861732" cy="556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597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6ACCBE-E02F-6280-0E59-E5A6BE152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10" y="1083558"/>
            <a:ext cx="8981020" cy="5653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310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4AEBA1-E8E5-C20F-28A3-C36F3B060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364" y="1088165"/>
            <a:ext cx="8806866" cy="5536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5488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2A5004B-3511-3F30-11A2-B9A0AEBDA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362" y="1104397"/>
            <a:ext cx="8967868" cy="565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92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01BAA81-6910-8A20-E847-CACB28A2C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310" y="1061733"/>
            <a:ext cx="9010920" cy="566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44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9287" y="872836"/>
            <a:ext cx="7797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 smtClean="0">
                <a:latin typeface="Consolas" panose="020B0609020204030204" pitchFamily="49" charset="0"/>
              </a:rPr>
              <a:t>Генерация синтетических данных</a:t>
            </a:r>
            <a:endParaRPr lang="ru-RU" sz="16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1679019135"/>
      </p:ext>
    </p:extLst>
  </p:cSld>
  <p:clrMapOvr>
    <a:masterClrMapping/>
  </p:clrMapOvr>
</p:sld>
</file>

<file path=ppt/theme/theme1.xml><?xml version="1.0" encoding="utf-8"?>
<a:theme xmlns:a="http://schemas.openxmlformats.org/drawingml/2006/main" name="Рамка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{B7079474-8051-40F6-9CD7-85FDD9F1823F}TF5b254a55-10e1-4643-bbf8-937ce7de93d8262d2579-9a9bf82529c5</Template>
  <TotalTime>876</TotalTime>
  <Words>187</Words>
  <Application>Microsoft Office PowerPoint</Application>
  <PresentationFormat>Широкоэкранный</PresentationFormat>
  <Paragraphs>109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Consolas</vt:lpstr>
      <vt:lpstr>Corbel</vt:lpstr>
      <vt:lpstr>Wingdings 2</vt:lpstr>
      <vt:lpstr>YS Geo</vt:lpstr>
      <vt:lpstr>Рамка</vt:lpstr>
      <vt:lpstr>АэроМонитор </vt:lpstr>
      <vt:lpstr>Команда</vt:lpstr>
      <vt:lpstr>Проблема</vt:lpstr>
      <vt:lpstr>Решение</vt:lpstr>
      <vt:lpstr>Как датчики  превращаются в  интеллект: признаки для модели качества воздуха</vt:lpstr>
      <vt:lpstr>Ключевые моменты</vt:lpstr>
      <vt:lpstr>Целевая аудитория</vt:lpstr>
      <vt:lpstr>Гипотеза</vt:lpstr>
      <vt:lpstr>Конкуренты</vt:lpstr>
      <vt:lpstr>Примерная архитектура</vt:lpstr>
      <vt:lpstr>===Stitch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Проблемы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АэроМонитор</dc:title>
  <dc:creator>PC</dc:creator>
  <cp:lastModifiedBy>Неустроев Илья Леонидович</cp:lastModifiedBy>
  <cp:revision>28</cp:revision>
  <dcterms:created xsi:type="dcterms:W3CDTF">2026-04-13T18:30:16Z</dcterms:created>
  <dcterms:modified xsi:type="dcterms:W3CDTF">2026-04-15T11:27:08Z</dcterms:modified>
</cp:coreProperties>
</file>