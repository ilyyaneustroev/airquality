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5" r:id="rId8"/>
    <p:sldId id="264" r:id="rId9"/>
    <p:sldId id="266" r:id="rId10"/>
    <p:sldId id="267" r:id="rId11"/>
    <p:sldId id="268" r:id="rId12"/>
    <p:sldId id="270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432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586B75A-687E-405C-8A0B-8D00578BA2C3}" type="datetimeFigureOut">
              <a:rPr lang="en-US" dirty="0"/>
              <a:pPr/>
              <a:t>4/14/2026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" y="1298448"/>
            <a:ext cx="1522492" cy="1416185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F5DB69-F0BA-0721-14D5-F7C14C3C89F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>
                <a:solidFill>
                  <a:schemeClr val="bg1"/>
                </a:solidFill>
              </a:rPr>
              <a:t>АэроМонитор</a:t>
            </a:r>
            <a:r>
              <a:rPr lang="ru-RU" dirty="0" smtClean="0"/>
              <a:t> </a:t>
            </a: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7FF2BC9-DAE6-299C-50F5-5CA53E1EAA2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ru-RU" dirty="0"/>
              <a:t>Прототип активной системы контроля качества воздуха для больших зданий</a:t>
            </a:r>
          </a:p>
        </p:txBody>
      </p:sp>
    </p:spTree>
    <p:extLst>
      <p:ext uri="{BB962C8B-B14F-4D97-AF65-F5344CB8AC3E}">
        <p14:creationId xmlns:p14="http://schemas.microsoft.com/office/powerpoint/2010/main" val="28794265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Команда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85D806-9C5D-64EC-0D4D-7A9F2BA23C37}"/>
              </a:ext>
            </a:extLst>
          </p:cNvPr>
          <p:cNvSpPr txBox="1"/>
          <p:nvPr/>
        </p:nvSpPr>
        <p:spPr>
          <a:xfrm>
            <a:off x="3769744" y="800671"/>
            <a:ext cx="487024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effectLst/>
                <a:latin typeface="Consolas" panose="020B0609020204030204" pitchFamily="49" charset="0"/>
              </a:rPr>
              <a:t>Список команды</a:t>
            </a:r>
            <a:endParaRPr lang="ru-RU" b="0" dirty="0"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1.   Харлов Максим @maksimkharlovv</a:t>
            </a:r>
          </a:p>
          <a:p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2.   </a:t>
            </a:r>
            <a:r>
              <a:rPr lang="ru-RU" b="0" dirty="0" err="1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Лещишин</a:t>
            </a:r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Роман @Roman36519</a:t>
            </a:r>
          </a:p>
          <a:p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3.   Неустроев Илья @NeustroevIL</a:t>
            </a:r>
          </a:p>
          <a:p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5.   </a:t>
            </a:r>
            <a:r>
              <a:rPr lang="ru-RU" b="0" dirty="0" err="1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Cавельев</a:t>
            </a:r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Денис @DenisSavelev2025</a:t>
            </a:r>
          </a:p>
          <a:p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6.   </a:t>
            </a:r>
            <a:r>
              <a:rPr lang="ru-RU" b="0" dirty="0" err="1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Метиекам</a:t>
            </a:r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Коаье</a:t>
            </a:r>
            <a:r>
              <a:rPr lang="ru-RU" b="0" dirty="0">
                <a:solidFill>
                  <a:schemeClr val="accent1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 Мануэль Патрисия</a:t>
            </a:r>
          </a:p>
          <a:p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FADBA66-CB68-0276-8050-5DDD5CF0BE2B}"/>
              </a:ext>
            </a:extLst>
          </p:cNvPr>
          <p:cNvSpPr txBox="1"/>
          <p:nvPr/>
        </p:nvSpPr>
        <p:spPr>
          <a:xfrm>
            <a:off x="3769744" y="2778097"/>
            <a:ext cx="57567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err="1">
                <a:latin typeface="Consolas" panose="020B0609020204030204" pitchFamily="49" charset="0"/>
              </a:rPr>
              <a:t>github</a:t>
            </a:r>
            <a:r>
              <a:rPr lang="ru-RU" b="1" dirty="0">
                <a:latin typeface="Consolas" panose="020B0609020204030204" pitchFamily="49" charset="0"/>
              </a:rPr>
              <a:t>:</a:t>
            </a:r>
          </a:p>
          <a:p>
            <a:r>
              <a:rPr lang="en-US" dirty="0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</a:rPr>
              <a:t>https://github.com/IlyyaNeustroev/airQuality</a:t>
            </a:r>
            <a:endParaRPr lang="ru-RU" dirty="0">
              <a:solidFill>
                <a:schemeClr val="accent1">
                  <a:lumMod val="50000"/>
                </a:schemeClr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58444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Проблема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85D806-9C5D-64EC-0D4D-7A9F2BA23C37}"/>
              </a:ext>
            </a:extLst>
          </p:cNvPr>
          <p:cNvSpPr txBox="1"/>
          <p:nvPr/>
        </p:nvSpPr>
        <p:spPr>
          <a:xfrm>
            <a:off x="3769744" y="800670"/>
            <a:ext cx="7936301" cy="56015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1" dirty="0">
                <a:latin typeface="Consolas" panose="020B0609020204030204" pitchFamily="49" charset="0"/>
              </a:rPr>
              <a:t>Традиционные системы приточно‑вытяжной вентиляции работают по жёстким алгоритмам или вручную, из‑за чего возникают:</a:t>
            </a:r>
          </a:p>
          <a:p>
            <a:pPr algn="l"/>
            <a:endParaRPr lang="ru-RU" sz="1600" b="0" dirty="0">
              <a:effectLst/>
              <a:latin typeface="YS Geo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effectLst/>
                <a:latin typeface="YS Geo"/>
              </a:rPr>
              <a:t> Перерасход энергии</a:t>
            </a:r>
            <a:r>
              <a:rPr lang="ru-RU" sz="1600" b="0" i="0" dirty="0">
                <a:effectLst/>
                <a:latin typeface="YS Geo"/>
              </a:rPr>
              <a:t> — вентиляция работает на полную мощность даже в пустых помещениях</a:t>
            </a:r>
          </a:p>
          <a:p>
            <a:pPr algn="l"/>
            <a:endParaRPr lang="ru-RU" sz="1600" b="0" i="0" dirty="0">
              <a:effectLst/>
              <a:latin typeface="YS Geo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effectLst/>
                <a:latin typeface="YS Geo"/>
              </a:rPr>
              <a:t> Неравномерное качество воздуха</a:t>
            </a:r>
            <a:r>
              <a:rPr lang="ru-RU" sz="1600" b="0" i="0" dirty="0">
                <a:effectLst/>
                <a:latin typeface="YS Geo"/>
              </a:rPr>
              <a:t> — в занятых помещениях может быть высокий уровень CO₂ и загрязнителей, а в незанятых — избыточный приток свежего воздуха</a:t>
            </a:r>
          </a:p>
          <a:p>
            <a:pPr algn="l"/>
            <a:endParaRPr lang="ru-RU" sz="1600" b="0" i="0" dirty="0">
              <a:effectLst/>
              <a:latin typeface="YS Geo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effectLst/>
                <a:latin typeface="YS Geo"/>
              </a:rPr>
              <a:t> Высокие эксплуатационные затраты</a:t>
            </a:r>
            <a:r>
              <a:rPr lang="ru-RU" sz="1600" b="0" i="0" dirty="0">
                <a:effectLst/>
                <a:latin typeface="YS Geo"/>
              </a:rPr>
              <a:t> — преждевременный износ оборудования, частая замена фильтров, большие </a:t>
            </a:r>
            <a:r>
              <a:rPr lang="ru-RU" sz="1600" b="0" i="0" dirty="0" smtClean="0">
                <a:effectLst/>
                <a:latin typeface="YS Geo"/>
              </a:rPr>
              <a:t>счета</a:t>
            </a:r>
            <a:r>
              <a:rPr lang="en-US" sz="1600" b="0" i="0" dirty="0" smtClean="0">
                <a:effectLst/>
                <a:latin typeface="YS Geo"/>
              </a:rPr>
              <a:t> </a:t>
            </a:r>
            <a:r>
              <a:rPr lang="ru-RU" sz="1600" b="0" i="0" dirty="0" smtClean="0">
                <a:effectLst/>
                <a:latin typeface="YS Geo"/>
              </a:rPr>
              <a:t>за</a:t>
            </a:r>
            <a:r>
              <a:rPr lang="ru-RU" sz="1600" b="0" i="0" dirty="0">
                <a:effectLst/>
                <a:latin typeface="YS Geo"/>
              </a:rPr>
              <a:t> </a:t>
            </a:r>
            <a:r>
              <a:rPr lang="ru-RU" sz="1600" b="0" i="0" dirty="0" smtClean="0">
                <a:effectLst/>
                <a:latin typeface="YS Geo"/>
              </a:rPr>
              <a:t>электричество</a:t>
            </a:r>
            <a:r>
              <a:rPr lang="ru-RU" sz="1600" b="0" i="0" dirty="0">
                <a:effectLst/>
                <a:latin typeface="YS Geo"/>
              </a:rPr>
              <a:t> и отопление</a:t>
            </a:r>
          </a:p>
          <a:p>
            <a:pPr algn="l"/>
            <a:endParaRPr lang="ru-RU" sz="1600" b="0" i="0" dirty="0">
              <a:effectLst/>
              <a:latin typeface="YS Geo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effectLst/>
                <a:latin typeface="YS Geo"/>
              </a:rPr>
              <a:t> Зависимость от человеческого фактора</a:t>
            </a:r>
            <a:r>
              <a:rPr lang="ru-RU" sz="1600" b="0" i="0" dirty="0">
                <a:effectLst/>
                <a:latin typeface="YS Geo"/>
              </a:rPr>
              <a:t> — необходимость вручную регулировать клапаны и режимы, риск пропустить </a:t>
            </a:r>
          </a:p>
          <a:p>
            <a:pPr algn="l"/>
            <a:r>
              <a:rPr lang="ru-RU" sz="1600" b="0" i="0" dirty="0">
                <a:effectLst/>
                <a:latin typeface="YS Geo"/>
              </a:rPr>
              <a:t>ухудшение качества воздуха.</a:t>
            </a:r>
          </a:p>
          <a:p>
            <a:pPr algn="l"/>
            <a:endParaRPr lang="ru-RU" sz="1600" b="0" i="0" dirty="0">
              <a:effectLst/>
              <a:latin typeface="YS Geo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1600" b="1" i="0" dirty="0">
                <a:effectLst/>
                <a:latin typeface="YS Geo"/>
              </a:rPr>
              <a:t> Потери тепла через рекуператор</a:t>
            </a:r>
            <a:r>
              <a:rPr lang="ru-RU" sz="1600" b="0" i="0" dirty="0">
                <a:effectLst/>
                <a:latin typeface="YS Geo"/>
              </a:rPr>
              <a:t> — неоптимальный режим работы снижает эффективность рекуперации, особенно </a:t>
            </a:r>
            <a:r>
              <a:rPr lang="ru-RU" sz="1600" b="0" i="0" dirty="0" smtClean="0">
                <a:effectLst/>
                <a:latin typeface="YS Geo"/>
              </a:rPr>
              <a:t>в</a:t>
            </a:r>
            <a:r>
              <a:rPr lang="en-US" sz="1600" b="0" i="0" dirty="0" smtClean="0">
                <a:effectLst/>
                <a:latin typeface="YS Geo"/>
              </a:rPr>
              <a:t> </a:t>
            </a:r>
            <a:r>
              <a:rPr lang="ru-RU" sz="1600" b="0" i="0" dirty="0" smtClean="0">
                <a:effectLst/>
                <a:latin typeface="YS Geo"/>
              </a:rPr>
              <a:t>холодное</a:t>
            </a:r>
            <a:r>
              <a:rPr lang="ru-RU" sz="1600" b="0" i="0" dirty="0">
                <a:effectLst/>
                <a:latin typeface="YS Geo"/>
              </a:rPr>
              <a:t> время года.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562543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Решение</a:t>
            </a:r>
          </a:p>
        </p:txBody>
      </p:sp>
      <p:pic>
        <p:nvPicPr>
          <p:cNvPr id="6" name="Рисунок 5" descr="Изображение выглядит как снимок экрана, дизайн&#10;&#10;Автоматически созданное описание">
            <a:extLst>
              <a:ext uri="{FF2B5EF4-FFF2-40B4-BE49-F238E27FC236}">
                <a16:creationId xmlns:a16="http://schemas.microsoft.com/office/drawing/2014/main" id="{CC87AD08-0AA1-6BBD-1FB8-E1631F90F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2715" y="2929424"/>
            <a:ext cx="5909095" cy="348898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1DC7550-D225-85C3-EB52-361ABC3EA0BE}"/>
              </a:ext>
            </a:extLst>
          </p:cNvPr>
          <p:cNvSpPr txBox="1"/>
          <p:nvPr/>
        </p:nvSpPr>
        <p:spPr>
          <a:xfrm>
            <a:off x="3899433" y="2929424"/>
            <a:ext cx="2031325" cy="9387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latin typeface="Consolas" panose="020B0609020204030204" pitchFamily="49" charset="0"/>
              </a:rPr>
              <a:t>Arduino</a:t>
            </a:r>
            <a:r>
              <a:rPr lang="ru-RU" sz="1100" b="1" dirty="0">
                <a:latin typeface="Consolas" panose="020B0609020204030204" pitchFamily="49" charset="0"/>
              </a:rPr>
              <a:t> + </a:t>
            </a:r>
            <a:r>
              <a:rPr lang="en-US" sz="1100" b="1" dirty="0">
                <a:latin typeface="Consolas" panose="020B0609020204030204" pitchFamily="49" charset="0"/>
              </a:rPr>
              <a:t>Wi-Fi </a:t>
            </a:r>
            <a:r>
              <a:rPr lang="ru-RU" sz="1100" b="1" dirty="0">
                <a:latin typeface="Consolas" panose="020B0609020204030204" pitchFamily="49" charset="0"/>
              </a:rPr>
              <a:t>модуль</a:t>
            </a:r>
          </a:p>
          <a:p>
            <a:r>
              <a:rPr lang="en-US" sz="1100" b="1" dirty="0">
                <a:latin typeface="Consolas" panose="020B0609020204030204" pitchFamily="49" charset="0"/>
              </a:rPr>
              <a:t>WEB</a:t>
            </a:r>
            <a:r>
              <a:rPr lang="ru-RU" sz="1100" b="1" dirty="0">
                <a:latin typeface="Consolas" panose="020B0609020204030204" pitchFamily="49" charset="0"/>
              </a:rPr>
              <a:t> сервер с приложением</a:t>
            </a:r>
          </a:p>
          <a:p>
            <a:r>
              <a:rPr lang="en-US" sz="1100" b="1" dirty="0">
                <a:latin typeface="Consolas" panose="020B0609020204030204" pitchFamily="49" charset="0"/>
              </a:rPr>
              <a:t>ML</a:t>
            </a:r>
            <a:r>
              <a:rPr lang="ru-RU" sz="1100" b="1" dirty="0">
                <a:latin typeface="Consolas" panose="020B0609020204030204" pitchFamily="49" charset="0"/>
              </a:rPr>
              <a:t>-модель классификации</a:t>
            </a:r>
          </a:p>
          <a:p>
            <a:r>
              <a:rPr lang="ru-RU" sz="1100" b="1" dirty="0">
                <a:latin typeface="Consolas" panose="020B0609020204030204" pitchFamily="49" charset="0"/>
              </a:rPr>
              <a:t>Управление нагрузкой: </a:t>
            </a:r>
            <a:endParaRPr lang="ru-RU" sz="1100" b="1" dirty="0" smtClean="0">
              <a:latin typeface="Consolas" panose="020B0609020204030204" pitchFamily="49" charset="0"/>
            </a:endParaRPr>
          </a:p>
          <a:p>
            <a:r>
              <a:rPr lang="ru-RU" sz="1100" b="1" dirty="0" smtClean="0">
                <a:latin typeface="Consolas" panose="020B0609020204030204" pitchFamily="49" charset="0"/>
              </a:rPr>
              <a:t>вентиляторы </a:t>
            </a:r>
            <a:r>
              <a:rPr lang="ru-RU" sz="1100" b="1" dirty="0">
                <a:latin typeface="Consolas" panose="020B0609020204030204" pitchFamily="49" charset="0"/>
              </a:rPr>
              <a:t>и клапаны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384044" y="773083"/>
            <a:ext cx="9049272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b="1" dirty="0">
                <a:latin typeface="Consolas" panose="020B0609020204030204" pitchFamily="49" charset="0"/>
              </a:rPr>
              <a:t>Интеллектуальная, энергоэффективная система вентиляции на базе ML. </a:t>
            </a:r>
          </a:p>
          <a:p>
            <a:r>
              <a:rPr lang="ru-RU" b="1" dirty="0">
                <a:latin typeface="Consolas" panose="020B0609020204030204" pitchFamily="49" charset="0"/>
              </a:rPr>
              <a:t>Ключевые преимущества — экономия энергии и улучшение качества воздуха </a:t>
            </a:r>
          </a:p>
          <a:p>
            <a:r>
              <a:rPr lang="ru-RU" b="1" dirty="0">
                <a:latin typeface="Consolas" panose="020B0609020204030204" pitchFamily="49" charset="0"/>
              </a:rPr>
              <a:t>за счёт точечного управления. </a:t>
            </a:r>
          </a:p>
          <a:p>
            <a:r>
              <a:rPr lang="ru-RU" b="1" dirty="0">
                <a:latin typeface="Consolas" panose="020B0609020204030204" pitchFamily="49" charset="0"/>
              </a:rPr>
              <a:t>Основные вызовы — калибровка датчиков и надёжность ML‑модели. </a:t>
            </a:r>
          </a:p>
          <a:p>
            <a:r>
              <a:rPr lang="ru-RU" b="1" dirty="0">
                <a:latin typeface="Consolas" panose="020B0609020204030204" pitchFamily="49" charset="0"/>
              </a:rPr>
              <a:t>При грамотном проектировании и тестировании система окупается за счёт </a:t>
            </a:r>
          </a:p>
          <a:p>
            <a:r>
              <a:rPr lang="ru-RU" b="1" dirty="0">
                <a:latin typeface="Consolas" panose="020B0609020204030204" pitchFamily="49" charset="0"/>
              </a:rPr>
              <a:t>снижения энергопотребления и повышения комфорта/безопасности в здании</a:t>
            </a:r>
          </a:p>
        </p:txBody>
      </p:sp>
    </p:spTree>
    <p:extLst>
      <p:ext uri="{BB962C8B-B14F-4D97-AF65-F5344CB8AC3E}">
        <p14:creationId xmlns:p14="http://schemas.microsoft.com/office/powerpoint/2010/main" val="35754805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65" y="1123837"/>
            <a:ext cx="3350030" cy="4601183"/>
          </a:xfrm>
        </p:spPr>
        <p:txBody>
          <a:bodyPr>
            <a:normAutofit/>
          </a:bodyPr>
          <a:lstStyle/>
          <a:p>
            <a:r>
              <a:rPr lang="ru-RU" sz="2800" dirty="0"/>
              <a:t>Как датчики </a:t>
            </a:r>
            <a:r>
              <a:rPr lang="ru-RU" sz="2800" dirty="0" smtClean="0"/>
              <a:t/>
            </a:r>
            <a:br>
              <a:rPr lang="ru-RU" sz="2800" dirty="0" smtClean="0"/>
            </a:br>
            <a:r>
              <a:rPr lang="ru-RU" sz="2800" dirty="0" smtClean="0"/>
              <a:t>превращаются</a:t>
            </a:r>
            <a:r>
              <a:rPr lang="ru-RU" sz="2800" dirty="0"/>
              <a:t> </a:t>
            </a:r>
            <a:r>
              <a:rPr lang="ru-RU" sz="2800" dirty="0" smtClean="0"/>
              <a:t>в</a:t>
            </a:r>
            <a:r>
              <a:rPr lang="ru-RU" sz="2800" dirty="0"/>
              <a:t> </a:t>
            </a:r>
            <a:r>
              <a:rPr lang="ru-RU" sz="2800" dirty="0" smtClean="0"/>
              <a:t/>
            </a:r>
            <a:br>
              <a:rPr lang="ru-RU" sz="2800" dirty="0" smtClean="0"/>
            </a:br>
            <a:r>
              <a:rPr lang="ru-RU" sz="2800" dirty="0" smtClean="0"/>
              <a:t>интеллект</a:t>
            </a:r>
            <a:r>
              <a:rPr lang="ru-RU" sz="2800" dirty="0"/>
              <a:t>: признаки для модели качества воздуха</a:t>
            </a:r>
            <a:endParaRPr lang="ru-RU" sz="2800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8095" y="632546"/>
            <a:ext cx="8617527" cy="5583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29454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65" y="1123837"/>
            <a:ext cx="3350030" cy="4601183"/>
          </a:xfrm>
        </p:spPr>
        <p:txBody>
          <a:bodyPr>
            <a:normAutofit/>
          </a:bodyPr>
          <a:lstStyle/>
          <a:p>
            <a:r>
              <a:rPr lang="ru-RU" sz="2800" dirty="0" smtClean="0"/>
              <a:t>Ключевые моменты</a:t>
            </a:r>
            <a:endParaRPr lang="ru-RU" sz="2800" dirty="0"/>
          </a:p>
        </p:txBody>
      </p:sp>
      <p:sp>
        <p:nvSpPr>
          <p:cNvPr id="4" name="TextBox 3"/>
          <p:cNvSpPr txBox="1"/>
          <p:nvPr/>
        </p:nvSpPr>
        <p:spPr>
          <a:xfrm>
            <a:off x="3649287" y="872836"/>
            <a:ext cx="7797338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latin typeface="Consolas" panose="020B0609020204030204" pitchFamily="49" charset="0"/>
              </a:rPr>
              <a:t>На вход </a:t>
            </a:r>
            <a:r>
              <a:rPr lang="ru-RU" sz="1600" dirty="0">
                <a:latin typeface="YS Geo"/>
              </a:rPr>
              <a:t>системы поступают показания с датчиков, дни </a:t>
            </a:r>
            <a:r>
              <a:rPr lang="ru-RU" sz="1600" dirty="0">
                <a:latin typeface="YS Geo"/>
              </a:rPr>
              <a:t>недели, признак </a:t>
            </a:r>
            <a:r>
              <a:rPr lang="ru-RU" sz="1600" dirty="0">
                <a:latin typeface="YS Geo"/>
              </a:rPr>
              <a:t>состояния </a:t>
            </a:r>
            <a:r>
              <a:rPr lang="ru-RU" sz="1600" dirty="0">
                <a:latin typeface="YS Geo"/>
              </a:rPr>
              <a:t>клапана, время суток, сезон, занятость помещения, температура и влажность с уличных датчиков</a:t>
            </a:r>
            <a:endParaRPr lang="ru-RU" sz="1600" dirty="0">
              <a:latin typeface="YS Geo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49287" y="1703833"/>
            <a:ext cx="7797338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latin typeface="Consolas" panose="020B0609020204030204" pitchFamily="49" charset="0"/>
              </a:rPr>
              <a:t>На выходе </a:t>
            </a:r>
            <a:r>
              <a:rPr lang="ru-RU" sz="1600" dirty="0">
                <a:latin typeface="YS Geo"/>
              </a:rPr>
              <a:t>имеем класс качества воздуха </a:t>
            </a:r>
            <a:r>
              <a:rPr lang="en-US" sz="1600" dirty="0">
                <a:latin typeface="YS Geo"/>
              </a:rPr>
              <a:t>AQI</a:t>
            </a:r>
            <a:r>
              <a:rPr lang="ru-RU" sz="1600" dirty="0">
                <a:latin typeface="YS Geo"/>
              </a:rPr>
              <a:t>, по которому определяем какой клапан открыть</a:t>
            </a:r>
            <a:r>
              <a:rPr lang="ru-RU" sz="1600" dirty="0">
                <a:latin typeface="YS Geo"/>
              </a:rPr>
              <a:t>,</a:t>
            </a:r>
            <a:r>
              <a:rPr lang="ru-RU" sz="1600" dirty="0">
                <a:latin typeface="YS Geo"/>
              </a:rPr>
              <a:t> включить двигатели вентиляторов</a:t>
            </a:r>
            <a:endParaRPr lang="ru-RU" sz="1600" dirty="0">
              <a:latin typeface="YS Geo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3649286" y="2319386"/>
            <a:ext cx="779733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>
                <a:latin typeface="Consolas" panose="020B0609020204030204" pitchFamily="49" charset="0"/>
              </a:rPr>
              <a:t>Экономия энергии:</a:t>
            </a:r>
            <a:r>
              <a:rPr lang="ru-RU" dirty="0"/>
              <a:t> вентиляция работает только там, где </a:t>
            </a:r>
            <a:r>
              <a:rPr lang="ru-RU" dirty="0" smtClean="0"/>
              <a:t>нужно</a:t>
            </a:r>
            <a:r>
              <a:rPr lang="ru-RU" dirty="0"/>
              <a:t>, </a:t>
            </a:r>
            <a:r>
              <a:rPr lang="ru-RU" dirty="0" smtClean="0"/>
              <a:t>и когда нужно, а</a:t>
            </a:r>
            <a:r>
              <a:rPr lang="ru-RU" dirty="0"/>
              <a:t> не </a:t>
            </a:r>
            <a:r>
              <a:rPr lang="ru-RU" dirty="0" smtClean="0"/>
              <a:t>постоянно и во всех помещениях. Актуально в крупных зданиях, где нагрузки 10-100 КВт </a:t>
            </a:r>
            <a:endParaRPr lang="ru-RU" sz="1600" dirty="0">
              <a:latin typeface="YS Geo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3649285" y="3198703"/>
            <a:ext cx="77973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/>
              <a:t>Улучшение качества воздуха:</a:t>
            </a:r>
            <a:r>
              <a:rPr lang="ru-RU" dirty="0"/>
              <a:t> оперативное реагирование на ухудшение параметров</a:t>
            </a:r>
            <a:endParaRPr lang="ru-RU" sz="1600" dirty="0">
              <a:latin typeface="YS Geo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649285" y="3817763"/>
            <a:ext cx="77973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/>
              <a:t>Автоматизация:</a:t>
            </a:r>
            <a:r>
              <a:rPr lang="ru-RU" dirty="0"/>
              <a:t> минимизация ручного управления, снижение нагрузки на персонал</a:t>
            </a:r>
            <a:endParaRPr lang="ru-RU" sz="1600" dirty="0">
              <a:latin typeface="YS Geo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649285" y="4426303"/>
            <a:ext cx="77973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/>
              <a:t>Прогнозирование:</a:t>
            </a:r>
            <a:r>
              <a:rPr lang="ru-RU" dirty="0"/>
              <a:t> ML‑модель может выявлять тренды и предупреждать о возможном ухудшении воздуха.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9285" y="5079647"/>
            <a:ext cx="77973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 smtClean="0"/>
              <a:t>Минусы:</a:t>
            </a:r>
            <a:r>
              <a:rPr lang="ru-RU" dirty="0"/>
              <a:t> </a:t>
            </a:r>
            <a:r>
              <a:rPr lang="ru-RU" dirty="0" smtClean="0"/>
              <a:t>зависимость от </a:t>
            </a:r>
            <a:r>
              <a:rPr lang="en-US" dirty="0" smtClean="0"/>
              <a:t>ML</a:t>
            </a:r>
            <a:r>
              <a:rPr lang="ru-RU" dirty="0" smtClean="0"/>
              <a:t>, калибровка датчиков, определенная схема</a:t>
            </a:r>
          </a:p>
          <a:p>
            <a:r>
              <a:rPr lang="ru-RU" dirty="0"/>
              <a:t> </a:t>
            </a:r>
            <a:r>
              <a:rPr lang="ru-RU" dirty="0" smtClean="0"/>
              <a:t>     вентиляции с центральным приточно-вытяжными каналами и    </a:t>
            </a:r>
          </a:p>
          <a:p>
            <a:r>
              <a:rPr lang="ru-RU" dirty="0"/>
              <a:t> </a:t>
            </a:r>
            <a:r>
              <a:rPr lang="ru-RU" dirty="0" smtClean="0"/>
              <a:t>     отдельными каналами для каждого помещения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250430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65" y="1123837"/>
            <a:ext cx="3350030" cy="4601183"/>
          </a:xfrm>
        </p:spPr>
        <p:txBody>
          <a:bodyPr>
            <a:normAutofit/>
          </a:bodyPr>
          <a:lstStyle/>
          <a:p>
            <a:r>
              <a:rPr lang="ru-RU" sz="2800" dirty="0" smtClean="0"/>
              <a:t>Целевая аудитория</a:t>
            </a:r>
            <a:endParaRPr lang="ru-RU" sz="2800" dirty="0"/>
          </a:p>
        </p:txBody>
      </p:sp>
      <p:sp>
        <p:nvSpPr>
          <p:cNvPr id="3" name="TextBox 2"/>
          <p:cNvSpPr txBox="1"/>
          <p:nvPr/>
        </p:nvSpPr>
        <p:spPr>
          <a:xfrm>
            <a:off x="3566159" y="66502"/>
            <a:ext cx="7797338" cy="64940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400" b="1" dirty="0" smtClean="0"/>
              <a:t>Управляющие</a:t>
            </a:r>
            <a:r>
              <a:rPr lang="ru-RU" sz="1400" b="1" dirty="0"/>
              <a:t> компании и собственники коммерческой </a:t>
            </a:r>
            <a:r>
              <a:rPr lang="ru-RU" sz="1400" b="1" dirty="0" smtClean="0"/>
              <a:t>недвижимости</a:t>
            </a:r>
            <a:endParaRPr lang="ru-RU" sz="1000" dirty="0"/>
          </a:p>
          <a:p>
            <a:pPr lvl="1"/>
            <a:r>
              <a:rPr lang="ru-RU" sz="1000" b="1" dirty="0"/>
              <a:t>Примеры:</a:t>
            </a:r>
            <a:r>
              <a:rPr lang="ru-RU" sz="1000" dirty="0"/>
              <a:t> бизнес‑центры, торговые </a:t>
            </a:r>
            <a:r>
              <a:rPr lang="ru-RU" sz="1000" dirty="0" smtClean="0"/>
              <a:t>центры,</a:t>
            </a:r>
            <a:r>
              <a:rPr lang="ru-RU" sz="1000" dirty="0"/>
              <a:t> гостиницы.</a:t>
            </a:r>
          </a:p>
          <a:p>
            <a:pPr lvl="1"/>
            <a:r>
              <a:rPr lang="ru-RU" sz="1000" b="1" dirty="0"/>
              <a:t>Потребности:</a:t>
            </a:r>
            <a:endParaRPr lang="ru-RU" sz="1000" dirty="0"/>
          </a:p>
          <a:p>
            <a:pPr lvl="2"/>
            <a:r>
              <a:rPr lang="ru-RU" sz="1000" dirty="0"/>
              <a:t>снижение эксплуатационных расходов (особенно на электроэнергию);</a:t>
            </a:r>
          </a:p>
          <a:p>
            <a:pPr lvl="2"/>
            <a:r>
              <a:rPr lang="ru-RU" sz="1000" dirty="0"/>
              <a:t>соответствие санитарным нормам и стандартам (ASHRAE, ГОСТ);</a:t>
            </a:r>
          </a:p>
          <a:p>
            <a:pPr lvl="2"/>
            <a:r>
              <a:rPr lang="ru-RU" sz="1000" dirty="0"/>
              <a:t>обеспечение комфорта арендаторов/гостей;</a:t>
            </a:r>
          </a:p>
          <a:p>
            <a:pPr lvl="2"/>
            <a:r>
              <a:rPr lang="ru-RU" sz="1000" dirty="0"/>
              <a:t>автоматизация инженерных систем.</a:t>
            </a:r>
          </a:p>
          <a:p>
            <a:pPr lvl="1"/>
            <a:r>
              <a:rPr lang="ru-RU" sz="1000" b="1" dirty="0"/>
              <a:t>Мотивация к покупке:</a:t>
            </a:r>
            <a:r>
              <a:rPr lang="ru-RU" sz="1000" dirty="0"/>
              <a:t> экономия на счетах за электричество (до 40 %), повышение привлекательности объекта для арендаторов.</a:t>
            </a:r>
          </a:p>
          <a:p>
            <a:pPr lvl="1"/>
            <a:r>
              <a:rPr lang="ru-RU" sz="1000" b="1" dirty="0"/>
              <a:t>Бюджет:</a:t>
            </a:r>
            <a:r>
              <a:rPr lang="ru-RU" sz="1000" dirty="0"/>
              <a:t> высокий, готовы инвестировать в долгосрочную экономию</a:t>
            </a:r>
            <a:r>
              <a:rPr lang="ru-RU" sz="1000" dirty="0" smtClean="0"/>
              <a:t>.</a:t>
            </a:r>
          </a:p>
          <a:p>
            <a:pPr lvl="1"/>
            <a:endParaRPr lang="ru-RU" sz="10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400" b="1" dirty="0" smtClean="0"/>
              <a:t>Административные</a:t>
            </a:r>
            <a:r>
              <a:rPr lang="ru-RU" sz="1400" b="1" dirty="0"/>
              <a:t> и государственные </a:t>
            </a:r>
            <a:r>
              <a:rPr lang="ru-RU" sz="1400" b="1" dirty="0" smtClean="0"/>
              <a:t>учреждения</a:t>
            </a:r>
            <a:endParaRPr lang="ru-RU" sz="1000" b="1" dirty="0" smtClean="0"/>
          </a:p>
          <a:p>
            <a:pPr lvl="1"/>
            <a:r>
              <a:rPr lang="ru-RU" sz="1000" b="1" dirty="0" smtClean="0"/>
              <a:t>Примеры</a:t>
            </a:r>
            <a:r>
              <a:rPr lang="ru-RU" sz="1000" b="1" dirty="0"/>
              <a:t>:</a:t>
            </a:r>
            <a:r>
              <a:rPr lang="ru-RU" sz="1000" dirty="0"/>
              <a:t> школы, университеты, больницы, поликлиники, административные здания.</a:t>
            </a:r>
          </a:p>
          <a:p>
            <a:pPr lvl="1"/>
            <a:r>
              <a:rPr lang="ru-RU" sz="1000" b="1" dirty="0"/>
              <a:t>Потребности:</a:t>
            </a:r>
            <a:endParaRPr lang="ru-RU" sz="1000" dirty="0"/>
          </a:p>
          <a:p>
            <a:pPr lvl="2"/>
            <a:r>
              <a:rPr lang="ru-RU" sz="1000" dirty="0"/>
              <a:t>поддержание здорового микроклимата для сотрудников и посетителей;</a:t>
            </a:r>
          </a:p>
          <a:p>
            <a:pPr lvl="2"/>
            <a:r>
              <a:rPr lang="ru-RU" sz="1000" dirty="0"/>
              <a:t>соблюдение строгих санитарных норм;</a:t>
            </a:r>
          </a:p>
          <a:p>
            <a:pPr lvl="2"/>
            <a:r>
              <a:rPr lang="ru-RU" sz="1000" dirty="0"/>
              <a:t>предотвращение распространения инфекций (особенно актуально для медучреждений);</a:t>
            </a:r>
          </a:p>
          <a:p>
            <a:pPr lvl="2"/>
            <a:r>
              <a:rPr lang="ru-RU" sz="1000" dirty="0"/>
              <a:t>отчётность и мониторинг в реальном времени.</a:t>
            </a:r>
          </a:p>
          <a:p>
            <a:pPr lvl="1"/>
            <a:r>
              <a:rPr lang="ru-RU" sz="1000" b="1" dirty="0"/>
              <a:t>Мотивация:</a:t>
            </a:r>
            <a:r>
              <a:rPr lang="ru-RU" sz="1000" dirty="0"/>
              <a:t> забота о здоровье людей, соответствие регуляторным требованиям.</a:t>
            </a:r>
          </a:p>
          <a:p>
            <a:pPr lvl="1"/>
            <a:r>
              <a:rPr lang="ru-RU" sz="1000" b="1" dirty="0"/>
              <a:t>Бюджет:</a:t>
            </a:r>
            <a:r>
              <a:rPr lang="ru-RU" sz="1000" dirty="0"/>
              <a:t> средний/высокий, часто выделяются целевые средства на модернизацию.</a:t>
            </a:r>
          </a:p>
          <a:p>
            <a:pPr lvl="1"/>
            <a:r>
              <a:rPr lang="ru-RU" sz="1000" b="1" dirty="0"/>
              <a:t>Ключевые требования:</a:t>
            </a:r>
            <a:r>
              <a:rPr lang="ru-RU" sz="1000" dirty="0"/>
              <a:t> надёжность, документированная точность измерений, интеграция с BMS</a:t>
            </a:r>
            <a:r>
              <a:rPr lang="ru-RU" sz="1000" dirty="0" smtClean="0"/>
              <a:t>.</a:t>
            </a:r>
          </a:p>
          <a:p>
            <a:pPr lvl="1"/>
            <a:endParaRPr lang="ru-RU" sz="1400" b="1" dirty="0" smtClean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400" b="1" dirty="0" smtClean="0"/>
              <a:t>Промышленные</a:t>
            </a:r>
            <a:r>
              <a:rPr lang="ru-RU" sz="1400" b="1" dirty="0"/>
              <a:t> </a:t>
            </a:r>
            <a:r>
              <a:rPr lang="ru-RU" sz="1400" b="1" dirty="0" smtClean="0"/>
              <a:t>предприятия</a:t>
            </a:r>
            <a:endParaRPr lang="ru-RU" sz="1000" b="1" dirty="0" smtClean="0"/>
          </a:p>
          <a:p>
            <a:pPr lvl="1"/>
            <a:r>
              <a:rPr lang="ru-RU" sz="1000" b="1" dirty="0" smtClean="0"/>
              <a:t>Примеры</a:t>
            </a:r>
            <a:r>
              <a:rPr lang="ru-RU" sz="1000" b="1" dirty="0"/>
              <a:t>:</a:t>
            </a:r>
            <a:r>
              <a:rPr lang="ru-RU" sz="1000" dirty="0"/>
              <a:t> заводы, склады, логистические центры, производственные цеха.</a:t>
            </a:r>
          </a:p>
          <a:p>
            <a:pPr lvl="1"/>
            <a:r>
              <a:rPr lang="ru-RU" sz="1000" b="1" dirty="0"/>
              <a:t>Потребности:</a:t>
            </a:r>
            <a:endParaRPr lang="ru-RU" sz="1000" dirty="0"/>
          </a:p>
          <a:p>
            <a:pPr lvl="2"/>
            <a:r>
              <a:rPr lang="ru-RU" sz="1000" dirty="0"/>
              <a:t>контроль опасных газов (CO, ЛОС) для безопасности персонала;</a:t>
            </a:r>
          </a:p>
          <a:p>
            <a:pPr lvl="2"/>
            <a:r>
              <a:rPr lang="ru-RU" sz="1000" dirty="0"/>
              <a:t>оптимизация вентиляции в зонах с разным уровнем загрязнения;</a:t>
            </a:r>
          </a:p>
          <a:p>
            <a:pPr lvl="2"/>
            <a:r>
              <a:rPr lang="ru-RU" sz="1000" dirty="0"/>
              <a:t>предотвращение аварийных ситуаций;</a:t>
            </a:r>
          </a:p>
          <a:p>
            <a:pPr lvl="2"/>
            <a:r>
              <a:rPr lang="ru-RU" sz="1000" dirty="0"/>
              <a:t>соответствие нормам охраны труда.</a:t>
            </a:r>
          </a:p>
          <a:p>
            <a:pPr lvl="1"/>
            <a:r>
              <a:rPr lang="ru-RU" sz="1000" b="1" dirty="0"/>
              <a:t>Мотивация:</a:t>
            </a:r>
            <a:r>
              <a:rPr lang="ru-RU" sz="1000" dirty="0"/>
              <a:t> безопасность персонала, снижение рисков штрафов и аварий.</a:t>
            </a:r>
          </a:p>
          <a:p>
            <a:pPr lvl="1"/>
            <a:r>
              <a:rPr lang="ru-RU" sz="1000" b="1" dirty="0"/>
              <a:t>Бюджет:</a:t>
            </a:r>
            <a:r>
              <a:rPr lang="ru-RU" sz="1000" dirty="0"/>
              <a:t> высокий (особенно в опасных производствах).</a:t>
            </a:r>
          </a:p>
          <a:p>
            <a:pPr lvl="1"/>
            <a:r>
              <a:rPr lang="ru-RU" sz="1000" b="1" dirty="0"/>
              <a:t>Ключевые требования:</a:t>
            </a:r>
            <a:r>
              <a:rPr lang="ru-RU" sz="1000" dirty="0"/>
              <a:t> взрывозащищённое исполнение датчиков, высокая надёжность, устойчивость к агрессивным средам</a:t>
            </a:r>
            <a:r>
              <a:rPr lang="ru-RU" sz="1000" dirty="0" smtClean="0"/>
              <a:t>.</a:t>
            </a:r>
          </a:p>
          <a:p>
            <a:pPr lvl="1"/>
            <a:endParaRPr lang="ru-RU" sz="1000" b="1" dirty="0" smtClean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400" b="1" dirty="0" smtClean="0"/>
              <a:t>Операторы</a:t>
            </a:r>
            <a:r>
              <a:rPr lang="ru-RU" sz="1400" b="1" dirty="0"/>
              <a:t> дата‑центров и серверных помещений</a:t>
            </a:r>
            <a:endParaRPr lang="ru-RU" sz="1400" dirty="0"/>
          </a:p>
          <a:p>
            <a:pPr lvl="1"/>
            <a:r>
              <a:rPr lang="ru-RU" sz="1000" b="1" dirty="0"/>
              <a:t>Потребности:</a:t>
            </a:r>
            <a:endParaRPr lang="ru-RU" sz="1000" dirty="0"/>
          </a:p>
          <a:p>
            <a:pPr lvl="2"/>
            <a:r>
              <a:rPr lang="ru-RU" sz="1000" dirty="0"/>
              <a:t>контроль температуры и влажности для стабильной работы оборудования;</a:t>
            </a:r>
          </a:p>
          <a:p>
            <a:pPr lvl="2"/>
            <a:r>
              <a:rPr lang="ru-RU" sz="1000" dirty="0"/>
              <a:t>минимизация энергопотребления систем охлаждения;</a:t>
            </a:r>
          </a:p>
          <a:p>
            <a:pPr lvl="2"/>
            <a:r>
              <a:rPr lang="ru-RU" sz="1000" dirty="0"/>
              <a:t>раннее обнаружение утечек хладагентов или других газов.</a:t>
            </a:r>
          </a:p>
          <a:p>
            <a:pPr lvl="1"/>
            <a:r>
              <a:rPr lang="ru-RU" sz="1000" b="1" dirty="0"/>
              <a:t>Мотивация:</a:t>
            </a:r>
            <a:r>
              <a:rPr lang="ru-RU" sz="1000" dirty="0"/>
              <a:t> предотвращение простоев оборудования, экономия на охлаждении.</a:t>
            </a:r>
          </a:p>
          <a:p>
            <a:pPr lvl="1"/>
            <a:r>
              <a:rPr lang="ru-RU" sz="1000" b="1" dirty="0"/>
              <a:t>Бюджет:</a:t>
            </a:r>
            <a:r>
              <a:rPr lang="ru-RU" sz="1000" dirty="0"/>
              <a:t> очень высокий, приоритет — надёжность и безотказность.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1000" dirty="0">
              <a:latin typeface="YS Geo"/>
            </a:endParaRPr>
          </a:p>
        </p:txBody>
      </p:sp>
    </p:spTree>
    <p:extLst>
      <p:ext uri="{BB962C8B-B14F-4D97-AF65-F5344CB8AC3E}">
        <p14:creationId xmlns:p14="http://schemas.microsoft.com/office/powerpoint/2010/main" val="22752265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65" y="1123837"/>
            <a:ext cx="3350030" cy="4601183"/>
          </a:xfrm>
        </p:spPr>
        <p:txBody>
          <a:bodyPr>
            <a:normAutofit/>
          </a:bodyPr>
          <a:lstStyle/>
          <a:p>
            <a:r>
              <a:rPr lang="ru-RU" sz="2800" dirty="0" smtClean="0"/>
              <a:t>Гипотеза</a:t>
            </a:r>
            <a:endParaRPr lang="ru-RU" sz="28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85D806-9C5D-64EC-0D4D-7A9F2BA23C37}"/>
              </a:ext>
            </a:extLst>
          </p:cNvPr>
          <p:cNvSpPr txBox="1"/>
          <p:nvPr/>
        </p:nvSpPr>
        <p:spPr>
          <a:xfrm>
            <a:off x="3636740" y="2516487"/>
            <a:ext cx="7936301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YS Geo"/>
              </a:rPr>
              <a:t>Если внедрить автоматизированную систему контроля качества воздуха с </a:t>
            </a:r>
          </a:p>
          <a:p>
            <a:r>
              <a:rPr lang="ru-RU" sz="1600" dirty="0">
                <a:latin typeface="YS Geo"/>
              </a:rPr>
              <a:t>ML‑моделью для управления приточно‑вытяжной вентиляцией в больших </a:t>
            </a:r>
          </a:p>
          <a:p>
            <a:r>
              <a:rPr lang="ru-RU" sz="1600" dirty="0">
                <a:latin typeface="YS Geo"/>
              </a:rPr>
              <a:t>зданиях, то можно сократить энергопотребление на 25–40 % по сравнению </a:t>
            </a:r>
          </a:p>
          <a:p>
            <a:r>
              <a:rPr lang="ru-RU" sz="1600" dirty="0">
                <a:latin typeface="YS Geo"/>
              </a:rPr>
              <a:t>с традиционной круглосуточной вентиляцией и улучшить качество воздуха </a:t>
            </a:r>
          </a:p>
          <a:p>
            <a:r>
              <a:rPr lang="ru-RU" sz="1600" dirty="0">
                <a:latin typeface="YS Geo"/>
              </a:rPr>
              <a:t>там где необходимо, потому что система будет активировать проветривание </a:t>
            </a:r>
          </a:p>
          <a:p>
            <a:r>
              <a:rPr lang="ru-RU" sz="1600" dirty="0">
                <a:latin typeface="YS Geo"/>
              </a:rPr>
              <a:t>только в тех помещениях, где реально зафиксировано ухудшение качества </a:t>
            </a:r>
            <a:endParaRPr lang="ru-RU" sz="1600" dirty="0" smtClean="0">
              <a:latin typeface="YS Geo"/>
            </a:endParaRPr>
          </a:p>
          <a:p>
            <a:r>
              <a:rPr lang="ru-RU" sz="1600" dirty="0" smtClean="0">
                <a:latin typeface="YS Geo"/>
              </a:rPr>
              <a:t>воздуха</a:t>
            </a:r>
            <a:r>
              <a:rPr lang="ru-RU" sz="1600" dirty="0">
                <a:latin typeface="YS Geo"/>
              </a:rPr>
              <a:t>, </a:t>
            </a:r>
            <a:r>
              <a:rPr lang="ru-RU" sz="1600" dirty="0" smtClean="0">
                <a:latin typeface="YS Geo"/>
              </a:rPr>
              <a:t>а</a:t>
            </a:r>
            <a:r>
              <a:rPr lang="ru-RU" sz="1600" dirty="0">
                <a:latin typeface="YS Geo"/>
              </a:rPr>
              <a:t> не работать по жёсткому расписанию или круглосуточно</a:t>
            </a:r>
          </a:p>
        </p:txBody>
      </p:sp>
    </p:spTree>
    <p:extLst>
      <p:ext uri="{BB962C8B-B14F-4D97-AF65-F5344CB8AC3E}">
        <p14:creationId xmlns:p14="http://schemas.microsoft.com/office/powerpoint/2010/main" val="6951953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65" y="1123837"/>
            <a:ext cx="3350030" cy="4601183"/>
          </a:xfrm>
        </p:spPr>
        <p:txBody>
          <a:bodyPr>
            <a:normAutofit/>
          </a:bodyPr>
          <a:lstStyle/>
          <a:p>
            <a:r>
              <a:rPr lang="ru-RU" sz="2800" dirty="0" smtClean="0"/>
              <a:t>Конкуренты</a:t>
            </a:r>
            <a:endParaRPr lang="ru-RU" sz="2800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8095" y="1700209"/>
            <a:ext cx="8578734" cy="3654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100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123950"/>
            <a:ext cx="3349625" cy="4600575"/>
          </a:xfrm>
        </p:spPr>
        <p:txBody>
          <a:bodyPr>
            <a:normAutofit/>
          </a:bodyPr>
          <a:lstStyle/>
          <a:p>
            <a:r>
              <a:rPr lang="ru-RU" sz="2800" dirty="0" smtClean="0"/>
              <a:t>Примерная архитектура</a:t>
            </a:r>
            <a:endParaRPr lang="ru-RU" sz="2800" dirty="0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4057" y="1062933"/>
            <a:ext cx="9134795" cy="5795067"/>
          </a:xfrm>
          <a:prstGeom prst="rect">
            <a:avLst/>
          </a:prstGeom>
        </p:spPr>
      </p:pic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 txBox="1">
            <a:spLocks/>
          </p:cNvSpPr>
          <p:nvPr/>
        </p:nvSpPr>
        <p:spPr>
          <a:xfrm>
            <a:off x="532014" y="349657"/>
            <a:ext cx="10665230" cy="622932"/>
          </a:xfrm>
          <a:prstGeom prst="rect">
            <a:avLst/>
          </a:prstGeom>
          <a:solidFill>
            <a:schemeClr val="accent1"/>
          </a:solidFill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dirty="0" smtClean="0"/>
              <a:t>Примерная архитектура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8048205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0" y="1123950"/>
            <a:ext cx="3349625" cy="4600575"/>
          </a:xfrm>
        </p:spPr>
        <p:txBody>
          <a:bodyPr>
            <a:normAutofit/>
          </a:bodyPr>
          <a:lstStyle/>
          <a:p>
            <a:r>
              <a:rPr lang="ru-RU" sz="2800" dirty="0" smtClean="0"/>
              <a:t>Примерная архитектура</a:t>
            </a:r>
            <a:endParaRPr lang="ru-RU" sz="2800" dirty="0"/>
          </a:p>
        </p:txBody>
      </p:sp>
      <p:sp>
        <p:nvSpPr>
          <p:cNvPr id="9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 txBox="1">
            <a:spLocks/>
          </p:cNvSpPr>
          <p:nvPr/>
        </p:nvSpPr>
        <p:spPr>
          <a:xfrm>
            <a:off x="532014" y="349657"/>
            <a:ext cx="10665230" cy="622932"/>
          </a:xfrm>
          <a:prstGeom prst="rect">
            <a:avLst/>
          </a:prstGeom>
          <a:solidFill>
            <a:schemeClr val="accent1"/>
          </a:solidFill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spc="-60" baseline="0">
                <a:solidFill>
                  <a:srgbClr val="FFFFFF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sz="2800" dirty="0" smtClean="0"/>
              <a:t>Прототип  </a:t>
            </a:r>
            <a:r>
              <a:rPr lang="en-US" sz="2800" dirty="0" smtClean="0"/>
              <a:t>UI</a:t>
            </a:r>
            <a:endParaRPr lang="ru-RU" sz="2800" dirty="0"/>
          </a:p>
        </p:txBody>
      </p:sp>
    </p:spTree>
    <p:extLst>
      <p:ext uri="{BB962C8B-B14F-4D97-AF65-F5344CB8AC3E}">
        <p14:creationId xmlns:p14="http://schemas.microsoft.com/office/powerpoint/2010/main" val="14999367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EA56E4F-4593-F090-BAAA-15835B3186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65" y="1123837"/>
            <a:ext cx="3350030" cy="4601183"/>
          </a:xfrm>
        </p:spPr>
        <p:txBody>
          <a:bodyPr>
            <a:normAutofit/>
          </a:bodyPr>
          <a:lstStyle/>
          <a:p>
            <a:r>
              <a:rPr lang="ru-RU" sz="2800" dirty="0" smtClean="0"/>
              <a:t>Проблемы</a:t>
            </a:r>
            <a:endParaRPr lang="ru-RU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3649287" y="872836"/>
            <a:ext cx="7797338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b="1" dirty="0" smtClean="0">
                <a:latin typeface="Consolas" panose="020B0609020204030204" pitchFamily="49" charset="0"/>
              </a:rPr>
              <a:t>Где взять данные? Опытная эксплуатация и сбор данных с датчиков или случайная генерация с последующей классификацией на неразмеченных данных с привязкой к формуле связывающей все предикторы (стандарты ВОЗ, ГОСТ и др.)?</a:t>
            </a:r>
            <a:endParaRPr lang="ru-RU" sz="1600" dirty="0">
              <a:latin typeface="YS Geo"/>
            </a:endParaRPr>
          </a:p>
        </p:txBody>
      </p:sp>
    </p:spTree>
    <p:extLst>
      <p:ext uri="{BB962C8B-B14F-4D97-AF65-F5344CB8AC3E}">
        <p14:creationId xmlns:p14="http://schemas.microsoft.com/office/powerpoint/2010/main" val="1679019135"/>
      </p:ext>
    </p:extLst>
  </p:cSld>
  <p:clrMapOvr>
    <a:masterClrMapping/>
  </p:clrMapOvr>
</p:sld>
</file>

<file path=ppt/theme/theme1.xml><?xml version="1.0" encoding="utf-8"?>
<a:theme xmlns:a="http://schemas.openxmlformats.org/drawingml/2006/main" name="Рамка">
  <a:themeElements>
    <a:clrScheme name="Fram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{B7079474-8051-40F6-9CD7-85FDD9F1823F}TF5b254a55-10e1-4643-bbf8-937ce7de93d8262d2579-9a9bf82529c5</Template>
  <TotalTime>499</TotalTime>
  <Words>196</Words>
  <Application>Microsoft Office PowerPoint</Application>
  <PresentationFormat>Широкоэкранный</PresentationFormat>
  <Paragraphs>102</Paragraphs>
  <Slides>12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8" baseType="lpstr">
      <vt:lpstr>Arial</vt:lpstr>
      <vt:lpstr>Consolas</vt:lpstr>
      <vt:lpstr>Corbel</vt:lpstr>
      <vt:lpstr>Wingdings 2</vt:lpstr>
      <vt:lpstr>YS Geo</vt:lpstr>
      <vt:lpstr>Рамка</vt:lpstr>
      <vt:lpstr>АэроМонитор </vt:lpstr>
      <vt:lpstr>Команда</vt:lpstr>
      <vt:lpstr>Проблема</vt:lpstr>
      <vt:lpstr>Решение</vt:lpstr>
      <vt:lpstr>Как датчики  превращаются в  интеллект: признаки для модели качества воздуха</vt:lpstr>
      <vt:lpstr>Ключевые моменты</vt:lpstr>
      <vt:lpstr>Целевая аудитория</vt:lpstr>
      <vt:lpstr>Гипотеза</vt:lpstr>
      <vt:lpstr>Конкуренты</vt:lpstr>
      <vt:lpstr>Примерная архитектура</vt:lpstr>
      <vt:lpstr>Примерная архитектура</vt:lpstr>
      <vt:lpstr>Проблемы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АэроМонитор </dc:title>
  <dc:creator>PC</dc:creator>
  <cp:lastModifiedBy>Неустроев Илья Леонидович</cp:lastModifiedBy>
  <cp:revision>19</cp:revision>
  <dcterms:created xsi:type="dcterms:W3CDTF">2026-04-13T18:30:16Z</dcterms:created>
  <dcterms:modified xsi:type="dcterms:W3CDTF">2026-04-14T09:34:01Z</dcterms:modified>
</cp:coreProperties>
</file>